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Sans standardisation</c:v>
                </c:pt>
              </c:strCache>
            </c:strRef>
          </c:tx>
          <c:spPr>
            <a:solidFill>
              <a:srgbClr val="F472B6"/>
            </a:solidFill>
          </c:spPr>
          <c:cat>
            <c:strRef>
              <c:f>Sheet1!$A$2:$A$9</c:f>
              <c:strCache>
                <c:ptCount val="8"/>
                <c:pt idx="0">
                  <c:v>age</c:v>
                </c:pt>
                <c:pt idx="1">
                  <c:v>cons.conf.idx</c:v>
                </c:pt>
                <c:pt idx="2">
                  <c:v>campaign</c:v>
                </c:pt>
                <c:pt idx="3">
                  <c:v>euribor3m</c:v>
                </c:pt>
                <c:pt idx="4">
                  <c:v>job</c:v>
                </c:pt>
                <c:pt idx="5">
                  <c:v>education</c:v>
                </c:pt>
                <c:pt idx="6">
                  <c:v>marital</c:v>
                </c:pt>
                <c:pt idx="7">
                  <c:v>cons.price.idx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77.0</c:v>
                </c:pt>
                <c:pt idx="1">
                  <c:v>14.9</c:v>
                </c:pt>
                <c:pt idx="2">
                  <c:v>3.4</c:v>
                </c:pt>
                <c:pt idx="3">
                  <c:v>2.1</c:v>
                </c:pt>
                <c:pt idx="4">
                  <c:v>0.6</c:v>
                </c:pt>
                <c:pt idx="5">
                  <c:v>0.5</c:v>
                </c:pt>
                <c:pt idx="6">
                  <c:v>0.4</c:v>
                </c:pt>
                <c:pt idx="7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Avec standardisation</c:v>
                </c:pt>
              </c:strCache>
            </c:strRef>
          </c:tx>
          <c:spPr>
            <a:solidFill>
              <a:srgbClr val="22D3EE"/>
            </a:solidFill>
          </c:spPr>
          <c:cat>
            <c:strRef>
              <c:f>Sheet1!$A$2:$A$9</c:f>
              <c:strCache>
                <c:ptCount val="8"/>
                <c:pt idx="0">
                  <c:v>age</c:v>
                </c:pt>
                <c:pt idx="1">
                  <c:v>cons.conf.idx</c:v>
                </c:pt>
                <c:pt idx="2">
                  <c:v>campaign</c:v>
                </c:pt>
                <c:pt idx="3">
                  <c:v>euribor3m</c:v>
                </c:pt>
                <c:pt idx="4">
                  <c:v>job</c:v>
                </c:pt>
                <c:pt idx="5">
                  <c:v>education</c:v>
                </c:pt>
                <c:pt idx="6">
                  <c:v>marital</c:v>
                </c:pt>
                <c:pt idx="7">
                  <c:v>cons.price.idx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10.9</c:v>
                </c:pt>
                <c:pt idx="1">
                  <c:v>10.6</c:v>
                </c:pt>
                <c:pt idx="2">
                  <c:v>9.8</c:v>
                </c:pt>
                <c:pt idx="3">
                  <c:v>10.5</c:v>
                </c:pt>
                <c:pt idx="4">
                  <c:v>8.9</c:v>
                </c:pt>
                <c:pt idx="5">
                  <c:v>8.3</c:v>
                </c:pt>
                <c:pt idx="6">
                  <c:v>5.7</c:v>
                </c:pt>
                <c:pt idx="7">
                  <c:v>10.7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27344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-2068027336"/>
        <c:crosses val="autoZero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F1F5F9"/>
              </a:solidFill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Inertie</c:v>
                </c:pt>
              </c:strCache>
            </c:strRef>
          </c:tx>
          <c:spPr>
            <a:ln w="28575">
              <a:solidFill>
                <a:srgbClr val="FBBF24"/>
              </a:solidFill>
            </a:ln>
          </c:spPr>
          <c:marker>
            <c:symbol val="circle"/>
            <c:size val="7"/>
            <c:spPr>
              <a:solidFill>
                <a:srgbClr val="FBBF24"/>
              </a:solidFill>
              <a:ln>
                <a:solidFill>
                  <a:srgbClr val="FBBF24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309128</c:v>
                </c:pt>
                <c:pt idx="1">
                  <c:v>279987</c:v>
                </c:pt>
                <c:pt idx="2">
                  <c:v>256652</c:v>
                </c:pt>
                <c:pt idx="3">
                  <c:v>238401</c:v>
                </c:pt>
                <c:pt idx="4">
                  <c:v>221919</c:v>
                </c:pt>
                <c:pt idx="5">
                  <c:v>213187</c:v>
                </c:pt>
                <c:pt idx="6">
                  <c:v>204976</c:v>
                </c:pt>
                <c:pt idx="7">
                  <c:v>199660</c:v>
                </c:pt>
                <c:pt idx="8">
                  <c:v>194926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27344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txPr>
    <a:bodyPr/>
    <a:lstStyle/>
    <a:p>
      <a:pPr>
        <a:defRPr sz="10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Silhouette</c:v>
                </c:pt>
              </c:strCache>
            </c:strRef>
          </c:tx>
          <c:spPr>
            <a:ln w="28575">
              <a:solidFill>
                <a:srgbClr val="22D3EE"/>
              </a:solidFill>
            </a:ln>
          </c:spPr>
          <c:marker>
            <c:symbol val="circle"/>
            <c:size val="7"/>
            <c:spPr>
              <a:solidFill>
                <a:srgbClr val="22D3EE"/>
              </a:solidFill>
              <a:ln>
                <a:solidFill>
                  <a:srgbClr val="22D3EE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0.237</c:v>
                </c:pt>
                <c:pt idx="1">
                  <c:v>0.192</c:v>
                </c:pt>
                <c:pt idx="2">
                  <c:v>0.217</c:v>
                </c:pt>
                <c:pt idx="3">
                  <c:v>0.222</c:v>
                </c:pt>
                <c:pt idx="4">
                  <c:v>0.149</c:v>
                </c:pt>
                <c:pt idx="5">
                  <c:v>0.153</c:v>
                </c:pt>
                <c:pt idx="6">
                  <c:v>0.134</c:v>
                </c:pt>
                <c:pt idx="7">
                  <c:v>0.13</c:v>
                </c:pt>
                <c:pt idx="8">
                  <c:v>0.13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27344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txPr>
    <a:bodyPr/>
    <a:lstStyle/>
    <a:p>
      <a:pPr>
        <a:defRPr sz="10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K-means</c:v>
                </c:pt>
              </c:strCache>
            </c:strRef>
          </c:tx>
          <c:spPr>
            <a:ln w="28575">
              <a:solidFill>
                <a:srgbClr val="64748B"/>
              </a:solidFill>
            </a:ln>
          </c:spPr>
          <c:marker>
            <c:symbol val="circle"/>
            <c:size val="7"/>
            <c:spPr>
              <a:solidFill>
                <a:srgbClr val="64748B"/>
              </a:solidFill>
              <a:ln>
                <a:solidFill>
                  <a:srgbClr val="6474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0.997</c:v>
                </c:pt>
                <c:pt idx="1">
                  <c:v>0.976</c:v>
                </c:pt>
                <c:pt idx="2">
                  <c:v>0.715</c:v>
                </c:pt>
                <c:pt idx="3">
                  <c:v>0.648</c:v>
                </c:pt>
                <c:pt idx="4">
                  <c:v>0.971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CAH Ward</c:v>
                </c:pt>
              </c:strCache>
            </c:strRef>
          </c:tx>
          <c:spPr>
            <a:ln w="28575">
              <a:solidFill>
                <a:srgbClr val="22D3EE"/>
              </a:solidFill>
            </a:ln>
          </c:spPr>
          <c:marker>
            <c:symbol val="circle"/>
            <c:size val="7"/>
            <c:spPr>
              <a:solidFill>
                <a:srgbClr val="22D3EE"/>
              </a:solidFill>
              <a:ln>
                <a:solidFill>
                  <a:srgbClr val="22D3E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0.987</c:v>
                </c:pt>
                <c:pt idx="1">
                  <c:v>0.956</c:v>
                </c:pt>
                <c:pt idx="2">
                  <c:v>0.932</c:v>
                </c:pt>
                <c:pt idx="3">
                  <c:v>0.861</c:v>
                </c:pt>
                <c:pt idx="4">
                  <c:v>0.713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27344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F1F5F9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souscription (%)</c:v>
                </c:pt>
              </c:strCache>
            </c:strRef>
          </c:tx>
          <c:spPr>
            <a:solidFill>
              <a:srgbClr val="22D3EE"/>
            </a:solidFill>
          </c:spPr>
          <c:dPt>
            <c:idx val="0"/>
            <c:spPr>
              <a:solidFill>
                <a:srgbClr val="60A5FA"/>
              </a:solidFill>
            </c:spPr>
          </c:dPt>
          <c:dPt>
            <c:idx val="1"/>
            <c:spPr>
              <a:solidFill>
                <a:srgbClr val="34D399"/>
              </a:solidFill>
            </c:spPr>
          </c:dPt>
          <c:dPt>
            <c:idx val="2"/>
            <c:spPr>
              <a:solidFill>
                <a:srgbClr val="FBBF24"/>
              </a:solidFill>
            </c:spPr>
          </c:dPt>
          <c:dPt>
            <c:idx val="3"/>
            <c:spPr>
              <a:solidFill>
                <a:srgbClr val="F472B6"/>
              </a:solidFill>
            </c:spPr>
          </c:dPt>
          <c:cat>
            <c:strRef>
              <c:f>Sheet1!$A$2:$A$5</c:f>
              <c:strCache>
                <c:ptCount val="4"/>
                <c:pt idx="0">
                  <c:v>S1</c:v>
                </c:pt>
                <c:pt idx="1">
                  <c:v>S2</c:v>
                </c:pt>
                <c:pt idx="2">
                  <c:v>S3</c:v>
                </c:pt>
                <c:pt idx="3">
                  <c:v>S4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5.4</c:v>
                </c:pt>
                <c:pt idx="1">
                  <c:v>17.0</c:v>
                </c:pt>
                <c:pt idx="2">
                  <c:v>22.3</c:v>
                </c:pt>
                <c:pt idx="3">
                  <c:v>40.8</c:v>
                </c:pt>
              </c:numCache>
            </c:numRef>
          </c:val>
        </c:ser>
        <c:dLbls>
          <c:numFmt formatCode="0.0&quot; %&quot;" sourceLinked="0"/>
          <c:txPr>
            <a:bodyPr/>
            <a:lstStyle/>
            <a:p>
              <a:pPr>
                <a:defRPr b="1" sz="12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1000">
                <a:solidFill>
                  <a:srgbClr val="94A3B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27344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1000">
                <a:solidFill>
                  <a:srgbClr val="94A3B8"/>
                </a:solidFill>
              </a:defRPr>
            </a:pPr>
          </a:p>
        </c:txPr>
        <c:crossAx val="-2068027336"/>
        <c:crosses val="autoZero"/>
      </c:valAx>
      <c:spPr>
        <a:noFill/>
        <a:ln>
          <a:noFill/>
        </a:ln>
      </c:spPr>
    </c:plotArea>
    <c:dispBlanksAs val="gap"/>
  </c:chart>
  <c:txPr>
    <a:bodyPr/>
    <a:lstStyle/>
    <a:p>
      <a:pPr>
        <a:defRPr sz="11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28575">
              <a:solidFill>
                <a:srgbClr val="60A5FA"/>
              </a:solidFill>
            </a:ln>
          </c:spPr>
          <c:marker>
            <c:symbol val="circle"/>
            <c:size val="7"/>
            <c:spPr>
              <a:solidFill>
                <a:srgbClr val="60A5FA"/>
              </a:solidFill>
              <a:ln>
                <a:solidFill>
                  <a:srgbClr val="60A5FA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Âge</c:v>
                </c:pt>
                <c:pt idx="1">
                  <c:v>Nb d'appels</c:v>
                </c:pt>
                <c:pt idx="2">
                  <c:v>Contacts antérieurs</c:v>
                </c:pt>
                <c:pt idx="3">
                  <c:v>Euribor</c:v>
                </c:pt>
                <c:pt idx="4">
                  <c:v>Confiance ménages</c:v>
                </c:pt>
                <c:pt idx="5">
                  <c:v>% mobile</c:v>
                </c:pt>
                <c:pt idx="6">
                  <c:v>% retraités ou étudiants</c:v>
                </c:pt>
                <c:pt idx="7">
                  <c:v>% défaut inconnu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0.31</c:v>
                </c:pt>
                <c:pt idx="1">
                  <c:v>1.0</c:v>
                </c:pt>
                <c:pt idx="2">
                  <c:v>0.0</c:v>
                </c:pt>
                <c:pt idx="3">
                  <c:v>1.0</c:v>
                </c:pt>
                <c:pt idx="4">
                  <c:v>0.43</c:v>
                </c:pt>
                <c:pt idx="5">
                  <c:v>0.0</c:v>
                </c:pt>
                <c:pt idx="6">
                  <c:v>0.0</c:v>
                </c:pt>
                <c:pt idx="7">
                  <c:v>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S2</c:v>
                </c:pt>
              </c:strCache>
            </c:strRef>
          </c:tx>
          <c:spPr>
            <a:ln w="28575">
              <a:solidFill>
                <a:srgbClr val="34D399"/>
              </a:solidFill>
            </a:ln>
          </c:spPr>
          <c:marker>
            <c:symbol val="circle"/>
            <c:size val="7"/>
            <c:spPr>
              <a:solidFill>
                <a:srgbClr val="34D399"/>
              </a:solidFill>
              <a:ln>
                <a:solidFill>
                  <a:srgbClr val="34D399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Âge</c:v>
                </c:pt>
                <c:pt idx="1">
                  <c:v>Nb d'appels</c:v>
                </c:pt>
                <c:pt idx="2">
                  <c:v>Contacts antérieurs</c:v>
                </c:pt>
                <c:pt idx="3">
                  <c:v>Euribor</c:v>
                </c:pt>
                <c:pt idx="4">
                  <c:v>Confiance ménages</c:v>
                </c:pt>
                <c:pt idx="5">
                  <c:v>% mobile</c:v>
                </c:pt>
                <c:pt idx="6">
                  <c:v>% retraités ou étudiants</c:v>
                </c:pt>
                <c:pt idx="7">
                  <c:v>% défaut inconnu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0.0</c:v>
                </c:pt>
                <c:pt idx="1">
                  <c:v>0.48</c:v>
                </c:pt>
                <c:pt idx="2">
                  <c:v>0.0</c:v>
                </c:pt>
                <c:pt idx="3">
                  <c:v>0.13</c:v>
                </c:pt>
                <c:pt idx="4">
                  <c:v>0.0</c:v>
                </c:pt>
                <c:pt idx="5">
                  <c:v>0.96</c:v>
                </c:pt>
                <c:pt idx="6">
                  <c:v>0.16</c:v>
                </c:pt>
                <c:pt idx="7">
                  <c:v>0.44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</c:v>
                </c:pt>
              </c:strCache>
            </c:strRef>
          </c:tx>
          <c:spPr>
            <a:ln w="28575">
              <a:solidFill>
                <a:srgbClr val="FBBF24"/>
              </a:solidFill>
            </a:ln>
          </c:spPr>
          <c:marker>
            <c:symbol val="circle"/>
            <c:size val="7"/>
            <c:spPr>
              <a:solidFill>
                <a:srgbClr val="FBBF24"/>
              </a:solidFill>
              <a:ln>
                <a:solidFill>
                  <a:srgbClr val="FBBF24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Âge</c:v>
                </c:pt>
                <c:pt idx="1">
                  <c:v>Nb d'appels</c:v>
                </c:pt>
                <c:pt idx="2">
                  <c:v>Contacts antérieurs</c:v>
                </c:pt>
                <c:pt idx="3">
                  <c:v>Euribor</c:v>
                </c:pt>
                <c:pt idx="4">
                  <c:v>Confiance ménages</c:v>
                </c:pt>
                <c:pt idx="5">
                  <c:v>% mobile</c:v>
                </c:pt>
                <c:pt idx="6">
                  <c:v>% retraités ou étudiants</c:v>
                </c:pt>
                <c:pt idx="7">
                  <c:v>% défaut inconnu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0.2</c:v>
                </c:pt>
                <c:pt idx="1">
                  <c:v>0.23</c:v>
                </c:pt>
                <c:pt idx="2">
                  <c:v>1.0</c:v>
                </c:pt>
                <c:pt idx="3">
                  <c:v>0.21</c:v>
                </c:pt>
                <c:pt idx="4">
                  <c:v>0.14</c:v>
                </c:pt>
                <c:pt idx="5">
                  <c:v>1.0</c:v>
                </c:pt>
                <c:pt idx="6">
                  <c:v>0.24</c:v>
                </c:pt>
                <c:pt idx="7">
                  <c:v>0.39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S4</c:v>
                </c:pt>
              </c:strCache>
            </c:strRef>
          </c:tx>
          <c:spPr>
            <a:ln w="28575">
              <a:solidFill>
                <a:srgbClr val="F472B6"/>
              </a:solidFill>
            </a:ln>
          </c:spPr>
          <c:marker>
            <c:symbol val="circle"/>
            <c:size val="7"/>
            <c:spPr>
              <a:solidFill>
                <a:srgbClr val="F472B6"/>
              </a:solidFill>
              <a:ln>
                <a:solidFill>
                  <a:srgbClr val="F472B6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Âge</c:v>
                </c:pt>
                <c:pt idx="1">
                  <c:v>Nb d'appels</c:v>
                </c:pt>
                <c:pt idx="2">
                  <c:v>Contacts antérieurs</c:v>
                </c:pt>
                <c:pt idx="3">
                  <c:v>Euribor</c:v>
                </c:pt>
                <c:pt idx="4">
                  <c:v>Confiance ménages</c:v>
                </c:pt>
                <c:pt idx="5">
                  <c:v>% mobile</c:v>
                </c:pt>
                <c:pt idx="6">
                  <c:v>% retraités ou étudiants</c:v>
                </c:pt>
                <c:pt idx="7">
                  <c:v>% défaut inconnu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1.0</c:v>
                </c:pt>
                <c:pt idx="1">
                  <c:v>0.0</c:v>
                </c:pt>
                <c:pt idx="2">
                  <c:v>0.42</c:v>
                </c:pt>
                <c:pt idx="3">
                  <c:v>0.0</c:v>
                </c:pt>
                <c:pt idx="4">
                  <c:v>1.0</c:v>
                </c:pt>
                <c:pt idx="5">
                  <c:v>0.91</c:v>
                </c:pt>
                <c:pt idx="6">
                  <c:v>1.0</c:v>
                </c:pt>
                <c:pt idx="7">
                  <c:v>0.0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800">
                <a:solidFill>
                  <a:srgbClr val="94A3B8"/>
                </a:solidFill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>
          <c:spPr>
            <a:ln w="9525">
              <a:solidFill>
                <a:srgbClr val="273449"/>
              </a:solidFill>
            </a:ln>
          </c:spPr>
        </c:majorGridlines>
        <c:numFmt formatCode="General" sourceLinked="1"/>
        <c:majorTickMark val="cross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100">
                <a:solidFill>
                  <a:srgbClr val="1E293B"/>
                </a:solidFill>
              </a:defRPr>
            </a:pPr>
          </a:p>
        </c:txPr>
        <c:crossAx val="2073612648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F1F5F9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Taux bas</c:v>
                </c:pt>
              </c:strCache>
            </c:strRef>
          </c:tx>
          <c:spPr>
            <a:solidFill>
              <a:srgbClr val="34D399"/>
            </a:solidFill>
          </c:spPr>
          <c:cat>
            <c:strRef>
              <c:f>Sheet1!$A$2:$A$5</c:f>
              <c:strCache>
                <c:ptCount val="4"/>
                <c:pt idx="0">
                  <c:v>Déjà démarchés</c:v>
                </c:pt>
                <c:pt idx="1">
                  <c:v>Sur-sollicités</c:v>
                </c:pt>
                <c:pt idx="2">
                  <c:v>Seniors</c:v>
                </c:pt>
                <c:pt idx="3">
                  <c:v>Jeunes actifs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30.1</c:v>
                </c:pt>
                <c:pt idx="1">
                  <c:v>10.1</c:v>
                </c:pt>
                <c:pt idx="2">
                  <c:v>24.2</c:v>
                </c:pt>
                <c:pt idx="3">
                  <c:v>21.6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Taux hauts</c:v>
                </c:pt>
              </c:strCache>
            </c:strRef>
          </c:tx>
          <c:spPr>
            <a:solidFill>
              <a:srgbClr val="F472B6"/>
            </a:solidFill>
          </c:spPr>
          <c:cat>
            <c:strRef>
              <c:f>Sheet1!$A$2:$A$5</c:f>
              <c:strCache>
                <c:ptCount val="4"/>
                <c:pt idx="0">
                  <c:v>Déjà démarchés</c:v>
                </c:pt>
                <c:pt idx="1">
                  <c:v>Sur-sollicités</c:v>
                </c:pt>
                <c:pt idx="2">
                  <c:v>Seniors</c:v>
                </c:pt>
                <c:pt idx="3">
                  <c:v>Jeunes actifs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3.7</c:v>
                </c:pt>
                <c:pt idx="1">
                  <c:v>4.4</c:v>
                </c:pt>
                <c:pt idx="2">
                  <c:v>4.4</c:v>
                </c:pt>
                <c:pt idx="3">
                  <c:v>5.3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800">
                <a:solidFill>
                  <a:srgbClr val="94A3B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27344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475569"/>
            </a:solidFill>
          </a:ln>
        </c:spPr>
        <c:txPr>
          <a:bodyPr/>
          <a:lstStyle/>
          <a:p>
            <a:pPr>
              <a:defRPr sz="800">
                <a:solidFill>
                  <a:srgbClr val="94A3B8"/>
                </a:solidFill>
              </a:defRPr>
            </a:pPr>
          </a:p>
        </c:txPr>
        <c:crossAx val="-2068027336"/>
        <c:crosses val="autoZero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F1F5F9"/>
              </a:solidFill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  <c:spPr>
    <a:noFill/>
    <a:ln>
      <a:noFill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Bonjour. Je présente mon projet final du module Apprentissage non supervisé : une segmentation de la clientèle d'une banque à partir du jeu Bank Marketing. Plan : le problème, la démarche, les résultats méthode par méthode, la solution retenue et les recommandations.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marketing téléphonique coûte cher et seuls 11,3 % des contacts aboutissent à une souscription. La banque n'a aucune segmentation. Ma mission : trouver des groupes homogènes sans utiliser la variable de souscription, puis vérifier qu'ils sont utiles. Trois questions guident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projet suit cinq étapes, une par jour : préparation, distances et partitionnement, hiérarchique et densité, validation, interprétation. Chaque étape a son notebook, plus un sixième pour les extensions. Point clé : y est mise de côté dès le chargement. Elle ne sert ni à construire ni à choisir les groupes : elle revient au jour 4 pour vérifier le choix et au jour 5 pour décrire les segments.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données : 41 188 contacts, 10 variables numériques et 10 catégorielles. Nettoyage : 12 doublons, les unknown imputés par le mode sauf pour default où c'est une vraie modalité, campaign plafonnée. Je distingue variables actives et illustratives : duration est connue après l'appel, deux indicateurs économiques sont redondants avec l'Euribor. C'est un écart assumé par rapport au squelette du 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question : comment mesurer la ressemblance. Sans standardisation, l'âge porte 77 % de la distance euclidienne, juste parce qu'il s'exprime en dizaines. Après standardisation, chaque variable numérique pèse environ 10 %. Seuls 23 % des dix plus proches voisins restent les mêmes : la standardisation change les groupes. Pour les données mixtes j'utilise Gower, qui donne le même poids à chaque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J'ai comparé neuf méthodes dans quatre familles. Chacune reçoit la représentation et la distance qui lui conviennent. Pour K-medoids, la bibliothèque scikit-learn-extra citée dans le sujet ne fonctionne plus avec NumPy 2 : le code l'utilise si elle est disponible, sinon il bascule sur ma propre implémentation du même algorithme. L'indice de Dunn est aussi codé à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Pour K-means, l'inertie décroît sans cassure franche : le coude est vers 6. La silhouette est maximale à k = 2, 0,24, et reste proche de 0,20 jusqu'à 5. À k = 2, K-means, K-prototypes et le mélange gaussien trouvent la même coupure : taux élevés contre taux bas. K-medoids sur Gower donne une structure plus faible et différente. Pour le GMM, le BIC décroît sans minimum : les données ne sont pas gaussiennes.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liens donnent des résultats très différents. Single produit un effet de chaîne : un cluster géant et des singletons. Average et complete isolent quelques dizaines d'atypiques. Seul Ward donne des groupes équilibrés. Le piège : les trois liens inutilisables ont les meilleures silhouettes. Un indice ne se lit jamais sans la taille des clusters. Pour Ward, le dendrogramme propose deux coupures, 2 et 5 ; la silhouette préfère 2 puis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DBSCAN, réglé par le graphique des k-distances, epsilon environ 1 et min_samples 10. Il trouve 8 clusters, mais un seul contient 82 % des clients, et 3,8 % des points sont du bruit. La clientèle est une masse continue : DBSCAN ne segmente pas. En revanche le bruit a un sens : clients plus âgés, déjà démarchés, souvent retraités ou étudiants. C'est aussi la limite de K-means : il range ces points de force dans un cluster, presque deux fois plus loin de leur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Sélection en quatre temps. Un filtre métier : 3 ou 4 groupes, chacun d'au moins 5 % des clients, ce qui élimine les partitions dégénérées. Puis un classement sur les quatre indices internes seulement : y n'intervient pas dans le choix, sinon le raisonnement serait circulaire. Ward à 4 groupes est premier : meilleure silhouette, meilleur Davies-Bouldin, meilleur Dunn. Troisième étape, la stabilité : en bootstrap, Ward obtient 0,93 à k = 4 contre 0,72 pour K-means. Enfin, l'ARI calculé avec y sert seulement de contrôle : Ward a aussi le meilleur, et l'ajouter au classement ne change pas le vainqueur.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solution retenue est donc la CAH de Ward à quatre segments. Je l'assume comme un compromis : statistiquement, la structure la plus nette est à deux groupes. Quatre groupes répondent au besoin de recommandations différenciées, et les indices le valident. Comme Ward ne passe pas à l'échelle de 41 000 clients, j'affecte chaque client au centre de segment le plus proche : cette règle reproduit Ward à 98 %.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les quatre segments sur les 41 176 clients, classés du moins au plus souscripteur. Le taux de souscription est multiplié par plus de 7 entre S1 et S4, alors que y n'a servi ni à construire les groupes ni à choisir la solution. S1, deux tiers des clients, 5 %. S4, 6 % des clients, 41 %.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profils. S1 : jamais démarchés, contactés quand les taux sont élevés, pour moitié sur fixe. S2 : jamais démarchés non plus, mais en période de taux bas, sur mobile, plus jeunes. S3 : tous déjà démarchés lors d'une campagne précédente. S4 : les plus âgés, beaucoup de retraités, d'étudiants et de diplômés. Trois dimensions structurent donc la clientèle : le contexte économique, l'historique, puis le profil socio-démographique.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recommandations, une par segment. S4 : priorité numéro un, les meilleurs conseillers. S3 : relance personnalisée selon le résultat précédent. S2 : acquisition sur mobile en période de taux bas. S1 : réduire la pression téléphonique. Le gain : en appelant S4, S3 puis S2, soit un tiers des clients, la banque obtient deux tiers des souscriptions. Le taux de réussite double.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limites, à dire clairement. Les silhouettes sont autour de 0,2 : les segments se chevauchent. S1 et S2 se distinguent surtout par la période du contact, pas par ce que le client est. Le fichier n'a ni revenu ni solde. Et k = 4 est un choix métier. J'ai mesuré ce poids du contexte : sans les trois indicateurs économiques, seul l'historique de contact forme un groupe net, et la partition devient instable. Le graphique le montre : dans chaque groupe, la souscription est bien plus forte en période de taux bas ; à période égale, ce sont l'historique et le nombre d'appels qui discriminent, plus que la démographie. Deuxième extension : DBSCAN et l'Isolation Forest s'accordent sur un noyau de clients atypiques, surtout d'anciens souscripteurs, qui souscrivent à près de 50 %. Enfin, la règle d'affectation est déployée dans une petite application Streamlit.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conclusion : sans utiliser la variable de souscription, on obtient quatre segments dont le taux va de 5 à 41 %. Trois enseignements de méthode : la standardisation et la distance changent les groupes ; un indice ne se lit jamais seul ; le nombre de groupes est un compromis entre les données et le métier, à énoncer clairement. Merci, je suis à votre disposition pour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Arial"/>
              </a:rPr>
              <a:t>PROJET FINAL  ·  APPRENTISSAGE NON SUPERVISÉ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1F5F9"/>
                </a:solidFill>
                <a:latin typeface="Arial"/>
              </a:rPr>
              <a:t>Segmentation de</a:t>
            </a:r>
          </a:p>
          <a:p>
            <a:pPr algn="l"/>
            <a:r>
              <a:rPr sz="4600" b="1">
                <a:solidFill>
                  <a:srgbClr val="F1F5F9"/>
                </a:solidFill>
                <a:latin typeface="Arial"/>
              </a:rPr>
              <a:t>clientèle bancaire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8686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94A3B8"/>
                </a:solidFill>
                <a:latin typeface="Arial"/>
              </a:rPr>
              <a:t>Découvrir des groupes de clients sans étiquette, pour mieux cibler les campagnes de marketing téléphonique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20440"/>
            <a:ext cx="2331720" cy="1143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3520440"/>
            <a:ext cx="64008" cy="1143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41832" y="366674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Arial"/>
              </a:rPr>
              <a:t>41 176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09651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clients analysés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3520440"/>
            <a:ext cx="2331720" cy="1143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64008" cy="11430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56432" y="366674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60A5FA"/>
                </a:solidFill>
                <a:latin typeface="Arial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409651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méthodes comparées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3520440"/>
            <a:ext cx="2331720" cy="1143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715000" y="3520440"/>
            <a:ext cx="64008" cy="1143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71032" y="366674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34D399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1032" y="409651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segments retenus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520440"/>
            <a:ext cx="2331720" cy="1143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229600" y="3520440"/>
            <a:ext cx="64008" cy="11430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85632" y="366674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472B6"/>
                </a:solidFill>
                <a:latin typeface="Arial"/>
              </a:rPr>
              <a:t>5 → 41 %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409651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taux de souscription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9200"/>
            <a:ext cx="18836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Arial"/>
              </a:rPr>
              <a:t>AUTEURE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85232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Arial"/>
              </a:rPr>
              <a:t>Ndeye Sokhna Nokho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0904" y="5029200"/>
            <a:ext cx="18836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Arial"/>
              </a:rPr>
              <a:t>ENSEIGNANT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60904" y="5285232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Arial"/>
              </a:rPr>
              <a:t>M. Cheikh GUEYE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5029200"/>
            <a:ext cx="18836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Arial"/>
              </a:rPr>
              <a:t>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6008" y="5285232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Arial"/>
              </a:rPr>
              <a:t>Master BDA/IA, UN-CHK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5029200"/>
            <a:ext cx="18836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Arial"/>
              </a:rPr>
              <a:t>DONNÉES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5285232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Arial"/>
              </a:rPr>
              <a:t>Bank Marketing (UCI)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86216" y="5029200"/>
            <a:ext cx="18836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Arial"/>
              </a:rPr>
              <a:t>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86216" y="5285232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Arial"/>
              </a:rPr>
              <a:t>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01  · 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Neuf appels sur dix n'aboutissent pas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142875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02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420624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>
                <a:solidFill>
                  <a:srgbClr val="22D3EE"/>
                </a:solidFill>
                <a:latin typeface="Arial"/>
              </a:rPr>
              <a:t>11,3 %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Arial"/>
              </a:rPr>
              <a:t>des contacts se terminent par la souscription d'un dépôt à terme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40480"/>
            <a:ext cx="4206240" cy="1737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04088" y="405993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023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5196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1F5F9"/>
                </a:solidFill>
                <a:latin typeface="Arial"/>
              </a:rPr>
              <a:t>Découvrir des groupes de clients homogènes à partir de données mixtes, sans jamais utiliser la variable de souscription 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1508760"/>
            <a:ext cx="6751320" cy="120700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5212080" y="1810512"/>
            <a:ext cx="640080" cy="603504"/>
          </a:xfrm>
          <a:prstGeom prst="roundRect">
            <a:avLst>
              <a:gd name="adj" fmla="val 2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212080" y="1810512"/>
            <a:ext cx="6400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Arial"/>
              </a:rPr>
              <a:t>Q1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1691640"/>
            <a:ext cx="5379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  <a:latin typeface="Arial"/>
              </a:rPr>
              <a:t>Comment mesurer la ressemblance entre deux clients quand les données mêlent nombres et catégories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2880360"/>
            <a:ext cx="6751320" cy="120700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5212080" y="3182112"/>
            <a:ext cx="640080" cy="603504"/>
          </a:xfrm>
          <a:prstGeom prst="roundRect">
            <a:avLst>
              <a:gd name="adj" fmla="val 2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212080" y="3182112"/>
            <a:ext cx="6400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4D399"/>
                </a:solidFill>
                <a:latin typeface="Arial"/>
              </a:rPr>
              <a:t>Q2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063240"/>
            <a:ext cx="5379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  <a:latin typeface="Arial"/>
              </a:rPr>
              <a:t>Quelle méthode de clustering, et combien de groupes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37760" y="4251960"/>
            <a:ext cx="6751320" cy="120700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212080" y="4553712"/>
            <a:ext cx="640080" cy="603504"/>
          </a:xfrm>
          <a:prstGeom prst="roundRect">
            <a:avLst>
              <a:gd name="adj" fmla="val 2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212080" y="4553712"/>
            <a:ext cx="6400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472B6"/>
                </a:solidFill>
                <a:latin typeface="Arial"/>
              </a:rPr>
              <a:t>Q3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434840"/>
            <a:ext cx="5379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  <a:latin typeface="Arial"/>
              </a:rPr>
              <a:t>Les segments sont-ils stables, interprétables et utiles pour le ciblage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02  ·  DÉMARCHE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Une chaîne de traitement en cinq étapes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214312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03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2003145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" y="1645920"/>
            <a:ext cx="2003145" cy="7315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60A5FA"/>
                </a:solidFill>
                <a:latin typeface="Arial"/>
              </a:rPr>
              <a:t>J1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6032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1F5F9"/>
                </a:solidFill>
                <a:latin typeface="Arial"/>
              </a:rPr>
              <a:t>Préparation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163738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Nettoyage, EDA, deux représentations, PCA / t-SNE / UMAP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60929" y="2697480"/>
            <a:ext cx="182880" cy="256032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98673" y="1645920"/>
            <a:ext cx="2003145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798673" y="1645920"/>
            <a:ext cx="2003145" cy="731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027273" y="192024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34D399"/>
                </a:solidFill>
                <a:latin typeface="Arial"/>
              </a:rPr>
              <a:t>J2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7273" y="256032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1F5F9"/>
                </a:solidFill>
                <a:latin typeface="Arial"/>
              </a:rPr>
              <a:t>Distances et partitionnement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7273" y="3154680"/>
            <a:ext cx="163738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Gower, K-means, K-medoids, K-prototypes, GMM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56682" y="2697480"/>
            <a:ext cx="182880" cy="256032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94426" y="1645920"/>
            <a:ext cx="2003145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94426" y="1645920"/>
            <a:ext cx="200314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323026" y="192024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Arial"/>
              </a:rPr>
              <a:t>J3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3026" y="256032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1F5F9"/>
                </a:solidFill>
                <a:latin typeface="Arial"/>
              </a:rPr>
              <a:t>Hiérarchique et densité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3026" y="3154680"/>
            <a:ext cx="163738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CAH à 4 liens, dendrogrammes, DBSCAN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152435" y="2697480"/>
            <a:ext cx="182880" cy="256032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90179" y="1645920"/>
            <a:ext cx="2003145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390179" y="1645920"/>
            <a:ext cx="2003145" cy="7315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618779" y="192024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BBF24"/>
                </a:solidFill>
                <a:latin typeface="Arial"/>
              </a:rPr>
              <a:t>J4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18779" y="256032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1F5F9"/>
                </a:solidFill>
                <a:latin typeface="Arial"/>
              </a:rPr>
              <a:t>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8779" y="3154680"/>
            <a:ext cx="163738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Indices internes et externes, stabilité, choix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448188" y="2697480"/>
            <a:ext cx="182880" cy="256032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85932" y="1645920"/>
            <a:ext cx="2003145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685932" y="1645920"/>
            <a:ext cx="2003145" cy="7315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914532" y="192024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472B6"/>
                </a:solidFill>
                <a:latin typeface="Arial"/>
              </a:rPr>
              <a:t>J5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4532" y="2560320"/>
            <a:ext cx="16373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1F5F9"/>
                </a:solidFill>
                <a:latin typeface="Arial"/>
              </a:rPr>
              <a:t>Interprétation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14532" y="3154680"/>
            <a:ext cx="163738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Profils, radars, recommandations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343400"/>
            <a:ext cx="11186160" cy="914400"/>
          </a:xfrm>
          <a:prstGeom prst="roundRect">
            <a:avLst>
              <a:gd name="adj" fmla="val 6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2960" y="4343400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Arial"/>
              </a:rPr>
              <a:t>RÈGLE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4343400"/>
            <a:ext cx="93573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1F5F9"/>
                </a:solidFill>
                <a:latin typeface="Arial"/>
              </a:rPr>
              <a:t>La variable y (souscription) n'est jamais utilisée pour construire ni pour choisir les groupes. Elle sert à vérifier le choix (J4) puis à décrire les segments (J5).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03  · 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15 variables actives retenues sur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285750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04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4088" y="172821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" y="169164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FICHE TECHNIQUE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075688"/>
          <a:ext cx="4800599" cy="3200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411941"/>
                <a:gridCol w="338865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1F5F9"/>
                          </a:solidFill>
                          <a:latin typeface="Arial"/>
                        </a:rPr>
                        <a:t>Élément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1F5F9"/>
                          </a:solidFill>
                          <a:latin typeface="Arial"/>
                        </a:rPr>
                        <a:t>Valeur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Individus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41 188, puis 41 176 après retrait de 12 doublons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Variables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10 numériques + 10 catégorielles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Manquants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« unknown » : mode (5 variables) ; gardé pour default (21 %)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Aberrants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campaign plafonnée au 99e centile ; pdays recodée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Représentations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(a) one-hot standardisé, 37 colonnes ; (b) mixte, 15 colonnes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Échantillon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4 000 clients, aléatoire stratifié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035040" y="1508760"/>
            <a:ext cx="5654040" cy="3977639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236208" y="172821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82512" y="1691640"/>
            <a:ext cx="5105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VARIABLES ÉCARTÉES DU CLUSTERING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63640" y="2075688"/>
          <a:ext cx="5196839" cy="27432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06827"/>
                <a:gridCol w="309001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1F5F9"/>
                          </a:solidFill>
                          <a:latin typeface="Arial"/>
                        </a:rPr>
                        <a:t>Variable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1F5F9"/>
                          </a:solidFill>
                          <a:latin typeface="Arial"/>
                        </a:rPr>
                        <a:t>Raison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Connue seulement après l'appel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emp.var.rate, nr.employed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Corrélées à plus de 0,90 avec euribor3m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month, day_of_week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Calendrier de campagne, pas le client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pdays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Recodée en contacted_before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y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Vérité terrain, interdite à l'entraînement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09360" y="5001768"/>
            <a:ext cx="5196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Ces variables restent utilisées pour décrire les segments.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04  ·  DISTANCES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Sans standardisation, l'âge pèse 77 % de la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357187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05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6035040" cy="3977639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4088" y="172821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PART DE CHAQUE VARIABLE DANS LA DISTANCE EUCLIDIENNE (%)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2011680"/>
          <a:ext cx="576072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812280" y="1508760"/>
            <a:ext cx="4876800" cy="1234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812280" y="1508760"/>
            <a:ext cx="64008" cy="1234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68312" y="1655064"/>
            <a:ext cx="4511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2D3EE"/>
                </a:solidFill>
                <a:latin typeface="Arial"/>
              </a:rPr>
              <a:t>23 %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2176272"/>
            <a:ext cx="4465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des 10 plus proches voisins restent les mêmes après standardisation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2926080"/>
            <a:ext cx="4876800" cy="2560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013448" y="314553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59752" y="3108960"/>
            <a:ext cx="432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DISTANCE RETENUE PAR MÉTHODE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995160" y="3429000"/>
          <a:ext cx="4511040" cy="192024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255520"/>
                <a:gridCol w="22555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1F5F9"/>
                          </a:solidFill>
                          <a:latin typeface="Arial"/>
                        </a:rPr>
                        <a:t>Méthodes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1F5F9"/>
                          </a:solidFill>
                          <a:latin typeface="Arial"/>
                        </a:rPr>
                        <a:t>Distance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F1F5F9"/>
                          </a:solidFill>
                          <a:latin typeface="Arial"/>
                        </a:rPr>
                        <a:t>K-means, GMM, Ward, DBSCAN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F1F5F9"/>
                          </a:solidFill>
                          <a:latin typeface="Arial"/>
                        </a:rPr>
                        <a:t>Euclidienne standardisée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F1F5F9"/>
                          </a:solidFill>
                          <a:latin typeface="Arial"/>
                        </a:rPr>
                        <a:t>K-medoids, CAH lien moyen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F1F5F9"/>
                          </a:solidFill>
                          <a:latin typeface="Arial"/>
                        </a:rPr>
                        <a:t>Gower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F1F5F9"/>
                          </a:solidFill>
                          <a:latin typeface="Arial"/>
                        </a:rPr>
                        <a:t>K-prototypes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F1F5F9"/>
                          </a:solidFill>
                          <a:latin typeface="Arial"/>
                        </a:rPr>
                        <a:t>Euclidienne + désaccords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F1F5F9"/>
                          </a:solidFill>
                          <a:latin typeface="Arial"/>
                        </a:rPr>
                        <a:t>Variables binaires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F1F5F9"/>
                          </a:solidFill>
                          <a:latin typeface="Arial"/>
                        </a:rPr>
                        <a:t>Jaccard si « oui » rare, Hamming sinon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05  ·  MÉTHODES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Neuf méthodes sur le banc d'essai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428625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06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554480"/>
          <a:ext cx="11186157" cy="3511296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885307"/>
                <a:gridCol w="3267866"/>
                <a:gridCol w="3016492"/>
                <a:gridCol w="3016492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Famille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Méthode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Données et distance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Réglage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Arial"/>
                        </a:rPr>
                        <a:t>Partitionnement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K-means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(a) one-hot standardisé, euclidienne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Coude, k de 2 à 10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Arial"/>
                        </a:rPr>
                        <a:t>Partitionnement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K-medoids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Matrice de Gower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Coût et silhouette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Arial"/>
                        </a:rPr>
                        <a:t>Partitionnement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K-prototypes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(b) données mixtes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Coude sur le coût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BBF24"/>
                          </a:solidFill>
                          <a:latin typeface="Arial"/>
                        </a:rPr>
                        <a:t>Modèle probabiliste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Mélange gaussien (GMM)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10 axes de la PCA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BIC et AIC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34D399"/>
                          </a:solidFill>
                          <a:latin typeface="Arial"/>
                        </a:rPr>
                        <a:t>Hiérarchique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CAH : single, complete, average, Ward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(a), euclidienne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Dendrogramme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34D399"/>
                          </a:solidFill>
                          <a:latin typeface="Arial"/>
                        </a:rPr>
                        <a:t>Hiérarchique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CAH à lien moyen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Matrice de Gower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Dendrogramme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472B6"/>
                          </a:solidFill>
                          <a:latin typeface="Arial"/>
                        </a:rPr>
                        <a:t>Densité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DBSCAN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5 axes de la PCA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ε par k-distances, min_samples = 10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5212080"/>
            <a:ext cx="11186160" cy="502920"/>
          </a:xfrm>
          <a:prstGeom prst="roundRect">
            <a:avLst>
              <a:gd name="adj" fmla="val 6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5212080"/>
            <a:ext cx="10637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Arial"/>
              </a:rPr>
              <a:t>K-medoids et indice de Dunn : implémentations personnelles (scikit-learn-extra est incompatible avec NumPy 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06  ·  PARTITIONNEMENT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La structure la plus nette est à deux groupes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500062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07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3576320" cy="1188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64008" cy="1188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8952" y="1655064"/>
            <a:ext cx="321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2D3EE"/>
                </a:solidFill>
                <a:latin typeface="Arial"/>
              </a:rPr>
              <a:t>0,24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30552"/>
            <a:ext cx="316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silhouette maximale, obtenue pour k =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7840" y="1508760"/>
            <a:ext cx="3576320" cy="1188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07840" y="1508760"/>
            <a:ext cx="64008" cy="1188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63872" y="1655064"/>
            <a:ext cx="321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34D399"/>
                </a:solidFill>
                <a:latin typeface="Arial"/>
              </a:rPr>
              <a:t>≥ 0,97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3872" y="2130552"/>
            <a:ext cx="316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ARI entre K-means, K-prototypes et GMM à k =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760" y="1508760"/>
            <a:ext cx="3576320" cy="1188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112760" y="1508760"/>
            <a:ext cx="64008" cy="1188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68792" y="1655064"/>
            <a:ext cx="321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BBF24"/>
                </a:solidFill>
                <a:latin typeface="Arial"/>
              </a:rPr>
              <a:t>k ≈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8792" y="2130552"/>
            <a:ext cx="316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coude de l'inertie : borne haute pour 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26080"/>
            <a:ext cx="5455920" cy="2606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04088" y="314553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50392" y="3108960"/>
            <a:ext cx="490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K-MEANS : INERTIE SELON K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0080" y="3383280"/>
          <a:ext cx="5181600" cy="2057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6233160" y="2926080"/>
            <a:ext cx="5455920" cy="2606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434328" y="314553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80632" y="3108960"/>
            <a:ext cx="490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K-MEANS : SILHOUETTE SELON K</a:t>
            </a:r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6370320" y="3383280"/>
          <a:ext cx="5181600" cy="2057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07  ·  CLASSIFICATION HIÉRARCHIQUE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En classification hiérarchique, le lien change tout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571500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08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4663440" cy="2514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4088" y="172821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" y="16916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COUPURE À 3 CLUSTERS SELON LE LIEN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075688"/>
          <a:ext cx="4206239" cy="173736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186375"/>
                <a:gridCol w="1833489"/>
                <a:gridCol w="1186375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1F5F9"/>
                          </a:solidFill>
                          <a:latin typeface="Arial"/>
                        </a:rPr>
                        <a:t>Lien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F5F9"/>
                          </a:solidFill>
                          <a:latin typeface="Arial"/>
                        </a:rPr>
                        <a:t>Tailles (k = 3)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F5F9"/>
                          </a:solidFill>
                          <a:latin typeface="Arial"/>
                        </a:rPr>
                        <a:t>Silhouette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F1F5F9"/>
                          </a:solidFill>
                          <a:latin typeface="Arial"/>
                        </a:rPr>
                        <a:t>Single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F1F5F9"/>
                          </a:solidFill>
                          <a:latin typeface="Arial"/>
                        </a:rPr>
                        <a:t>3 998 / 1 / 1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F1F5F9"/>
                          </a:solidFill>
                          <a:latin typeface="Arial"/>
                        </a:rPr>
                        <a:t>0,423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F1F5F9"/>
                          </a:solidFill>
                          <a:latin typeface="Arial"/>
                        </a:rPr>
                        <a:t>Complete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F1F5F9"/>
                          </a:solidFill>
                          <a:latin typeface="Arial"/>
                        </a:rPr>
                        <a:t>3 879 / 66 / 55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F1F5F9"/>
                          </a:solidFill>
                          <a:latin typeface="Arial"/>
                        </a:rPr>
                        <a:t>0,316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F1F5F9"/>
                          </a:solidFill>
                          <a:latin typeface="Arial"/>
                        </a:rPr>
                        <a:t>Average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F1F5F9"/>
                          </a:solidFill>
                          <a:latin typeface="Arial"/>
                        </a:rPr>
                        <a:t>3 964 / 35 / 1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F1F5F9"/>
                          </a:solidFill>
                          <a:latin typeface="Arial"/>
                        </a:rPr>
                        <a:t>0,489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1F5F9"/>
                          </a:solidFill>
                          <a:latin typeface="Arial"/>
                        </a:rPr>
                        <a:t>Ward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1F5F9"/>
                          </a:solidFill>
                          <a:latin typeface="Arial"/>
                        </a:rPr>
                        <a:t>2 617 / 756 / 627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F5F9"/>
                          </a:solidFill>
                          <a:latin typeface="Arial"/>
                        </a:rPr>
                        <a:t>0,193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02920" y="4206240"/>
            <a:ext cx="4663440" cy="1280160"/>
          </a:xfrm>
          <a:prstGeom prst="roundRect">
            <a:avLst>
              <a:gd name="adj" fmla="val 6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2920" y="4206240"/>
            <a:ext cx="64008" cy="128016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72B6"/>
                </a:solidFill>
                <a:latin typeface="Arial"/>
              </a:rPr>
              <a:t>PIÈGE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36008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1F5F9"/>
                </a:solidFill>
                <a:latin typeface="Arial"/>
              </a:rPr>
              <a:t>Les partitions inutilisables affichent les meilleures silhouettes. Un indice se lit toujours avec la taille des clusters.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1508760"/>
            <a:ext cx="6248400" cy="3977639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41848" y="172821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788152" y="1691640"/>
            <a:ext cx="569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DENDROGRAMME DE WARD (30 DERNIÈRES FUSIONS)</a:t>
            </a:r>
          </a:p>
        </p:txBody>
      </p:sp>
      <p:pic>
        <p:nvPicPr>
          <p:cNvPr id="20" name="Picture 19" descr="w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011680"/>
            <a:ext cx="5974080" cy="31363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08  ·  DENSITÉ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DBSCAN repère les atypiques, il ne segmente pas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642937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09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1118616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dbsca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689" y="1600200"/>
            <a:ext cx="6064622" cy="18745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3794760"/>
            <a:ext cx="2011680" cy="1645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02920" y="3794760"/>
            <a:ext cx="64008" cy="16459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2" y="3941064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34D399"/>
                </a:solidFill>
                <a:latin typeface="Arial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87375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clusters trouvés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3794760"/>
            <a:ext cx="2011680" cy="1645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697480" y="3794760"/>
            <a:ext cx="64008" cy="164592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953512" y="3941064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60A5FA"/>
                </a:solidFill>
                <a:latin typeface="Arial"/>
              </a:rPr>
              <a:t>82 %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487375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des clients dans un seul cluster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3794760"/>
            <a:ext cx="2011680" cy="1645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892040" y="3794760"/>
            <a:ext cx="64008" cy="164592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148072" y="3941064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472B6"/>
                </a:solidFill>
                <a:latin typeface="Arial"/>
              </a:rPr>
              <a:t>3,8 %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487375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de points classés en bruit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086600" y="3794760"/>
          <a:ext cx="4602477" cy="164592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09469"/>
                <a:gridCol w="1246504"/>
                <a:gridCol w="124650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1F5F9"/>
                          </a:solidFill>
                          <a:latin typeface="Arial"/>
                        </a:rPr>
                        <a:t>Profil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472B6"/>
                          </a:solidFill>
                          <a:latin typeface="Arial"/>
                        </a:rPr>
                        <a:t>Points de bruit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1F5F9"/>
                          </a:solidFill>
                          <a:latin typeface="Arial"/>
                        </a:rPr>
                        <a:t>Autres clients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Âge moyen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49 ans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40 ans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Déjà démarchés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42 %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2 %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Retraités ou étudiants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34 %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5 %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Distance au centre K-means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F1F5F9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09  · 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Ward à quatre groupes domine les candidats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714375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10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63040"/>
          <a:ext cx="5760716" cy="329184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515978"/>
                <a:gridCol w="454793"/>
                <a:gridCol w="757989"/>
                <a:gridCol w="757989"/>
                <a:gridCol w="757989"/>
                <a:gridCol w="757989"/>
                <a:gridCol w="757989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Méthode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Silh.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D.-B.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Dunn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D3EE"/>
                          </a:solidFill>
                          <a:latin typeface="Arial"/>
                        </a:rPr>
                        <a:t>Rang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64748B"/>
                          </a:solidFill>
                          <a:latin typeface="Arial"/>
                        </a:rPr>
                        <a:t>ARI*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CAH Ward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0,213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1,73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0,112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1,50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0,151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K-prototypes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0,185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1,92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0,083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3,00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0,094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K-means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0,186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1,92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0,065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3,25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0,096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CAH Ward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0,193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1,97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0,098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3,25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0,139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K-means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0,182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1,84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0,033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5,00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0,057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GMM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0,081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2,70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0,072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6,25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0,053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K-prototypes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0,126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2,26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0,006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8,00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0,048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K-medoids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0,039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3,73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0,020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8,75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0,015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892040"/>
            <a:ext cx="5760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Filtre : k = 3 ou 4, segments ≥ 5 %.  Rang moyen sur les 4 indices internes (1 = meilleur).</a:t>
            </a:r>
          </a:p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* ARI, calculé avec y : contrôle a posteriori, hors rang.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463040"/>
            <a:ext cx="5151120" cy="4023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739128" y="168249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85432" y="1645920"/>
            <a:ext cx="460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STABILITÉ BOOTSTRAP : ARI MOYEN SELON K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675120" y="1965960"/>
          <a:ext cx="48768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10  ·  DÉCISION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Solution retenue : CAH de Ward à quatre segments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785812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11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2625090" cy="18288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64008" cy="1828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8952" y="1655064"/>
            <a:ext cx="22593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22D3EE"/>
                </a:solidFill>
                <a:latin typeface="Arial"/>
              </a:rPr>
              <a:t>0,21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770632"/>
            <a:ext cx="22136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silhouette, proche du maximum observé à k = 2 (0,24)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610" y="1508760"/>
            <a:ext cx="2625090" cy="18288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356610" y="1508760"/>
            <a:ext cx="64008" cy="18288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12642" y="1655064"/>
            <a:ext cx="22593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60A5FA"/>
                </a:solidFill>
                <a:latin typeface="Arial"/>
              </a:rPr>
              <a:t>1,73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2642" y="2770632"/>
            <a:ext cx="22136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Davies-Bouldin, le plus bas des candidats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508760"/>
            <a:ext cx="2625090" cy="18288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0300" y="1508760"/>
            <a:ext cx="64008" cy="18288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66332" y="1655064"/>
            <a:ext cx="22593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34D399"/>
                </a:solidFill>
                <a:latin typeface="Arial"/>
              </a:rPr>
              <a:t>0,93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6332" y="2770632"/>
            <a:ext cx="22136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ARI bootstrap, contre 0,72 pour K-means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3990" y="1508760"/>
            <a:ext cx="2625090" cy="18288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63990" y="1508760"/>
            <a:ext cx="64008" cy="18288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0022" y="1655064"/>
            <a:ext cx="22593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BBF24"/>
                </a:solidFill>
                <a:latin typeface="Arial"/>
              </a:rPr>
              <a:t>98 %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0022" y="2770632"/>
            <a:ext cx="22136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des clients reclassés à l'identique par le centre le plus proche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611880"/>
            <a:ext cx="11186160" cy="1874519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04088" y="383133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50392" y="3794760"/>
            <a:ext cx="1063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CE QUE CE CHOIX IMPLIQUE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069080"/>
            <a:ext cx="1045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22D3EE"/>
                </a:solidFill>
                <a:latin typeface="Arial"/>
              </a:rPr>
              <a:t>■  </a:t>
            </a:r>
            <a:r>
              <a:rPr sz="2000">
                <a:solidFill>
                  <a:srgbClr val="F1F5F9"/>
                </a:solidFill>
                <a:latin typeface="Arial"/>
              </a:rPr>
              <a:t>k = 4 répond au besoin métier ; la structure statistiquement la plus nette reste k = 2.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2D3EE"/>
                </a:solidFill>
                <a:latin typeface="Arial"/>
              </a:rPr>
              <a:t>■  </a:t>
            </a:r>
            <a:r>
              <a:rPr sz="2000">
                <a:solidFill>
                  <a:srgbClr val="F1F5F9"/>
                </a:solidFill>
                <a:latin typeface="Arial"/>
              </a:rPr>
              <a:t>Ward est construit sur 4 000 clients, puis étendu aux 41 176 par le centre le plus proche.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11  ·  SEGMENTS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Le taux de souscription va de 5 % à 41 %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857250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12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4206240" cy="4023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4088" y="168249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" y="1645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TAUX DE SOUSCRIPTION PAR SEGMENT (%)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965960"/>
          <a:ext cx="393192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77240" y="504748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Moyenne générale : 11,3 %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983480" y="1463040"/>
          <a:ext cx="6705596" cy="3621024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448076"/>
                <a:gridCol w="1064380"/>
                <a:gridCol w="1064380"/>
                <a:gridCol w="1064380"/>
                <a:gridCol w="106438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Indicateur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60A5FA"/>
                          </a:solidFill>
                          <a:latin typeface="Arial"/>
                        </a:rPr>
                        <a:t>S1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4D399"/>
                          </a:solidFill>
                          <a:latin typeface="Arial"/>
                        </a:rPr>
                        <a:t>S2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BBF24"/>
                          </a:solidFill>
                          <a:latin typeface="Arial"/>
                        </a:rPr>
                        <a:t>S3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472B6"/>
                          </a:solidFill>
                          <a:latin typeface="Arial"/>
                        </a:rPr>
                        <a:t>S4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Poids dans la clientèle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66,4 %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16,6 %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11,4 %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5,6 %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Taux de souscription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5,4 %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17,0 %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22,3 %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F5F9"/>
                          </a:solidFill>
                          <a:latin typeface="Arial"/>
                        </a:rPr>
                        <a:t>40,8 %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Âge moyen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40,2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37,9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39,4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45,4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Euribor 3 mois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0,8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Appels par client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Contact sur mobile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50 %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91 %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93 %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88 %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Déjà démarchés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0 %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41 %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Retraités ou étudiants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4 %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7 %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9 %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26 %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983480" y="5166360"/>
            <a:ext cx="670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Profilage sur les 41 176 clients.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12  ·  PROFILS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Quatre profils, structurés par le contexte et l'historique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928687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13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4088" y="168249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" y="1645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RADAR DES SEGMENTS (0 = SEGMENT LE PLUS BAS, 1 = LE PLUS HAUT)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94360" y="1920240"/>
          <a:ext cx="493776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897880" y="1463040"/>
            <a:ext cx="579120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897880" y="1463040"/>
            <a:ext cx="64008" cy="9144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26480" y="1463040"/>
            <a:ext cx="685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60A5FA"/>
                </a:solidFill>
                <a:latin typeface="Arial"/>
              </a:rPr>
              <a:t>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609344"/>
            <a:ext cx="4648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1F5F9"/>
                </a:solidFill>
                <a:latin typeface="Arial"/>
              </a:rPr>
              <a:t>Nouveaux prospects, taux élevés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38528"/>
            <a:ext cx="4648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Jamais démarchés, Euribor proche de 4,8 %, moitié sur fixe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2496312"/>
            <a:ext cx="579120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897880" y="2496312"/>
            <a:ext cx="64008" cy="914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6480" y="2496312"/>
            <a:ext cx="685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34D399"/>
                </a:solidFill>
                <a:latin typeface="Arial"/>
              </a:rPr>
              <a:t>S2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642616"/>
            <a:ext cx="4648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1F5F9"/>
                </a:solidFill>
                <a:latin typeface="Arial"/>
              </a:rPr>
              <a:t>Nouveaux prospects, taux bas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971800"/>
            <a:ext cx="4648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Jamais démarchés, mobile, les plus jeunes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3529584"/>
            <a:ext cx="579120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897880" y="3529584"/>
            <a:ext cx="64008" cy="9144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26480" y="3529584"/>
            <a:ext cx="685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BBF24"/>
                </a:solidFill>
                <a:latin typeface="Arial"/>
              </a:rPr>
              <a:t>S3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675888"/>
            <a:ext cx="4648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1F5F9"/>
                </a:solidFill>
                <a:latin typeface="Arial"/>
              </a:rPr>
              <a:t>Clients déjà démarchés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005072"/>
            <a:ext cx="4648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79 % d'échecs et 21 % de succès à la campagne précédente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97880" y="4562856"/>
            <a:ext cx="579120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897880" y="4562856"/>
            <a:ext cx="64008" cy="9144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26480" y="4562856"/>
            <a:ext cx="685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472B6"/>
                </a:solidFill>
                <a:latin typeface="Arial"/>
              </a:rPr>
              <a:t>S4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709160"/>
            <a:ext cx="4648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1F5F9"/>
                </a:solidFill>
                <a:latin typeface="Arial"/>
              </a:rPr>
              <a:t>Profils réceptifs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5038344"/>
            <a:ext cx="4648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rial"/>
              </a:rPr>
              <a:t>Seniors, étudiants, diplômés ; taux au plus bas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13  ·  RECOMMANDATIONS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Une action par segment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1000125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14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63040"/>
          <a:ext cx="11186159" cy="265176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639431"/>
                <a:gridCol w="4524738"/>
                <a:gridCol w="402199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Action recommandée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Justification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27344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472B6"/>
                          </a:solidFill>
                          <a:latin typeface="Arial"/>
                        </a:rPr>
                        <a:t>S4  Profils réceptifs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Les appeler en premier, avec les conseillers les plus expérimentés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Taux 3,6 fois supérieur à la moyenne ; 1,8 appel suffit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BBF24"/>
                          </a:solidFill>
                          <a:latin typeface="Arial"/>
                        </a:rPr>
                        <a:t>S3  Déjà démarchés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Relance personnalisée selon le résultat de la campagne précédente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Taux double de la moyenne ; 21 % d'anciens succès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34D399"/>
                          </a:solidFill>
                          <a:latin typeface="Arial"/>
                        </a:rPr>
                        <a:t>S2  Prospects, taux bas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Acquisition sur mobile, concentrée sur les périodes de taux bas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Taux 1,5 fois supérieur ; 91 % joints sur mobile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Arial"/>
                        </a:rPr>
                        <a:t>S1  Prospects, taux élevés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Réduire la pression : 2 appels au plus, courriel ou SMS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66 % des appels pour 32 % des souscriptions</a:t>
                      </a:r>
                    </a:p>
                  </a:txBody>
                  <a:tcPr marL="82296" marR="82296" marT="27432" marB="27432" anchor="ctr">
                    <a:lnL w="9525" cap="flat" cmpd="sng" algn="ctr">
                      <a:solidFill>
                        <a:srgbClr val="475569"/>
                      </a:solidFill>
                      <a:prstDash val="solid"/>
                    </a:lnL>
                    <a:lnR w="9525" cap="flat" cmpd="sng" algn="ctr">
                      <a:solidFill>
                        <a:srgbClr val="475569"/>
                      </a:solidFill>
                      <a:prstDash val="solid"/>
                    </a:lnR>
                    <a:lnT w="9525" cap="flat" cmpd="sng" algn="ctr">
                      <a:solidFill>
                        <a:srgbClr val="475569"/>
                      </a:solidFill>
                      <a:prstDash val="solid"/>
                    </a:lnT>
                    <a:lnB w="9525" cap="flat" cmpd="sng" algn="ctr">
                      <a:solidFill>
                        <a:srgbClr val="475569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343400"/>
            <a:ext cx="3576320" cy="1188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4343400"/>
            <a:ext cx="64008" cy="118872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58952" y="4489704"/>
            <a:ext cx="321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60A5FA"/>
                </a:solidFill>
                <a:latin typeface="Arial"/>
              </a:rPr>
              <a:t>33,6 %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965192"/>
            <a:ext cx="316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des clients appelés (S4, S3, S2)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7840" y="4343400"/>
            <a:ext cx="3576320" cy="1188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07840" y="4343400"/>
            <a:ext cx="64008" cy="1188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63872" y="4489704"/>
            <a:ext cx="321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34D399"/>
                </a:solidFill>
                <a:latin typeface="Arial"/>
              </a:rPr>
              <a:t>68,1 %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872" y="4965192"/>
            <a:ext cx="316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des souscriptions obtenues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2760" y="4343400"/>
            <a:ext cx="3576320" cy="1188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112760" y="4343400"/>
            <a:ext cx="64008" cy="1188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68792" y="4489704"/>
            <a:ext cx="321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2D3EE"/>
                </a:solidFill>
                <a:latin typeface="Arial"/>
              </a:rPr>
              <a:t>11,3 → 22,8 %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8792" y="4965192"/>
            <a:ext cx="316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rial"/>
              </a:rPr>
              <a:t>taux de réussite des appels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14  ·  LIMITES ET EXTENSIONS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Une structure réelle, mais faible et liée au contexte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1071562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15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576320" cy="4023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4088" y="168249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" y="1645920"/>
            <a:ext cx="302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LIMITES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31191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050">
                <a:solidFill>
                  <a:srgbClr val="F472B6"/>
                </a:solidFill>
                <a:latin typeface="Arial"/>
              </a:rPr>
              <a:t>■  </a:t>
            </a:r>
            <a:r>
              <a:rPr sz="1450">
                <a:solidFill>
                  <a:srgbClr val="F1F5F9"/>
                </a:solidFill>
                <a:latin typeface="Arial"/>
              </a:rPr>
              <a:t>Silhouettes autour de 0,2 : les segments se chevauchent</a:t>
            </a:r>
          </a:p>
          <a:p>
            <a:pPr>
              <a:spcAft>
                <a:spcPts val="1600"/>
              </a:spcAft>
            </a:pPr>
            <a:r>
              <a:rPr sz="1050">
                <a:solidFill>
                  <a:srgbClr val="F472B6"/>
                </a:solidFill>
                <a:latin typeface="Arial"/>
              </a:rPr>
              <a:t>■  </a:t>
            </a:r>
            <a:r>
              <a:rPr sz="1450">
                <a:solidFill>
                  <a:srgbClr val="F1F5F9"/>
                </a:solidFill>
                <a:latin typeface="Arial"/>
              </a:rPr>
              <a:t>S1 et S2 dépendent de la période du contact plus que du client</a:t>
            </a:r>
          </a:p>
          <a:p>
            <a:pPr>
              <a:spcAft>
                <a:spcPts val="1600"/>
              </a:spcAft>
            </a:pPr>
            <a:r>
              <a:rPr sz="1050">
                <a:solidFill>
                  <a:srgbClr val="F472B6"/>
                </a:solidFill>
                <a:latin typeface="Arial"/>
              </a:rPr>
              <a:t>■  </a:t>
            </a:r>
            <a:r>
              <a:rPr sz="1450">
                <a:solidFill>
                  <a:srgbClr val="F1F5F9"/>
                </a:solidFill>
                <a:latin typeface="Arial"/>
              </a:rPr>
              <a:t>Ni revenu, ni solde, ni ancienneté dans le fichier</a:t>
            </a:r>
          </a:p>
          <a:p>
            <a:pPr>
              <a:spcAft>
                <a:spcPts val="1600"/>
              </a:spcAft>
            </a:pPr>
            <a:r>
              <a:rPr sz="1050">
                <a:solidFill>
                  <a:srgbClr val="F472B6"/>
                </a:solidFill>
                <a:latin typeface="Arial"/>
              </a:rPr>
              <a:t>■  </a:t>
            </a:r>
            <a:r>
              <a:rPr sz="1450">
                <a:solidFill>
                  <a:srgbClr val="F1F5F9"/>
                </a:solidFill>
                <a:latin typeface="Arial"/>
              </a:rPr>
              <a:t>k = 4 est un choix métier ; la structure la plus nette est k =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7840" y="1463040"/>
            <a:ext cx="3576320" cy="4023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509008" y="168249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55312" y="1645920"/>
            <a:ext cx="302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SANS CONTEXTE : SOUSCRIPTION (%)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4399280" y="1920240"/>
          <a:ext cx="339344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36440" y="4864608"/>
            <a:ext cx="3164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Le contexte pèse plus que le profil ; à période égale, l'historique compte.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2760" y="1463040"/>
            <a:ext cx="3576320" cy="4023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313928" y="1682496"/>
            <a:ext cx="54864" cy="20116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60232" y="1645920"/>
            <a:ext cx="302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Arial"/>
              </a:rPr>
              <a:t>EXTENSIONS RÉALISÉES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7080" y="2057400"/>
            <a:ext cx="31191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050">
                <a:solidFill>
                  <a:srgbClr val="34D399"/>
                </a:solidFill>
                <a:latin typeface="Arial"/>
              </a:rPr>
              <a:t>■  </a:t>
            </a:r>
            <a:r>
              <a:rPr sz="1450">
                <a:solidFill>
                  <a:srgbClr val="F1F5F9"/>
                </a:solidFill>
                <a:latin typeface="Arial"/>
              </a:rPr>
              <a:t>Sans le contexte, seul l'historique reste net (silhouette 0,12 ; stabilité 0,58)</a:t>
            </a:r>
          </a:p>
          <a:p>
            <a:pPr>
              <a:spcAft>
                <a:spcPts val="1600"/>
              </a:spcAft>
            </a:pPr>
            <a:r>
              <a:rPr sz="1050">
                <a:solidFill>
                  <a:srgbClr val="34D399"/>
                </a:solidFill>
                <a:latin typeface="Arial"/>
              </a:rPr>
              <a:t>■  </a:t>
            </a:r>
            <a:r>
              <a:rPr sz="1450">
                <a:solidFill>
                  <a:srgbClr val="F1F5F9"/>
                </a:solidFill>
                <a:latin typeface="Arial"/>
              </a:rPr>
              <a:t>Atypiques (DBSCAN + Isolation Forest) : anciens souscripteurs, ~50 % de souscription</a:t>
            </a:r>
          </a:p>
          <a:p>
            <a:pPr>
              <a:spcAft>
                <a:spcPts val="1600"/>
              </a:spcAft>
            </a:pPr>
            <a:r>
              <a:rPr sz="1050">
                <a:solidFill>
                  <a:srgbClr val="34D399"/>
                </a:solidFill>
                <a:latin typeface="Arial"/>
              </a:rPr>
              <a:t>■  </a:t>
            </a:r>
            <a:r>
              <a:rPr sz="1450">
                <a:solidFill>
                  <a:srgbClr val="F1F5F9"/>
                </a:solidFill>
                <a:latin typeface="Arial"/>
              </a:rPr>
              <a:t>Application Streamlit : affecte un nouveau client à son segment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rial"/>
              </a:rPr>
              <a:t>15  · 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972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1F5F9"/>
                </a:solidFill>
                <a:latin typeface="Arial"/>
              </a:rPr>
              <a:t>Un tiers des clients concentre deux tiers des souscriptions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546080" y="420624"/>
            <a:ext cx="1143000" cy="640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02920" y="6373368"/>
            <a:ext cx="11186160" cy="0"/>
          </a:xfrm>
          <a:prstGeom prst="line">
            <a:avLst/>
          </a:prstGeom>
          <a:ln w="9525">
            <a:solidFill>
              <a:srgbClr val="273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Segmentation de clientèle bancaire   ·   N. S. Nokho   ·   Master BDA/IA, UN-CHK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480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94A3B8"/>
                </a:solidFill>
                <a:latin typeface="Arial"/>
              </a:rPr>
              <a:t>16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57632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3576320" cy="7315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60A5FA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3027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  <a:latin typeface="Arial"/>
              </a:rPr>
              <a:t>La standardisation et le choix de la distance changent réellement les groupes.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7840" y="1828800"/>
            <a:ext cx="357632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07840" y="1828800"/>
            <a:ext cx="3576320" cy="731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82160" y="21031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34D39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2160" y="2834640"/>
            <a:ext cx="3027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  <a:latin typeface="Arial"/>
              </a:rPr>
              <a:t>Un indice de qualité ne se lit jamais seul : vérifier la taille des clusters.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760" y="1828800"/>
            <a:ext cx="357632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112760" y="1828800"/>
            <a:ext cx="3576320" cy="7315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87080" y="21031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472B6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7080" y="2834640"/>
            <a:ext cx="3027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  <a:latin typeface="Arial"/>
              </a:rPr>
              <a:t>Le nombre de groupes est un compromis entre les données et le besoin métier.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343400"/>
            <a:ext cx="11186160" cy="1325880"/>
          </a:xfrm>
          <a:prstGeom prst="roundRect">
            <a:avLst>
              <a:gd name="adj" fmla="val 6000"/>
            </a:avLst>
          </a:prstGeom>
          <a:solidFill>
            <a:srgbClr val="273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4343400"/>
            <a:ext cx="36576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22D3EE"/>
                </a:solidFill>
                <a:latin typeface="Arial"/>
              </a:rPr>
              <a:t>QUESTIONS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343400"/>
            <a:ext cx="66141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1F5F9"/>
                </a:solidFill>
                <a:latin typeface="Arial"/>
              </a:rPr>
              <a:t>Code, notebooks, application et rapport :</a:t>
            </a:r>
          </a:p>
          <a:p>
            <a:pPr algn="l"/>
            <a:r>
              <a:rPr sz="1500" b="0">
                <a:solidFill>
                  <a:srgbClr val="F1F5F9"/>
                </a:solidFill>
                <a:latin typeface="Arial"/>
              </a:rPr>
              <a:t>github.com/Nokho11/segmentation-bancaire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