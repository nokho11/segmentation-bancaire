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hyperlink" Target="https://github.com/Nokho11/segmentation-bancaire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notesSlide" Target="../notesSlides/notesSlide18.xml"/><Relationship Id="rId7" Type="http://schemas.openxmlformats.org/officeDocument/2006/relationships/image" Target="../media/image18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19.xml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Rectangle 3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0" y="1307592"/>
            <a:ext cx="566928" cy="566928"/>
          </a:xfrm>
          <a:prstGeom prst="ellipse">
            <a:avLst/>
          </a:prstGeom>
          <a:solidFill>
            <a:srgbClr val="D4A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0" y="2286000"/>
            <a:ext cx="146304" cy="146304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33760" y="1737360"/>
            <a:ext cx="128016" cy="128016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658368"/>
            <a:ext cx="3877200" cy="310896"/>
          </a:xfrm>
          <a:prstGeom prst="roundRect">
            <a:avLst/>
          </a:prstGeom>
          <a:solidFill>
            <a:srgbClr val="14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67512"/>
            <a:ext cx="3733199" cy="265176"/>
          </a:xfrm>
          <a:prstGeom prst="rect">
            <a:avLst/>
          </a:prstGeom>
          <a:noFill/>
          <a:ln>
            <a:noFill/>
          </a:ln>
        </p:spPr>
        <p:txBody>
          <a:bodyPr wrap="non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PROJET FINAL · APPRENTISSAGE NON SUPERVISÉ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188720"/>
            <a:ext cx="6583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B3A"/>
                </a:solidFill>
                <a:latin typeface="Aptos"/>
              </a:rPr>
              <a:t>Segmentation de</a:t>
            </a:r>
          </a:p>
          <a:p>
            <a:pPr algn="l">
              <a:spcAft>
                <a:spcPts val="0"/>
              </a:spcAft>
            </a:pPr>
            <a:r>
              <a:rPr sz="3400" b="1">
                <a:solidFill>
                  <a:srgbClr val="142B3A"/>
                </a:solidFill>
                <a:latin typeface="Aptos"/>
              </a:rPr>
              <a:t>clientèle bancaire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42B3A"/>
                </a:solidFill>
                <a:latin typeface="Aptos"/>
              </a:rPr>
              <a:t>Découvrir des groupes de clients sans étiquette, pour mieux cibler les campagnes de marketing téléphonique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510528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2B3A"/>
                </a:solidFill>
                <a:latin typeface="Aptos"/>
              </a:rPr>
              <a:t>NDEYE SOKHNA NOKHO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20" y="6510528"/>
            <a:ext cx="105156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142B3A"/>
                </a:solidFill>
                <a:latin typeface="Aptos"/>
              </a:rPr>
              <a:t>01  /  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256032"/>
            <a:ext cx="960120" cy="32004"/>
          </a:xfrm>
          <a:prstGeom prst="rect">
            <a:avLst/>
          </a:prstGeom>
          <a:solidFill>
            <a:srgbClr val="D4A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Carte 101"/>
          <p:cNvSpPr/>
          <p:nvPr/>
        </p:nvSpPr>
        <p:spPr>
          <a:xfrm>
            <a:off x="731520" y="3520440"/>
            <a:ext cx="2468880" cy="1005840"/>
          </a:xfrm>
          <a:prstGeom prst="roundRect">
            <a:avLst>
              <a:gd name="adj" fmla="val 10000"/>
            </a:avLst>
          </a:prstGeom>
          <a:solidFill>
            <a:srgbClr val="F2F6F7"/>
          </a:solidFill>
          <a:ln w="9525">
            <a:solidFill>
              <a:srgbClr val="DCE5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2"/>
          <p:cNvSpPr txBox="1"/>
          <p:nvPr/>
        </p:nvSpPr>
        <p:spPr>
          <a:xfrm>
            <a:off x="932688" y="3675888"/>
            <a:ext cx="206654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lang="fr-FR" sz="2600" b="1">
                <a:solidFill>
                  <a:srgbClr val="142B3A"/>
                </a:solidFill>
                <a:latin typeface="Aptos"/>
              </a:rPr>
              <a:t>41 188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932688" y="4133088"/>
            <a:ext cx="206654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lang="fr-FR" sz="1100" b="0">
                <a:solidFill>
                  <a:srgbClr val="142B3A"/>
                </a:solidFill>
                <a:latin typeface="Aptos"/>
              </a:rPr>
              <a:t>contacts téléphoniques</a:t>
            </a:r>
          </a:p>
        </p:txBody>
      </p:sp>
      <p:sp>
        <p:nvSpPr>
          <p:cNvPr id="104" name="Carte 104"/>
          <p:cNvSpPr/>
          <p:nvPr/>
        </p:nvSpPr>
        <p:spPr>
          <a:xfrm>
            <a:off x="3429000" y="3520440"/>
            <a:ext cx="2468880" cy="1005840"/>
          </a:xfrm>
          <a:prstGeom prst="roundRect">
            <a:avLst>
              <a:gd name="adj" fmla="val 10000"/>
            </a:avLst>
          </a:prstGeom>
          <a:solidFill>
            <a:srgbClr val="F2F6F7"/>
          </a:solidFill>
          <a:ln w="9525">
            <a:solidFill>
              <a:srgbClr val="DCE5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5"/>
          <p:cNvSpPr txBox="1"/>
          <p:nvPr/>
        </p:nvSpPr>
        <p:spPr>
          <a:xfrm>
            <a:off x="3630168" y="3675888"/>
            <a:ext cx="206654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lang="fr-FR" sz="2600" b="1">
                <a:solidFill>
                  <a:srgbClr val="247C78"/>
                </a:solidFill>
                <a:latin typeface="Aptos"/>
              </a:rPr>
              <a:t>20 + y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3630168" y="4133088"/>
            <a:ext cx="206654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lang="fr-FR" sz="1100" b="0">
                <a:solidFill>
                  <a:srgbClr val="142B3A"/>
                </a:solidFill>
                <a:latin typeface="Aptos"/>
              </a:rPr>
              <a:t>variables + la cible</a:t>
            </a:r>
          </a:p>
        </p:txBody>
      </p:sp>
      <p:sp>
        <p:nvSpPr>
          <p:cNvPr id="107" name="Carte 107"/>
          <p:cNvSpPr/>
          <p:nvPr/>
        </p:nvSpPr>
        <p:spPr>
          <a:xfrm>
            <a:off x="6126480" y="3520440"/>
            <a:ext cx="2468880" cy="1005840"/>
          </a:xfrm>
          <a:prstGeom prst="roundRect">
            <a:avLst>
              <a:gd name="adj" fmla="val 10000"/>
            </a:avLst>
          </a:prstGeom>
          <a:solidFill>
            <a:srgbClr val="F2F6F7"/>
          </a:solidFill>
          <a:ln w="9525">
            <a:solidFill>
              <a:srgbClr val="DCE5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8"/>
          <p:cNvSpPr txBox="1"/>
          <p:nvPr/>
        </p:nvSpPr>
        <p:spPr>
          <a:xfrm>
            <a:off x="6327648" y="3675888"/>
            <a:ext cx="206654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lang="fr-FR" sz="2600" b="1">
                <a:solidFill>
                  <a:srgbClr val="142B3A"/>
                </a:solidFill>
                <a:latin typeface="Aptos"/>
              </a:rPr>
              <a:t>10 / 10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6327648" y="4133088"/>
            <a:ext cx="206654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lang="fr-FR" sz="1100" b="0">
                <a:solidFill>
                  <a:srgbClr val="142B3A"/>
                </a:solidFill>
                <a:latin typeface="Aptos"/>
              </a:rPr>
              <a:t>numériques / catégorielles</a:t>
            </a:r>
          </a:p>
        </p:txBody>
      </p:sp>
      <p:sp>
        <p:nvSpPr>
          <p:cNvPr id="110" name="Carte 110"/>
          <p:cNvSpPr/>
          <p:nvPr/>
        </p:nvSpPr>
        <p:spPr>
          <a:xfrm>
            <a:off x="8823960" y="3520440"/>
            <a:ext cx="2468880" cy="1005840"/>
          </a:xfrm>
          <a:prstGeom prst="roundRect">
            <a:avLst>
              <a:gd name="adj" fmla="val 10000"/>
            </a:avLst>
          </a:prstGeom>
          <a:solidFill>
            <a:srgbClr val="F2F6F7"/>
          </a:solidFill>
          <a:ln w="9525">
            <a:solidFill>
              <a:srgbClr val="DCE5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TextBox 111"/>
          <p:cNvSpPr txBox="1"/>
          <p:nvPr/>
        </p:nvSpPr>
        <p:spPr>
          <a:xfrm>
            <a:off x="9025128" y="3675888"/>
            <a:ext cx="206654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lang="fr-FR" sz="2600" b="1">
                <a:solidFill>
                  <a:srgbClr val="247C78"/>
                </a:solidFill>
                <a:latin typeface="Aptos"/>
              </a:rPr>
              <a:t>11 %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9025128" y="4133088"/>
            <a:ext cx="206654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lang="fr-FR" sz="1100" b="0">
                <a:solidFill>
                  <a:srgbClr val="142B3A"/>
                </a:solidFill>
                <a:latin typeface="Aptos"/>
              </a:rPr>
              <a:t>taux de souscription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731520" y="3282696"/>
            <a:ext cx="10058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lang="fr-FR" sz="900" b="1">
                <a:solidFill>
                  <a:srgbClr val="5E7280"/>
                </a:solidFill>
                <a:latin typeface="Aptos"/>
              </a:rPr>
              <a:t xml:space="preserve">DONNÉES BRUTES</a:t>
            </a:r>
            <a:r>
              <a:rPr lang="fr-FR" sz="900" b="0">
                <a:solidFill>
                  <a:srgbClr val="5E7280"/>
                </a:solidFill>
                <a:latin typeface="Aptos"/>
              </a:rPr>
              <a:t xml:space="preserve">   ·   bank-additional-full.csv  —  Bank Marketing (UCI), banque portugaise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731520" y="4846320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lang="fr-FR" sz="900" b="1">
                <a:solidFill>
                  <a:srgbClr val="5E7280"/>
                </a:solidFill>
                <a:latin typeface="Aptos"/>
              </a:rPr>
              <a:t>AUTEURE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731520" y="5074920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lang="fr-FR" sz="1100" b="1">
                <a:solidFill>
                  <a:srgbClr val="142B3A"/>
                </a:solidFill>
                <a:latin typeface="Aptos"/>
              </a:rPr>
              <a:t>Ndeye Sokhna Nokho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2514600" y="4846320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lang="fr-FR" sz="900" b="1">
                <a:solidFill>
                  <a:srgbClr val="5E7280"/>
                </a:solidFill>
                <a:latin typeface="Aptos"/>
              </a:rPr>
              <a:t>ENSEIGNANT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2514600" y="507492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lang="fr-FR" sz="1100" b="1">
                <a:solidFill>
                  <a:srgbClr val="142B3A"/>
                </a:solidFill>
                <a:latin typeface="Aptos"/>
              </a:rPr>
              <a:t>M. Cheikh GUEYE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4069080" y="4846320"/>
            <a:ext cx="1874519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lang="fr-FR" sz="900" b="1">
                <a:solidFill>
                  <a:srgbClr val="5E7280"/>
                </a:solidFill>
                <a:latin typeface="Aptos"/>
              </a:rPr>
              <a:t>MODULE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4069080" y="5074920"/>
            <a:ext cx="1874519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lang="fr-FR" sz="1100" b="1">
                <a:solidFill>
                  <a:srgbClr val="142B3A"/>
                </a:solidFill>
                <a:latin typeface="Aptos"/>
              </a:rPr>
              <a:t>Master BDA/IA, UN-CHK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6035040" y="484632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lang="fr-FR" sz="900" b="1">
                <a:solidFill>
                  <a:srgbClr val="5E7280"/>
                </a:solidFill>
                <a:latin typeface="Aptos"/>
              </a:rPr>
              <a:t>DATE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6035040" y="507492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lang="fr-FR" sz="1100" b="1">
                <a:solidFill>
                  <a:srgbClr val="142B3A"/>
                </a:solidFill>
                <a:latin typeface="Aptos"/>
              </a:rPr>
              <a:t>Octobre 2026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7406640" y="484632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lang="fr-FR" sz="900" b="1">
                <a:solidFill>
                  <a:srgbClr val="5E7280"/>
                </a:solidFill>
                <a:latin typeface="Aptos"/>
              </a:rPr>
              <a:t>CODE SOURCE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7406640" y="507492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lang="fr-FR" sz="1100" b="1" u="sng">
                <a:solidFill>
                  <a:srgbClr val="247C78"/>
                </a:solidFill>
                <a:latin typeface="Aptos"/>
                <a:hlinkClick r:id="rId6"/>
              </a:rPr>
              <a:t>github.com/Nokho11/segmentation-bancaire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4" name="Rectangle 4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03999" y="306000"/>
            <a:ext cx="540000" cy="34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1200" b="1" i="0">
                <a:solidFill>
                  <a:srgbClr val="142B3A"/>
                </a:solidFill>
                <a:latin typeface="Aptos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460800"/>
            <a:ext cx="385200" cy="32400"/>
          </a:xfrm>
          <a:prstGeom prst="rect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200" y="255600"/>
            <a:ext cx="9612000" cy="503999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2300" b="1" i="0">
                <a:solidFill>
                  <a:srgbClr val="142B3A"/>
                </a:solidFill>
                <a:latin typeface="Aptos"/>
              </a:rPr>
              <a:t>Parcours de la présentation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3999" y="932400"/>
            <a:ext cx="11184121" cy="0"/>
          </a:xfrm>
          <a:prstGeom prst="line">
            <a:avLst/>
          </a:prstGeom>
          <a:ln w="1016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9200" y="6480000"/>
            <a:ext cx="3671999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000" b="1" i="0">
                <a:solidFill>
                  <a:srgbClr val="3D4A55"/>
                </a:solidFill>
                <a:latin typeface="Aptos"/>
              </a:rPr>
              <a:t>NDEYE SOKHNA NOKHO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36119" y="6480000"/>
            <a:ext cx="1152000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r"/>
            <a:r>
              <a:rPr sz="1000" b="0" i="0">
                <a:solidFill>
                  <a:srgbClr val="3D4A55"/>
                </a:solidFill>
                <a:latin typeface="Aptos"/>
              </a:rPr>
              <a:t>02  /  20</a:t>
            </a:r>
          </a:p>
        </p:txBody>
      </p:sp>
      <p:sp>
        <p:nvSpPr>
          <p:cNvPr id="8" name="Oval 7"/>
          <p:cNvSpPr/>
          <p:nvPr/>
        </p:nvSpPr>
        <p:spPr>
          <a:xfrm>
            <a:off x="864000" y="1296000"/>
            <a:ext cx="540000" cy="540000"/>
          </a:xfrm>
          <a:prstGeom prst="ellipse">
            <a:avLst/>
          </a:prstGeom>
          <a:solidFill>
            <a:srgbClr val="14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000" y="1296000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5999" y="1278000"/>
            <a:ext cx="5760000" cy="324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900" b="1" i="0">
                <a:solidFill>
                  <a:srgbClr val="142B3A"/>
                </a:solidFill>
                <a:latin typeface="Aptos"/>
              </a:rPr>
              <a:t>Le problème et les données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5999" y="1602000"/>
            <a:ext cx="5760000" cy="288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400" b="0" i="0">
                <a:solidFill>
                  <a:srgbClr val="3D4A55"/>
                </a:solidFill>
                <a:latin typeface="Aptos"/>
              </a:rPr>
              <a:t>Préparation, exploration, distances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55999" y="2106000"/>
            <a:ext cx="6084001" cy="0"/>
          </a:xfrm>
          <a:prstGeom prst="line">
            <a:avLst/>
          </a:prstGeom>
          <a:ln w="1016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64000" y="2520000"/>
            <a:ext cx="540000" cy="540000"/>
          </a:xfrm>
          <a:prstGeom prst="ellipse">
            <a:avLst/>
          </a:prstGeom>
          <a:solidFill>
            <a:srgbClr val="14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000" y="2520000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999" y="2502000"/>
            <a:ext cx="5760000" cy="324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900" b="1" i="0">
                <a:solidFill>
                  <a:srgbClr val="142B3A"/>
                </a:solidFill>
                <a:latin typeface="Aptos"/>
              </a:rPr>
              <a:t>Les méthodes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5999" y="2826000"/>
            <a:ext cx="5760000" cy="288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400" b="0" i="0">
                <a:solidFill>
                  <a:srgbClr val="3D4A55"/>
                </a:solidFill>
                <a:latin typeface="Aptos"/>
              </a:rPr>
              <a:t>Partitionnement, hiérarchique, densité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55999" y="3330000"/>
            <a:ext cx="6084001" cy="0"/>
          </a:xfrm>
          <a:prstGeom prst="line">
            <a:avLst/>
          </a:prstGeom>
          <a:ln w="1016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64000" y="3744000"/>
            <a:ext cx="540000" cy="5400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000" y="3744000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5999" y="3726000"/>
            <a:ext cx="5760000" cy="324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900" b="1" i="0">
                <a:solidFill>
                  <a:srgbClr val="142B3A"/>
                </a:solidFill>
                <a:latin typeface="Aptos"/>
              </a:rPr>
              <a:t>La validation et les résultats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55999" y="4050000"/>
            <a:ext cx="5760000" cy="288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400" b="0" i="0">
                <a:solidFill>
                  <a:srgbClr val="3D4A55"/>
                </a:solidFill>
                <a:latin typeface="Aptos"/>
              </a:rPr>
              <a:t>Indices, stabilité, segments, recommandations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655999" y="4554000"/>
            <a:ext cx="6084001" cy="0"/>
          </a:xfrm>
          <a:prstGeom prst="line">
            <a:avLst/>
          </a:prstGeom>
          <a:ln w="1016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64000" y="4968000"/>
            <a:ext cx="540000" cy="540000"/>
          </a:xfrm>
          <a:prstGeom prst="ellipse">
            <a:avLst/>
          </a:prstGeom>
          <a:solidFill>
            <a:srgbClr val="14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000" y="4968000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55999" y="4949999"/>
            <a:ext cx="5760000" cy="324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900" b="1" i="0">
                <a:solidFill>
                  <a:srgbClr val="142B3A"/>
                </a:solidFill>
                <a:latin typeface="Aptos"/>
              </a:rPr>
              <a:t>Le bilan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55999" y="5273999"/>
            <a:ext cx="5760000" cy="288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400" b="0" i="0">
                <a:solidFill>
                  <a:srgbClr val="3D4A55"/>
                </a:solidFill>
                <a:latin typeface="Aptos"/>
              </a:rPr>
              <a:t>Limites, extensions (bonus), livrables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655999" y="5778000"/>
            <a:ext cx="6084001" cy="0"/>
          </a:xfrm>
          <a:prstGeom prst="line">
            <a:avLst/>
          </a:prstGeom>
          <a:ln w="1016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347472" y="256032"/>
            <a:ext cx="960120" cy="32004"/>
          </a:xfrm>
          <a:prstGeom prst="rect">
            <a:avLst/>
          </a:prstGeom>
          <a:solidFill>
            <a:srgbClr val="D4A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" name="Rectangle 4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03999" y="306000"/>
            <a:ext cx="540000" cy="34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1200" b="1" i="0">
                <a:solidFill>
                  <a:srgbClr val="142B3A"/>
                </a:solidFill>
                <a:latin typeface="Aptos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460800"/>
            <a:ext cx="385200" cy="32400"/>
          </a:xfrm>
          <a:prstGeom prst="rect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200" y="255600"/>
            <a:ext cx="9612000" cy="503999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2300" b="1" i="0">
                <a:solidFill>
                  <a:srgbClr val="142B3A"/>
                </a:solidFill>
                <a:latin typeface="Aptos"/>
              </a:rPr>
              <a:t>Neuf appels sur dix n'aboutissent pas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3999" y="932400"/>
            <a:ext cx="11184121" cy="0"/>
          </a:xfrm>
          <a:prstGeom prst="line">
            <a:avLst/>
          </a:prstGeom>
          <a:ln w="1016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9200" y="6480000"/>
            <a:ext cx="3671999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000" b="1" i="0">
                <a:solidFill>
                  <a:srgbClr val="3D4A55"/>
                </a:solidFill>
                <a:latin typeface="Aptos"/>
              </a:rPr>
              <a:t>NDEYE SOKHNA NOKHO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36119" y="6480000"/>
            <a:ext cx="1152000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r"/>
            <a:r>
              <a:rPr sz="1000" b="0" i="0">
                <a:solidFill>
                  <a:srgbClr val="3D4A55"/>
                </a:solidFill>
                <a:latin typeface="Aptos"/>
              </a:rPr>
              <a:t>03  / 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2800" y="1224000"/>
            <a:ext cx="3308039" cy="3816000"/>
          </a:xfrm>
          <a:prstGeom prst="roundRect">
            <a:avLst>
              <a:gd name="adj" fmla="val 9794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2800" y="1512000"/>
            <a:ext cx="936000" cy="936000"/>
          </a:xfrm>
          <a:prstGeom prst="ellipse">
            <a:avLst/>
          </a:prstGeom>
          <a:solidFill>
            <a:srgbClr val="14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2800" y="1512000"/>
            <a:ext cx="936000" cy="936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ptos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800" y="2628000"/>
            <a:ext cx="2732039" cy="57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2000" b="1" i="0">
                <a:solidFill>
                  <a:srgbClr val="142B3A"/>
                </a:solidFill>
                <a:latin typeface="Aptos"/>
              </a:rPr>
              <a:t>La ressemblance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800" y="3240000"/>
            <a:ext cx="2732039" cy="1223999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500" b="0" i="0">
                <a:solidFill>
                  <a:srgbClr val="3D4A55"/>
                </a:solidFill>
                <a:latin typeface="Aptos"/>
              </a:rPr>
              <a:t>Comment mesurer la ressemblance entre clients aux données mixtes 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0800" y="4680000"/>
            <a:ext cx="730799" cy="46800"/>
          </a:xfrm>
          <a:prstGeom prst="rect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42039" y="1224000"/>
            <a:ext cx="3308039" cy="3816000"/>
          </a:xfrm>
          <a:prstGeom prst="roundRect">
            <a:avLst>
              <a:gd name="adj" fmla="val 9794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12039" y="1512000"/>
            <a:ext cx="936000" cy="936000"/>
          </a:xfrm>
          <a:prstGeom prst="ellipse">
            <a:avLst/>
          </a:prstGeom>
          <a:solidFill>
            <a:srgbClr val="14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2039" y="1512000"/>
            <a:ext cx="936000" cy="936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ptos"/>
              </a:rPr>
              <a:t>Q2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0040" y="2628000"/>
            <a:ext cx="2732039" cy="57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2000" b="1" i="0">
                <a:solidFill>
                  <a:srgbClr val="142B3A"/>
                </a:solidFill>
                <a:latin typeface="Aptos"/>
              </a:rPr>
              <a:t>La méthode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0040" y="3240000"/>
            <a:ext cx="2732039" cy="1223999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500" b="0" i="0">
                <a:solidFill>
                  <a:srgbClr val="3D4A55"/>
                </a:solidFill>
                <a:latin typeface="Aptos"/>
              </a:rPr>
              <a:t>Quelle méthode de clustering, et combien de groupes 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30040" y="4680000"/>
            <a:ext cx="730799" cy="46800"/>
          </a:xfrm>
          <a:prstGeom prst="rect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71279" y="1224000"/>
            <a:ext cx="3308039" cy="3816000"/>
          </a:xfrm>
          <a:prstGeom prst="roundRect">
            <a:avLst>
              <a:gd name="adj" fmla="val 9794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39912" y="1512000"/>
            <a:ext cx="936000" cy="936000"/>
          </a:xfrm>
          <a:prstGeom prst="ellipse">
            <a:avLst/>
          </a:prstGeom>
          <a:solidFill>
            <a:srgbClr val="14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1279" y="1512000"/>
            <a:ext cx="936000" cy="936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ptos"/>
              </a:rPr>
              <a:t>Q3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9280" y="2628000"/>
            <a:ext cx="2732039" cy="57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2000" b="1" i="0">
                <a:solidFill>
                  <a:srgbClr val="142B3A"/>
                </a:solidFill>
                <a:latin typeface="Aptos"/>
              </a:rPr>
              <a:t>L'utilité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9280" y="3240000"/>
            <a:ext cx="2732039" cy="1223999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500" b="0" i="0">
                <a:solidFill>
                  <a:srgbClr val="3D4A55"/>
                </a:solidFill>
                <a:latin typeface="Aptos"/>
              </a:rPr>
              <a:t>Les segments sont-ils stables, interprétables et utiles 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59280" y="4680000"/>
            <a:ext cx="730799" cy="46800"/>
          </a:xfrm>
          <a:prstGeom prst="rect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6000" y="5400000"/>
            <a:ext cx="10320120" cy="612000"/>
          </a:xfrm>
          <a:prstGeom prst="roundRect">
            <a:avLst>
              <a:gd name="adj" fmla="val 50000"/>
            </a:avLst>
          </a:prstGeom>
          <a:solidFill>
            <a:srgbClr val="E3EF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52000" y="5400000"/>
            <a:ext cx="9888120" cy="61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ctr"/>
            <a:r>
              <a:rPr sz="1400" b="1" i="0">
                <a:solidFill>
                  <a:srgbClr val="205A58"/>
                </a:solidFill>
                <a:latin typeface="Aptos"/>
              </a:rPr>
              <a:t>Seuls 11,3 % des contacts aboutissent : trouver des groupes homogènes sans utiliser la souscription (y).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256032"/>
            <a:ext cx="960120" cy="32004"/>
          </a:xfrm>
          <a:prstGeom prst="rect">
            <a:avLst/>
          </a:prstGeom>
          <a:solidFill>
            <a:srgbClr val="D4A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" name="Rectangle 5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03999" y="306000"/>
            <a:ext cx="540000" cy="34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1200" b="1" i="0">
                <a:solidFill>
                  <a:srgbClr val="142B3A"/>
                </a:solidFill>
                <a:latin typeface="Aptos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460800"/>
            <a:ext cx="385200" cy="32400"/>
          </a:xfrm>
          <a:prstGeom prst="rect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200" y="255600"/>
            <a:ext cx="9612000" cy="503999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2300" b="1" i="0">
                <a:solidFill>
                  <a:srgbClr val="142B3A"/>
                </a:solidFill>
                <a:latin typeface="Aptos"/>
              </a:rPr>
              <a:t>Cinq jours, quatre chapitres du cours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3999" y="932400"/>
            <a:ext cx="11184121" cy="0"/>
          </a:xfrm>
          <a:prstGeom prst="line">
            <a:avLst/>
          </a:prstGeom>
          <a:ln w="1016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9200" y="6480000"/>
            <a:ext cx="3671999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000" b="1" i="0">
                <a:solidFill>
                  <a:srgbClr val="3D4A55"/>
                </a:solidFill>
                <a:latin typeface="Aptos"/>
              </a:rPr>
              <a:t>NDEYE SOKHNA NOKHO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36119" y="6480000"/>
            <a:ext cx="1152000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r"/>
            <a:r>
              <a:rPr sz="1000" b="0" i="0">
                <a:solidFill>
                  <a:srgbClr val="3D4A55"/>
                </a:solidFill>
                <a:latin typeface="Aptos"/>
              </a:rPr>
              <a:t>04  /  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52412" y="1872000"/>
            <a:ext cx="976823" cy="0"/>
          </a:xfrm>
          <a:prstGeom prst="line">
            <a:avLst/>
          </a:prstGeom>
          <a:ln w="1905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031235" y="1792800"/>
            <a:ext cx="162000" cy="1620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2411" y="1332000"/>
            <a:ext cx="1080000" cy="1080000"/>
          </a:xfrm>
          <a:prstGeom prst="ellipse">
            <a:avLst/>
          </a:prstGeom>
          <a:solidFill>
            <a:srgbClr val="14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2411" y="1332000"/>
            <a:ext cx="108000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00" y="2628000"/>
            <a:ext cx="2092823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700" b="1" i="0">
                <a:solidFill>
                  <a:srgbClr val="142B3A"/>
                </a:solidFill>
                <a:latin typeface="Aptos"/>
              </a:rPr>
              <a:t>J1 Préparation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00" y="3060000"/>
            <a:ext cx="2092823" cy="1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400" b="0" i="0">
                <a:solidFill>
                  <a:srgbClr val="3D4A55"/>
                </a:solidFill>
                <a:latin typeface="Aptos"/>
              </a:rPr>
              <a:t>chapitre 1 :</a:t>
            </a:r>
          </a:p>
          <a:p>
            <a:pPr algn="ctr"/>
            <a:r>
              <a:rPr sz="1400" b="0" i="0">
                <a:solidFill>
                  <a:srgbClr val="3D4A55"/>
                </a:solidFill>
                <a:latin typeface="Aptos"/>
              </a:rPr>
              <a:t>nettoyage, EDA,</a:t>
            </a:r>
          </a:p>
          <a:p>
            <a:pPr algn="ctr"/>
            <a:r>
              <a:rPr sz="1400" b="0" i="0">
                <a:solidFill>
                  <a:srgbClr val="3D4A55"/>
                </a:solidFill>
                <a:latin typeface="Aptos"/>
              </a:rPr>
              <a:t>PCA, t-SNE, UMAP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89235" y="1872000"/>
            <a:ext cx="976824" cy="0"/>
          </a:xfrm>
          <a:prstGeom prst="line">
            <a:avLst/>
          </a:prstGeom>
          <a:ln w="1905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268059" y="1792800"/>
            <a:ext cx="162000" cy="1620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19235" y="1332000"/>
            <a:ext cx="1080000" cy="1080000"/>
          </a:xfrm>
          <a:prstGeom prst="ellipse">
            <a:avLst/>
          </a:prstGeom>
          <a:solidFill>
            <a:srgbClr val="14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9235" y="1332000"/>
            <a:ext cx="108000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2823" y="2628000"/>
            <a:ext cx="2092823" cy="6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700" b="1" i="0">
                <a:solidFill>
                  <a:srgbClr val="142B3A"/>
                </a:solidFill>
                <a:latin typeface="Aptos"/>
              </a:rPr>
              <a:t>J2 Partitionnement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2823" y="3330000"/>
            <a:ext cx="2092823" cy="1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400" b="0" i="0">
                <a:solidFill>
                  <a:srgbClr val="3D4A55"/>
                </a:solidFill>
                <a:latin typeface="Aptos"/>
              </a:rPr>
              <a:t>chapitres 2 et 3 :</a:t>
            </a:r>
          </a:p>
          <a:p>
            <a:pPr algn="ctr"/>
            <a:r>
              <a:rPr sz="1400" b="0" i="0">
                <a:solidFill>
                  <a:srgbClr val="3D4A55"/>
                </a:solidFill>
                <a:latin typeface="Aptos"/>
              </a:rPr>
              <a:t>distances, K-means,</a:t>
            </a:r>
          </a:p>
          <a:p>
            <a:pPr algn="ctr"/>
            <a:r>
              <a:rPr sz="1400" b="0" i="0">
                <a:solidFill>
                  <a:srgbClr val="3D4A55"/>
                </a:solidFill>
                <a:latin typeface="Aptos"/>
              </a:rPr>
              <a:t>K-medoids, GMM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26059" y="1872000"/>
            <a:ext cx="976824" cy="0"/>
          </a:xfrm>
          <a:prstGeom prst="line">
            <a:avLst/>
          </a:prstGeom>
          <a:ln w="1905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504883" y="1792800"/>
            <a:ext cx="162000" cy="1620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6059" y="1332000"/>
            <a:ext cx="1080000" cy="10800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6059" y="1332000"/>
            <a:ext cx="108000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9647" y="2628000"/>
            <a:ext cx="2092823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700" b="1" i="0">
                <a:solidFill>
                  <a:srgbClr val="142B3A"/>
                </a:solidFill>
                <a:latin typeface="Aptos"/>
              </a:rPr>
              <a:t>J3 Hiérarchique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9647" y="3060000"/>
            <a:ext cx="2092823" cy="1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400" b="0" i="0">
                <a:solidFill>
                  <a:srgbClr val="3D4A55"/>
                </a:solidFill>
                <a:latin typeface="Aptos"/>
              </a:rPr>
              <a:t>chapitre 3 :</a:t>
            </a:r>
          </a:p>
          <a:p>
            <a:pPr algn="ctr"/>
            <a:r>
              <a:rPr sz="1400" b="0" i="0">
                <a:solidFill>
                  <a:srgbClr val="3D4A55"/>
                </a:solidFill>
                <a:latin typeface="Aptos"/>
              </a:rPr>
              <a:t>CAH à 4 liens,</a:t>
            </a:r>
          </a:p>
          <a:p>
            <a:pPr algn="ctr"/>
            <a:r>
              <a:rPr sz="1400" b="0" i="0">
                <a:solidFill>
                  <a:srgbClr val="3D4A55"/>
                </a:solidFill>
                <a:latin typeface="Aptos"/>
              </a:rPr>
              <a:t>DBSCAN</a:t>
            </a:r>
          </a:p>
        </p:txBody>
      </p:sp>
      <p:sp>
        <p:nvSpPr>
          <p:cNvPr id="27" name="Oval 26"/>
          <p:cNvSpPr/>
          <p:nvPr/>
        </p:nvSpPr>
        <p:spPr>
          <a:xfrm>
            <a:off x="9741707" y="1792800"/>
            <a:ext cx="162000" cy="1620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90688" y="1332000"/>
            <a:ext cx="1080000" cy="1080000"/>
          </a:xfrm>
          <a:prstGeom prst="ellipse">
            <a:avLst/>
          </a:prstGeom>
          <a:solidFill>
            <a:srgbClr val="14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92883" y="1332000"/>
            <a:ext cx="108000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6471" y="2628000"/>
            <a:ext cx="2092823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700" b="1" i="0">
                <a:solidFill>
                  <a:srgbClr val="142B3A"/>
                </a:solidFill>
                <a:latin typeface="Aptos"/>
              </a:rPr>
              <a:t>J4 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86471" y="3060000"/>
            <a:ext cx="2092823" cy="1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400" b="0" i="0">
                <a:solidFill>
                  <a:srgbClr val="3D4A55"/>
                </a:solidFill>
                <a:latin typeface="Aptos"/>
              </a:rPr>
              <a:t>chapitre 4 :</a:t>
            </a:r>
          </a:p>
          <a:p>
            <a:pPr algn="ctr"/>
            <a:r>
              <a:rPr sz="1400" b="0" i="0">
                <a:solidFill>
                  <a:srgbClr val="3D4A55"/>
                </a:solidFill>
                <a:latin typeface="Aptos"/>
              </a:rPr>
              <a:t>indices, stabilité,</a:t>
            </a:r>
          </a:p>
          <a:p>
            <a:pPr algn="ctr"/>
            <a:r>
              <a:rPr sz="1400" b="0" i="0">
                <a:solidFill>
                  <a:srgbClr val="3D4A55"/>
                </a:solidFill>
                <a:latin typeface="Aptos"/>
              </a:rPr>
              <a:t>choix de k</a:t>
            </a:r>
          </a:p>
        </p:txBody>
      </p:sp>
      <p:sp>
        <p:nvSpPr>
          <p:cNvPr id="16" name="Oval 15"/>
          <p:cNvSpPr/>
          <p:nvPr/>
        </p:nvSpPr>
        <p:spPr>
          <a:xfrm>
            <a:off x="10030968" y="1332000"/>
            <a:ext cx="1080000" cy="1080000"/>
          </a:xfrm>
          <a:prstGeom prst="ellipse">
            <a:avLst/>
          </a:prstGeom>
          <a:solidFill>
            <a:srgbClr val="14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29707" y="1332000"/>
            <a:ext cx="108000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3295" y="2628000"/>
            <a:ext cx="2092823" cy="6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700" b="1" i="0">
                <a:solidFill>
                  <a:srgbClr val="142B3A"/>
                </a:solidFill>
                <a:latin typeface="Aptos"/>
              </a:rPr>
              <a:t>J5 Interprétation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3295" y="3330000"/>
            <a:ext cx="2092823" cy="1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400" b="0" i="0">
                <a:solidFill>
                  <a:srgbClr val="3D4A55"/>
                </a:solidFill>
                <a:latin typeface="Aptos"/>
              </a:rPr>
              <a:t>profils, radars,</a:t>
            </a:r>
          </a:p>
          <a:p>
            <a:pPr algn="ctr"/>
            <a:r>
              <a:rPr sz="1400" b="0" i="0">
                <a:solidFill>
                  <a:srgbClr val="3D4A55"/>
                </a:solidFill>
                <a:latin typeface="Aptos"/>
              </a:rPr>
              <a:t>recommandations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6000" y="5004000"/>
            <a:ext cx="10320120" cy="720000"/>
          </a:xfrm>
          <a:prstGeom prst="roundRect">
            <a:avLst>
              <a:gd name="adj" fmla="val 45000"/>
            </a:avLst>
          </a:prstGeom>
          <a:solidFill>
            <a:srgbClr val="E3EF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2000" y="5004000"/>
            <a:ext cx="9888120" cy="72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ctr"/>
            <a:r>
              <a:rPr sz="1400" b="1" i="0">
                <a:solidFill>
                  <a:srgbClr val="205A58"/>
                </a:solidFill>
                <a:latin typeface="Aptos"/>
              </a:rPr>
              <a:t>Règle : y ne sert ni à construire ni à choisir les groupes ; elle vérifie le choix (J4) puis décrit les segments (J5).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" y="256032"/>
            <a:ext cx="960120" cy="32004"/>
          </a:xfrm>
          <a:prstGeom prst="rect">
            <a:avLst/>
          </a:prstGeom>
          <a:solidFill>
            <a:srgbClr val="D4A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Rectangle 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03999" y="306000"/>
            <a:ext cx="540000" cy="34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1200" b="1" i="0">
                <a:solidFill>
                  <a:srgbClr val="142B3A"/>
                </a:solidFill>
                <a:latin typeface="Aptos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460800"/>
            <a:ext cx="385200" cy="32400"/>
          </a:xfrm>
          <a:prstGeom prst="rect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200" y="255600"/>
            <a:ext cx="9612000" cy="503999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2300" b="1" i="0">
                <a:solidFill>
                  <a:srgbClr val="142B3A"/>
                </a:solidFill>
                <a:latin typeface="Aptos"/>
              </a:rPr>
              <a:t>15 variables actives retenues sur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3999" y="932400"/>
            <a:ext cx="11184121" cy="0"/>
          </a:xfrm>
          <a:prstGeom prst="line">
            <a:avLst/>
          </a:prstGeom>
          <a:ln w="1016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9200" y="6480000"/>
            <a:ext cx="3671999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000" b="1" i="0">
                <a:solidFill>
                  <a:srgbClr val="3D4A55"/>
                </a:solidFill>
                <a:latin typeface="Aptos"/>
              </a:rPr>
              <a:t>NDEYE SOKHNA NOKHO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36119" y="6480000"/>
            <a:ext cx="1152000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r"/>
            <a:r>
              <a:rPr sz="1000" b="0" i="0">
                <a:solidFill>
                  <a:srgbClr val="3D4A55"/>
                </a:solidFill>
                <a:latin typeface="Aptos"/>
              </a:rPr>
              <a:t>05  /  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3999" y="1188000"/>
          <a:ext cx="11184119" cy="388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1330"/>
                <a:gridCol w="8752789"/>
              </a:tblGrid>
              <a:tr h="5554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Élément</a:t>
                      </a:r>
                    </a:p>
                  </a:txBody>
                  <a:tcPr marL="125999" marR="125999" anchor="ctr">
                    <a:solidFill>
                      <a:srgbClr val="14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Valeur</a:t>
                      </a:r>
                    </a:p>
                  </a:txBody>
                  <a:tcPr marL="125999" marR="125999" anchor="ctr">
                    <a:solidFill>
                      <a:srgbClr val="142B3A"/>
                    </a:solidFill>
                  </a:tcPr>
                </a:tc>
              </a:tr>
              <a:tr h="5554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B3A"/>
                          </a:solidFill>
                          <a:latin typeface="Aptos"/>
                        </a:rPr>
                        <a:t>Individus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41 188, puis 41 176 après retrait de 12 doublons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</a:tr>
              <a:tr h="5554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B3A"/>
                          </a:solidFill>
                          <a:latin typeface="Aptos"/>
                        </a:rPr>
                        <a:t>Types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continues (euribor3m), discrètes (âge), nominales (job), ordinales (education), binaires (housing)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</a:tr>
              <a:tr h="5554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B3A"/>
                          </a:solidFill>
                          <a:latin typeface="Aptos"/>
                        </a:rPr>
                        <a:t>Manquants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« unknown » : remplacé par le mode (5 variables) ; gardé pour default (21 %)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</a:tr>
              <a:tr h="5554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B3A"/>
                          </a:solidFill>
                          <a:latin typeface="Aptos"/>
                        </a:rPr>
                        <a:t>Aberrants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campaign plafonnée au 99e centile (14 appels) ; pdays recodée en contacted_before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</a:tr>
              <a:tr h="5554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B3A"/>
                          </a:solidFill>
                          <a:latin typeface="Aptos"/>
                        </a:rPr>
                        <a:t>Représentations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(a) one-hot + standardisation, 37 colonnes ; (b) mixte brute, 15 colonnes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</a:tr>
              <a:tr h="5554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B3A"/>
                          </a:solidFill>
                          <a:latin typeface="Aptos"/>
                        </a:rPr>
                        <a:t>Échantillon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4 000 clients, aléatoire stratifié (le sujet demande 3 000 à 5 000)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36000" y="5400000"/>
            <a:ext cx="10320120" cy="612000"/>
          </a:xfrm>
          <a:prstGeom prst="roundRect">
            <a:avLst>
              <a:gd name="adj" fmla="val 50000"/>
            </a:avLst>
          </a:prstGeom>
          <a:solidFill>
            <a:srgbClr val="E3EF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000" y="5400000"/>
            <a:ext cx="9888120" cy="61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ctr"/>
            <a:r>
              <a:rPr sz="1400" b="1" i="0">
                <a:solidFill>
                  <a:srgbClr val="205A58"/>
                </a:solidFill>
                <a:latin typeface="Aptos"/>
              </a:rPr>
              <a:t>Écartées du clustering : duration (connue après l'appel), 2 indicateurs redondants avec l'Euribor, month, day_of_week et y. Elles servent à décrire.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256032"/>
            <a:ext cx="960120" cy="32004"/>
          </a:xfrm>
          <a:prstGeom prst="rect">
            <a:avLst/>
          </a:prstGeom>
          <a:solidFill>
            <a:srgbClr val="D4A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Rectangle 3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03999" y="306000"/>
            <a:ext cx="540000" cy="34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1200" b="1" i="0">
                <a:solidFill>
                  <a:srgbClr val="142B3A"/>
                </a:solidFill>
                <a:latin typeface="Aptos"/>
              </a:rP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460800"/>
            <a:ext cx="385200" cy="32400"/>
          </a:xfrm>
          <a:prstGeom prst="rect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200" y="255600"/>
            <a:ext cx="9612000" cy="503999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2300" b="1" i="0">
                <a:solidFill>
                  <a:srgbClr val="142B3A"/>
                </a:solidFill>
                <a:latin typeface="Aptos"/>
              </a:rPr>
              <a:t>Explorer, puis réduire la dimension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3999" y="932400"/>
            <a:ext cx="11184121" cy="0"/>
          </a:xfrm>
          <a:prstGeom prst="line">
            <a:avLst/>
          </a:prstGeom>
          <a:ln w="1016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9200" y="6480000"/>
            <a:ext cx="3671999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000" b="1" i="0">
                <a:solidFill>
                  <a:srgbClr val="3D4A55"/>
                </a:solidFill>
                <a:latin typeface="Aptos"/>
              </a:rPr>
              <a:t>NDEYE SOKHNA NOKHO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36119" y="6480000"/>
            <a:ext cx="1152000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r"/>
            <a:r>
              <a:rPr sz="1000" b="0" i="0">
                <a:solidFill>
                  <a:srgbClr val="3D4A55"/>
                </a:solidFill>
                <a:latin typeface="Aptos"/>
              </a:rPr>
              <a:t>06  / 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999" y="1151092"/>
            <a:ext cx="11184119" cy="3493814"/>
          </a:xfrm>
          <a:prstGeom prst="roundRect">
            <a:avLst>
              <a:gd name="adj" fmla="val 4636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3999" y="4698000"/>
            <a:ext cx="11184119" cy="251999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200" b="0" i="1">
                <a:solidFill>
                  <a:srgbClr val="3D4A55"/>
                </a:solidFill>
                <a:latin typeface="Aptos"/>
              </a:rPr>
              <a:t>Les 4 000 clients projetés en 2 dimensions par PCA, t-SNE et UMAP  –  Couleur : taux Euribor 3 mois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999" y="5040000"/>
            <a:ext cx="3536039" cy="1206000"/>
          </a:xfrm>
          <a:prstGeom prst="roundRect">
            <a:avLst>
              <a:gd name="adj" fmla="val 1791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0000" y="5238000"/>
            <a:ext cx="162000" cy="1620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2000" y="5166000"/>
            <a:ext cx="2852039" cy="288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500" b="1" i="0">
                <a:solidFill>
                  <a:srgbClr val="142B3A"/>
                </a:solidFill>
                <a:latin typeface="Aptos"/>
              </a:rPr>
              <a:t>EDA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000" y="5454000"/>
            <a:ext cx="2852039" cy="75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350" b="0" i="0">
                <a:solidFill>
                  <a:srgbClr val="3D4A55"/>
                </a:solidFill>
                <a:latin typeface="Aptos"/>
              </a:rPr>
              <a:t>Histogrammes, boîtes, heatmap : 3 indicateurs économiques corrélés à plus de 0,90.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8040" y="5040000"/>
            <a:ext cx="3536039" cy="1206000"/>
          </a:xfrm>
          <a:prstGeom prst="roundRect">
            <a:avLst>
              <a:gd name="adj" fmla="val 1791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44039" y="5238000"/>
            <a:ext cx="162000" cy="1620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6040" y="5166000"/>
            <a:ext cx="2852039" cy="288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500" b="1" i="0">
                <a:solidFill>
                  <a:srgbClr val="142B3A"/>
                </a:solidFill>
                <a:latin typeface="Aptos"/>
              </a:rPr>
              <a:t>PCA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6040" y="5454000"/>
            <a:ext cx="2852039" cy="75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350" b="0" i="0">
                <a:solidFill>
                  <a:srgbClr val="3D4A55"/>
                </a:solidFill>
                <a:latin typeface="Aptos"/>
              </a:rPr>
              <a:t>Le premier plan garde 36 % de la variance ; il faut 10 axes pour atteindre 80 %.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2079" y="5040000"/>
            <a:ext cx="3536039" cy="1206000"/>
          </a:xfrm>
          <a:prstGeom prst="roundRect">
            <a:avLst>
              <a:gd name="adj" fmla="val 1791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68079" y="5238000"/>
            <a:ext cx="162000" cy="1620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20079" y="5166000"/>
            <a:ext cx="2852039" cy="288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500" b="1" i="0">
                <a:solidFill>
                  <a:srgbClr val="142B3A"/>
                </a:solidFill>
                <a:latin typeface="Aptos"/>
              </a:rPr>
              <a:t>t-SNE et UMAP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0079" y="5454000"/>
            <a:ext cx="2852039" cy="75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350" b="0" i="0">
                <a:solidFill>
                  <a:srgbClr val="3D4A55"/>
                </a:solidFill>
                <a:latin typeface="Aptos"/>
              </a:rPr>
              <a:t>Quelques îlots liés aux taux et à l'historique, mais pas de groupes bien séparés.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256032"/>
            <a:ext cx="960120" cy="32004"/>
          </a:xfrm>
          <a:prstGeom prst="rect">
            <a:avLst/>
          </a:prstGeom>
          <a:solidFill>
            <a:srgbClr val="D4A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projections_eurib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99" y="1277092"/>
            <a:ext cx="10932119" cy="32418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Rectangle 3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03999" y="306000"/>
            <a:ext cx="540000" cy="34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1200" b="1" i="0">
                <a:solidFill>
                  <a:srgbClr val="142B3A"/>
                </a:solidFill>
                <a:latin typeface="Aptos"/>
              </a:rPr>
              <a:t>07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460800"/>
            <a:ext cx="385200" cy="32400"/>
          </a:xfrm>
          <a:prstGeom prst="rect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200" y="255600"/>
            <a:ext cx="9612000" cy="503999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2300" b="1" i="0">
                <a:solidFill>
                  <a:srgbClr val="142B3A"/>
                </a:solidFill>
                <a:latin typeface="Aptos"/>
              </a:rPr>
              <a:t>Sans standardisation, l'âge pèse 77 %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3999" y="932400"/>
            <a:ext cx="11184121" cy="0"/>
          </a:xfrm>
          <a:prstGeom prst="line">
            <a:avLst/>
          </a:prstGeom>
          <a:ln w="1016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9200" y="6480000"/>
            <a:ext cx="3671999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000" b="1" i="0">
                <a:solidFill>
                  <a:srgbClr val="3D4A55"/>
                </a:solidFill>
                <a:latin typeface="Aptos"/>
              </a:rPr>
              <a:t>NDEYE SOKHNA NOKHO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36119" y="6480000"/>
            <a:ext cx="1152000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r"/>
            <a:r>
              <a:rPr sz="1000" b="0" i="0">
                <a:solidFill>
                  <a:srgbClr val="3D4A55"/>
                </a:solidFill>
                <a:latin typeface="Aptos"/>
              </a:rPr>
              <a:t>07  / 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47686" y="1115999"/>
            <a:ext cx="9696746" cy="3564000"/>
          </a:xfrm>
          <a:prstGeom prst="roundRect">
            <a:avLst>
              <a:gd name="adj" fmla="val 4545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3999" y="4698000"/>
            <a:ext cx="11184119" cy="251999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200" b="0" i="1">
                <a:solidFill>
                  <a:srgbClr val="3D4A55"/>
                </a:solidFill>
                <a:latin typeface="Aptos"/>
              </a:rPr>
              <a:t>Rouge : sans standardisation  –  Bleu : avec standardisation  –  Hauteur : part de la variable dans la distance (%)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999" y="5040000"/>
            <a:ext cx="3536039" cy="1206000"/>
          </a:xfrm>
          <a:prstGeom prst="roundRect">
            <a:avLst>
              <a:gd name="adj" fmla="val 1791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0000" y="5238000"/>
            <a:ext cx="162000" cy="1620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2000" y="5166000"/>
            <a:ext cx="2852039" cy="288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500" b="1" i="0">
                <a:solidFill>
                  <a:srgbClr val="142B3A"/>
                </a:solidFill>
                <a:latin typeface="Aptos"/>
              </a:rPr>
              <a:t>Standardiser change tout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000" y="5454000"/>
            <a:ext cx="2852039" cy="75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350" b="0" i="0">
                <a:solidFill>
                  <a:srgbClr val="3D4A55"/>
                </a:solidFill>
                <a:latin typeface="Aptos"/>
              </a:rPr>
              <a:t>Seuls 23 % des 10 plus proches voisins restent les mêmes après standardisation.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8040" y="5040000"/>
            <a:ext cx="3536039" cy="1206000"/>
          </a:xfrm>
          <a:prstGeom prst="roundRect">
            <a:avLst>
              <a:gd name="adj" fmla="val 1791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44039" y="5238000"/>
            <a:ext cx="162000" cy="1620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6040" y="5166000"/>
            <a:ext cx="2852039" cy="288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500" b="1" i="0">
                <a:solidFill>
                  <a:srgbClr val="142B3A"/>
                </a:solidFill>
                <a:latin typeface="Aptos"/>
              </a:rPr>
              <a:t>Euclidienne ou Manhattan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6040" y="5454000"/>
            <a:ext cx="2852039" cy="75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350" b="0" i="0">
                <a:solidFill>
                  <a:srgbClr val="3D4A55"/>
                </a:solidFill>
                <a:latin typeface="Aptos"/>
              </a:rPr>
              <a:t>83 % de voisins communs : le choix entre les deux compte peu.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2079" y="5040000"/>
            <a:ext cx="3536039" cy="1206000"/>
          </a:xfrm>
          <a:prstGeom prst="roundRect">
            <a:avLst>
              <a:gd name="adj" fmla="val 1791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68079" y="5238000"/>
            <a:ext cx="162000" cy="1620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20079" y="5166000"/>
            <a:ext cx="2852039" cy="288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500" b="1" i="0">
                <a:solidFill>
                  <a:srgbClr val="142B3A"/>
                </a:solidFill>
                <a:latin typeface="Aptos"/>
              </a:rPr>
              <a:t>Binaires et mixtes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0079" y="5454000"/>
            <a:ext cx="2852039" cy="75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350" b="0" i="0">
                <a:solidFill>
                  <a:srgbClr val="3D4A55"/>
                </a:solidFill>
                <a:latin typeface="Aptos"/>
              </a:rPr>
              <a:t>Hamming (variables symétriques), Jaccard (« oui » rare), Gower (données mixtes).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256032"/>
            <a:ext cx="960120" cy="32004"/>
          </a:xfrm>
          <a:prstGeom prst="rect">
            <a:avLst/>
          </a:prstGeom>
          <a:solidFill>
            <a:srgbClr val="D4A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_poids_vari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686" y="1242000"/>
            <a:ext cx="9444746" cy="331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Rectangle 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03999" y="306000"/>
            <a:ext cx="540000" cy="34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1200" b="1" i="0">
                <a:solidFill>
                  <a:srgbClr val="142B3A"/>
                </a:solidFill>
                <a:latin typeface="Aptos"/>
              </a:rPr>
              <a:t>08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460800"/>
            <a:ext cx="385200" cy="32400"/>
          </a:xfrm>
          <a:prstGeom prst="rect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200" y="255600"/>
            <a:ext cx="9612000" cy="503999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2300" b="1" i="0">
                <a:solidFill>
                  <a:srgbClr val="142B3A"/>
                </a:solidFill>
                <a:latin typeface="Aptos"/>
              </a:rPr>
              <a:t>Neuf méthodes sur le banc d'essai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3999" y="932400"/>
            <a:ext cx="11184121" cy="0"/>
          </a:xfrm>
          <a:prstGeom prst="line">
            <a:avLst/>
          </a:prstGeom>
          <a:ln w="1016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9200" y="6480000"/>
            <a:ext cx="3671999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000" b="1" i="0">
                <a:solidFill>
                  <a:srgbClr val="3D4A55"/>
                </a:solidFill>
                <a:latin typeface="Aptos"/>
              </a:rPr>
              <a:t>NDEYE SOKHNA NOKHO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36119" y="6480000"/>
            <a:ext cx="1152000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r"/>
            <a:r>
              <a:rPr sz="1000" b="0" i="0">
                <a:solidFill>
                  <a:srgbClr val="3D4A55"/>
                </a:solidFill>
                <a:latin typeface="Aptos"/>
              </a:rPr>
              <a:t>08  /  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3999" y="1188000"/>
          <a:ext cx="11184117" cy="38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6438"/>
                <a:gridCol w="3441267"/>
                <a:gridCol w="3441267"/>
                <a:gridCol w="2335145"/>
              </a:tblGrid>
              <a:tr h="486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Famille</a:t>
                      </a:r>
                    </a:p>
                  </a:txBody>
                  <a:tcPr marL="125999" marR="125999" anchor="ctr">
                    <a:solidFill>
                      <a:srgbClr val="14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Méthode</a:t>
                      </a:r>
                    </a:p>
                  </a:txBody>
                  <a:tcPr marL="125999" marR="125999" anchor="ctr">
                    <a:solidFill>
                      <a:srgbClr val="14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Données et distance</a:t>
                      </a:r>
                    </a:p>
                  </a:txBody>
                  <a:tcPr marL="125999" marR="125999" anchor="ctr">
                    <a:solidFill>
                      <a:srgbClr val="14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Réglage</a:t>
                      </a:r>
                    </a:p>
                  </a:txBody>
                  <a:tcPr marL="125999" marR="125999" anchor="ctr">
                    <a:solidFill>
                      <a:srgbClr val="142B3A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B3A"/>
                          </a:solidFill>
                          <a:latin typeface="Aptos"/>
                        </a:rPr>
                        <a:t>Partitionnement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K-means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(a) one-hot standardisé, euclidienne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Coude, k de 2 à 10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B3A"/>
                          </a:solidFill>
                          <a:latin typeface="Aptos"/>
                        </a:rPr>
                        <a:t>Partitionnement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K-medoids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Matrice de Gower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Coût et silhouette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B3A"/>
                          </a:solidFill>
                          <a:latin typeface="Aptos"/>
                        </a:rPr>
                        <a:t>Partitionnement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K-prototypes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(b) données mixtes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Coude sur le coût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B3A"/>
                          </a:solidFill>
                          <a:latin typeface="Aptos"/>
                        </a:rPr>
                        <a:t>Probabiliste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Mélange gaussien (GMM)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10 axes de la PCA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BIC et AIC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B3A"/>
                          </a:solidFill>
                          <a:latin typeface="Aptos"/>
                        </a:rPr>
                        <a:t>Hiérarchique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CAH : single, complete, average, Ward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(a), euclidienne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Dendrogramme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B3A"/>
                          </a:solidFill>
                          <a:latin typeface="Aptos"/>
                        </a:rPr>
                        <a:t>Hiérarchique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CAH à lien moyen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Matrice de Gower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Dendrogramme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B3A"/>
                          </a:solidFill>
                          <a:latin typeface="Aptos"/>
                        </a:rPr>
                        <a:t>Densité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DBSCAN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5 axes de la PCA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epsilon par k-distances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36000" y="5400000"/>
            <a:ext cx="10320120" cy="612000"/>
          </a:xfrm>
          <a:prstGeom prst="roundRect">
            <a:avLst>
              <a:gd name="adj" fmla="val 50000"/>
            </a:avLst>
          </a:prstGeom>
          <a:solidFill>
            <a:srgbClr val="E3EF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000" y="5400000"/>
            <a:ext cx="9888120" cy="61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ctr"/>
            <a:r>
              <a:rPr sz="1400" b="1" i="0">
                <a:solidFill>
                  <a:srgbClr val="205A58"/>
                </a:solidFill>
                <a:latin typeface="Aptos"/>
              </a:rPr>
              <a:t>scikit-learn, kmodes, gower, umap-learn, scipy. K-medoids et Dunn codés à la main (scikit-learn-extra ne fonctionne pas avec NumPy 2).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256032"/>
            <a:ext cx="960120" cy="32004"/>
          </a:xfrm>
          <a:prstGeom prst="rect">
            <a:avLst/>
          </a:prstGeom>
          <a:solidFill>
            <a:srgbClr val="D4A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Rectangle 3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03999" y="306000"/>
            <a:ext cx="540000" cy="34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1200" b="1" i="0">
                <a:solidFill>
                  <a:srgbClr val="142B3A"/>
                </a:solidFill>
                <a:latin typeface="Aptos"/>
              </a:rPr>
              <a:t>09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460800"/>
            <a:ext cx="385200" cy="32400"/>
          </a:xfrm>
          <a:prstGeom prst="rect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200" y="255600"/>
            <a:ext cx="9612000" cy="503999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2300" b="1" i="0">
                <a:solidFill>
                  <a:srgbClr val="142B3A"/>
                </a:solidFill>
                <a:latin typeface="Aptos"/>
              </a:rPr>
              <a:t>La structure la plus nette : deux groupes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3999" y="932400"/>
            <a:ext cx="11184121" cy="0"/>
          </a:xfrm>
          <a:prstGeom prst="line">
            <a:avLst/>
          </a:prstGeom>
          <a:ln w="1016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9200" y="6480000"/>
            <a:ext cx="3671999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000" b="1" i="0">
                <a:solidFill>
                  <a:srgbClr val="3D4A55"/>
                </a:solidFill>
                <a:latin typeface="Aptos"/>
              </a:rPr>
              <a:t>NDEYE SOKHNA NOKHO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36119" y="6480000"/>
            <a:ext cx="1152000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r"/>
            <a:r>
              <a:rPr sz="1000" b="0" i="0">
                <a:solidFill>
                  <a:srgbClr val="3D4A55"/>
                </a:solidFill>
                <a:latin typeface="Aptos"/>
              </a:rPr>
              <a:t>09  / 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9779" y="1115999"/>
            <a:ext cx="11032560" cy="3564000"/>
          </a:xfrm>
          <a:prstGeom prst="roundRect">
            <a:avLst>
              <a:gd name="adj" fmla="val 4545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3999" y="4698000"/>
            <a:ext cx="11184119" cy="251999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200" b="0" i="1">
                <a:solidFill>
                  <a:srgbClr val="3D4A55"/>
                </a:solidFill>
                <a:latin typeface="Aptos"/>
              </a:rPr>
              <a:t>Gauche : inertie de K-means selon k (coude vers 6)  –  Droite : silhouette selon k (plus haut = mieux)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999" y="5040000"/>
            <a:ext cx="3536039" cy="1206000"/>
          </a:xfrm>
          <a:prstGeom prst="roundRect">
            <a:avLst>
              <a:gd name="adj" fmla="val 1791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0000" y="5238000"/>
            <a:ext cx="162000" cy="1620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2000" y="5166000"/>
            <a:ext cx="2852039" cy="288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500" b="1" i="0">
                <a:solidFill>
                  <a:srgbClr val="142B3A"/>
                </a:solidFill>
                <a:latin typeface="Aptos"/>
              </a:rPr>
              <a:t>0,24 à k =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000" y="5454000"/>
            <a:ext cx="2852039" cy="75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350" b="0" i="0">
                <a:solidFill>
                  <a:srgbClr val="3D4A55"/>
                </a:solidFill>
                <a:latin typeface="Aptos"/>
              </a:rPr>
              <a:t>Silhouette maximale ; elle reste proche de 0,20 jusqu'à k = 5.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8040" y="5040000"/>
            <a:ext cx="3536039" cy="1206000"/>
          </a:xfrm>
          <a:prstGeom prst="roundRect">
            <a:avLst>
              <a:gd name="adj" fmla="val 1791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44039" y="5238000"/>
            <a:ext cx="162000" cy="1620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6040" y="5166000"/>
            <a:ext cx="2852039" cy="288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500" b="1" i="0">
                <a:solidFill>
                  <a:srgbClr val="142B3A"/>
                </a:solidFill>
                <a:latin typeface="Aptos"/>
              </a:rPr>
              <a:t>0,97 à 0,99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6040" y="5454000"/>
            <a:ext cx="2852039" cy="75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350" b="0" i="0">
                <a:solidFill>
                  <a:srgbClr val="3D4A55"/>
                </a:solidFill>
                <a:latin typeface="Aptos"/>
              </a:rPr>
              <a:t>Accord (ARI) entre K-means, K-prototypes et GMM à k = 2.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2079" y="5040000"/>
            <a:ext cx="3536039" cy="1206000"/>
          </a:xfrm>
          <a:prstGeom prst="roundRect">
            <a:avLst>
              <a:gd name="adj" fmla="val 1791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68079" y="5238000"/>
            <a:ext cx="162000" cy="1620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20079" y="5166000"/>
            <a:ext cx="2852039" cy="288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500" b="1" i="0">
                <a:solidFill>
                  <a:srgbClr val="142B3A"/>
                </a:solidFill>
                <a:latin typeface="Aptos"/>
              </a:rPr>
              <a:t>GMM : BIC et AIC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0079" y="5454000"/>
            <a:ext cx="2852039" cy="75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350" b="0" i="0">
                <a:solidFill>
                  <a:srgbClr val="3D4A55"/>
                </a:solidFill>
                <a:latin typeface="Aptos"/>
              </a:rPr>
              <a:t>Ils décroissent sans minimum : les données ne sont pas gaussiennes.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256032"/>
            <a:ext cx="960120" cy="32004"/>
          </a:xfrm>
          <a:prstGeom prst="rect">
            <a:avLst/>
          </a:prstGeom>
          <a:solidFill>
            <a:srgbClr val="D4A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_kmeans_co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79" y="1242000"/>
            <a:ext cx="10780560" cy="331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Rectangle 3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03999" y="306000"/>
            <a:ext cx="540000" cy="34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1200" b="1" i="0">
                <a:solidFill>
                  <a:srgbClr val="142B3A"/>
                </a:solidFill>
                <a:latin typeface="Aptos"/>
              </a:rPr>
              <a:t>10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460800"/>
            <a:ext cx="385200" cy="32400"/>
          </a:xfrm>
          <a:prstGeom prst="rect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200" y="255600"/>
            <a:ext cx="9612000" cy="503999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2300" b="1" i="0">
                <a:solidFill>
                  <a:srgbClr val="142B3A"/>
                </a:solidFill>
                <a:latin typeface="Aptos"/>
              </a:rPr>
              <a:t>CAH : le lien change tout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3999" y="932400"/>
            <a:ext cx="11184121" cy="0"/>
          </a:xfrm>
          <a:prstGeom prst="line">
            <a:avLst/>
          </a:prstGeom>
          <a:ln w="1016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9200" y="6480000"/>
            <a:ext cx="3671999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000" b="1" i="0">
                <a:solidFill>
                  <a:srgbClr val="3D4A55"/>
                </a:solidFill>
                <a:latin typeface="Aptos"/>
              </a:rPr>
              <a:t>NDEYE SOKHNA NOKHO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36119" y="6480000"/>
            <a:ext cx="1152000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r"/>
            <a:r>
              <a:rPr sz="1000" b="0" i="0">
                <a:solidFill>
                  <a:srgbClr val="3D4A55"/>
                </a:solidFill>
                <a:latin typeface="Aptos"/>
              </a:rPr>
              <a:t>10  / 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999" y="1284910"/>
            <a:ext cx="11184119" cy="3226179"/>
          </a:xfrm>
          <a:prstGeom prst="roundRect">
            <a:avLst>
              <a:gd name="adj" fmla="val 5021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3999" y="4698000"/>
            <a:ext cx="11184119" cy="251999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200" b="0" i="1">
                <a:solidFill>
                  <a:srgbClr val="3D4A55"/>
                </a:solidFill>
                <a:latin typeface="Aptos"/>
              </a:rPr>
              <a:t>Gauche : saut de hauteur évité en gardant k groupes  –  Droite : dendrogramme de Ward et coupures possibles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999" y="5040000"/>
            <a:ext cx="5448059" cy="1206000"/>
          </a:xfrm>
          <a:prstGeom prst="roundRect">
            <a:avLst>
              <a:gd name="adj" fmla="val 1791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0000" y="5238000"/>
            <a:ext cx="162000" cy="1620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2000" y="5166000"/>
            <a:ext cx="4764059" cy="288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500" b="1" i="0">
                <a:solidFill>
                  <a:srgbClr val="142B3A"/>
                </a:solidFill>
                <a:latin typeface="Aptos"/>
              </a:rPr>
              <a:t>Single, complete, average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000" y="5454000"/>
            <a:ext cx="4764059" cy="75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350" b="0" i="0">
                <a:solidFill>
                  <a:srgbClr val="3D4A55"/>
                </a:solidFill>
                <a:latin typeface="Aptos"/>
              </a:rPr>
              <a:t>Meilleures silhouettes (0,32 à 0,49), mais un groupe géant de plus de 3 870 clients sur 4 000.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0059" y="5040000"/>
            <a:ext cx="5448059" cy="1206000"/>
          </a:xfrm>
          <a:prstGeom prst="roundRect">
            <a:avLst>
              <a:gd name="adj" fmla="val 1791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6059" y="5238000"/>
            <a:ext cx="162000" cy="1620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8059" y="5166000"/>
            <a:ext cx="4764059" cy="288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500" b="1" i="0">
                <a:solidFill>
                  <a:srgbClr val="142B3A"/>
                </a:solidFill>
                <a:latin typeface="Aptos"/>
              </a:rPr>
              <a:t>Ward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8059" y="5454000"/>
            <a:ext cx="4764059" cy="75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350" b="0" i="0">
                <a:solidFill>
                  <a:srgbClr val="3D4A55"/>
                </a:solidFill>
                <a:latin typeface="Aptos"/>
              </a:rPr>
              <a:t>Seuls groupes équilibrés (2 617 / 756 / 627) ; coupures naturelles à 2 et 5 groupes.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256032"/>
            <a:ext cx="960120" cy="32004"/>
          </a:xfrm>
          <a:prstGeom prst="rect">
            <a:avLst/>
          </a:prstGeom>
          <a:solidFill>
            <a:srgbClr val="D4A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_ward_coup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99" y="1410910"/>
            <a:ext cx="10932119" cy="29741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Rectangle 3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03999" y="306000"/>
            <a:ext cx="540000" cy="34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1200" b="1" i="0">
                <a:solidFill>
                  <a:srgbClr val="142B3A"/>
                </a:solidFill>
                <a:latin typeface="Aptos"/>
              </a:rPr>
              <a:t>11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460800"/>
            <a:ext cx="385200" cy="32400"/>
          </a:xfrm>
          <a:prstGeom prst="rect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200" y="255600"/>
            <a:ext cx="9612000" cy="503999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2300" b="1" i="0">
                <a:solidFill>
                  <a:srgbClr val="142B3A"/>
                </a:solidFill>
                <a:latin typeface="Aptos"/>
              </a:rPr>
              <a:t>DBSCAN repère les atypiques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3999" y="932400"/>
            <a:ext cx="11184121" cy="0"/>
          </a:xfrm>
          <a:prstGeom prst="line">
            <a:avLst/>
          </a:prstGeom>
          <a:ln w="1016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9200" y="6480000"/>
            <a:ext cx="3671999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000" b="1" i="0">
                <a:solidFill>
                  <a:srgbClr val="3D4A55"/>
                </a:solidFill>
                <a:latin typeface="Aptos"/>
              </a:rPr>
              <a:t>NDEYE SOKHNA NOKHO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36119" y="6480000"/>
            <a:ext cx="1152000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r"/>
            <a:r>
              <a:rPr sz="1000" b="0" i="0">
                <a:solidFill>
                  <a:srgbClr val="3D4A55"/>
                </a:solidFill>
                <a:latin typeface="Aptos"/>
              </a:rPr>
              <a:t>11  / 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999" y="1331699"/>
            <a:ext cx="11184119" cy="3132601"/>
          </a:xfrm>
          <a:prstGeom prst="roundRect">
            <a:avLst>
              <a:gd name="adj" fmla="val 5171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3999" y="4698000"/>
            <a:ext cx="11184119" cy="251999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200" b="0" i="1">
                <a:solidFill>
                  <a:srgbClr val="3D4A55"/>
                </a:solidFill>
                <a:latin typeface="Aptos"/>
              </a:rPr>
              <a:t>Gauche : statut des points (cœur 3 703, bordure 147, bruit 150)  –  Milieu et droite : clusters sur la PCA puis sur UMAP (bruit en noir)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999" y="5040000"/>
            <a:ext cx="3536039" cy="1206000"/>
          </a:xfrm>
          <a:prstGeom prst="roundRect">
            <a:avLst>
              <a:gd name="adj" fmla="val 1791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0000" y="5238000"/>
            <a:ext cx="162000" cy="1620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2000" y="5166000"/>
            <a:ext cx="2852039" cy="288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500" b="1" i="0">
                <a:solidFill>
                  <a:srgbClr val="142B3A"/>
                </a:solidFill>
                <a:latin typeface="Aptos"/>
              </a:rPr>
              <a:t>8 clusters, 3,8 % bruit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000" y="5454000"/>
            <a:ext cx="2852039" cy="75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350" b="0" i="0">
                <a:solidFill>
                  <a:srgbClr val="3D4A55"/>
                </a:solidFill>
                <a:latin typeface="Aptos"/>
              </a:rPr>
              <a:t>epsilon ≈ 1,0 et min_samples = 10 (k-distances) ; un cluster contient 82 % des clients.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8040" y="5040000"/>
            <a:ext cx="3536039" cy="1206000"/>
          </a:xfrm>
          <a:prstGeom prst="roundRect">
            <a:avLst>
              <a:gd name="adj" fmla="val 1791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44039" y="5238000"/>
            <a:ext cx="162000" cy="1620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6040" y="5166000"/>
            <a:ext cx="2852039" cy="288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500" b="1" i="0">
                <a:solidFill>
                  <a:srgbClr val="142B3A"/>
                </a:solidFill>
                <a:latin typeface="Aptos"/>
              </a:rPr>
              <a:t>Limites de K-means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6040" y="5454000"/>
            <a:ext cx="2852039" cy="75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350" b="0" i="0">
                <a:solidFill>
                  <a:srgbClr val="3D4A55"/>
                </a:solidFill>
                <a:latin typeface="Aptos"/>
              </a:rPr>
              <a:t>Groupes convexes, chaque client forcé dans un groupe : le bruit est presque 2 fois plus loin du centre.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2079" y="5040000"/>
            <a:ext cx="3536039" cy="1206000"/>
          </a:xfrm>
          <a:prstGeom prst="roundRect">
            <a:avLst>
              <a:gd name="adj" fmla="val 1791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68079" y="5238000"/>
            <a:ext cx="162000" cy="1620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20079" y="5166000"/>
            <a:ext cx="2852039" cy="288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500" b="1" i="0">
                <a:solidFill>
                  <a:srgbClr val="142B3A"/>
                </a:solidFill>
                <a:latin typeface="Aptos"/>
              </a:rPr>
              <a:t>Le bruit a un sens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0079" y="5454000"/>
            <a:ext cx="2852039" cy="75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350" b="0" i="0">
                <a:solidFill>
                  <a:srgbClr val="3D4A55"/>
                </a:solidFill>
                <a:latin typeface="Aptos"/>
              </a:rPr>
              <a:t>49 ans en moyenne, 42 % déjà démarchés, 34 % retraités ou étudiants.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256032"/>
            <a:ext cx="960120" cy="32004"/>
          </a:xfrm>
          <a:prstGeom prst="rect">
            <a:avLst/>
          </a:prstGeom>
          <a:solidFill>
            <a:srgbClr val="D4A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_db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99" y="1457699"/>
            <a:ext cx="10932119" cy="28806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Rectangle 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03999" y="306000"/>
            <a:ext cx="540000" cy="34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1200" b="1" i="0">
                <a:solidFill>
                  <a:srgbClr val="142B3A"/>
                </a:solidFill>
                <a:latin typeface="Aptos"/>
              </a:rPr>
              <a:t>12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460800"/>
            <a:ext cx="385200" cy="32400"/>
          </a:xfrm>
          <a:prstGeom prst="rect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200" y="255600"/>
            <a:ext cx="9612000" cy="503999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2300" b="1" i="0">
                <a:solidFill>
                  <a:srgbClr val="142B3A"/>
                </a:solidFill>
                <a:latin typeface="Aptos"/>
              </a:rPr>
              <a:t>Solution retenue : Ward à quatre segments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3999" y="932400"/>
            <a:ext cx="11184121" cy="0"/>
          </a:xfrm>
          <a:prstGeom prst="line">
            <a:avLst/>
          </a:prstGeom>
          <a:ln w="1016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9200" y="6480000"/>
            <a:ext cx="3671999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000" b="1" i="0">
                <a:solidFill>
                  <a:srgbClr val="3D4A55"/>
                </a:solidFill>
                <a:latin typeface="Aptos"/>
              </a:rPr>
              <a:t>NDEYE SOKHNA NOKHO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36119" y="6480000"/>
            <a:ext cx="1152000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r"/>
            <a:r>
              <a:rPr sz="1000" b="0" i="0">
                <a:solidFill>
                  <a:srgbClr val="3D4A55"/>
                </a:solidFill>
                <a:latin typeface="Aptos"/>
              </a:rPr>
              <a:t>12  /  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3999" y="1188000"/>
          <a:ext cx="11184117" cy="388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6604"/>
                <a:gridCol w="691801"/>
                <a:gridCol w="1498902"/>
                <a:gridCol w="1844803"/>
                <a:gridCol w="1153002"/>
                <a:gridCol w="1614202"/>
                <a:gridCol w="1844803"/>
              </a:tblGrid>
              <a:tr h="5554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Méthode</a:t>
                      </a:r>
                    </a:p>
                  </a:txBody>
                  <a:tcPr marL="125999" marR="125999" anchor="ctr">
                    <a:solidFill>
                      <a:srgbClr val="14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k</a:t>
                      </a:r>
                    </a:p>
                  </a:txBody>
                  <a:tcPr marL="125999" marR="125999" anchor="ctr">
                    <a:solidFill>
                      <a:srgbClr val="14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Silhouette</a:t>
                      </a:r>
                    </a:p>
                  </a:txBody>
                  <a:tcPr marL="125999" marR="125999" anchor="ctr">
                    <a:solidFill>
                      <a:srgbClr val="14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Davies-Bouldin</a:t>
                      </a:r>
                    </a:p>
                  </a:txBody>
                  <a:tcPr marL="125999" marR="125999" anchor="ctr">
                    <a:solidFill>
                      <a:srgbClr val="14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Dunn</a:t>
                      </a:r>
                    </a:p>
                  </a:txBody>
                  <a:tcPr marL="125999" marR="125999" anchor="ctr">
                    <a:solidFill>
                      <a:srgbClr val="14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Rang moyen</a:t>
                      </a:r>
                    </a:p>
                  </a:txBody>
                  <a:tcPr marL="125999" marR="125999" anchor="ctr">
                    <a:solidFill>
                      <a:srgbClr val="14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ARI (contrôle)</a:t>
                      </a:r>
                    </a:p>
                  </a:txBody>
                  <a:tcPr marL="125999" marR="125999" anchor="ctr">
                    <a:solidFill>
                      <a:srgbClr val="142B3A"/>
                    </a:solidFill>
                  </a:tcPr>
                </a:tc>
              </a:tr>
              <a:tr h="5554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B3A"/>
                          </a:solidFill>
                          <a:latin typeface="Aptos"/>
                        </a:rPr>
                        <a:t>CAH Ward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4681C"/>
                          </a:solidFill>
                          <a:latin typeface="Aptos"/>
                        </a:rPr>
                        <a:t>0,213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4681C"/>
                          </a:solidFill>
                          <a:latin typeface="Aptos"/>
                        </a:rPr>
                        <a:t>1,73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4681C"/>
                          </a:solidFill>
                          <a:latin typeface="Aptos"/>
                        </a:rPr>
                        <a:t>0,112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4681C"/>
                          </a:solidFill>
                          <a:latin typeface="Aptos"/>
                        </a:rPr>
                        <a:t>1,50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0,151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</a:tr>
              <a:tr h="5554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B3A"/>
                          </a:solidFill>
                          <a:latin typeface="Aptos"/>
                        </a:rPr>
                        <a:t>K-prototypes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0,185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1,92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0,083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3,00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0,094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</a:tr>
              <a:tr h="5554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B3A"/>
                          </a:solidFill>
                          <a:latin typeface="Aptos"/>
                        </a:rPr>
                        <a:t>K-means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0,186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1,92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0,065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3,25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0,096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</a:tr>
              <a:tr h="5554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B3A"/>
                          </a:solidFill>
                          <a:latin typeface="Aptos"/>
                        </a:rPr>
                        <a:t>CAH Ward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0,193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1,97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0,098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3,25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0,139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</a:tr>
              <a:tr h="5554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B3A"/>
                          </a:solidFill>
                          <a:latin typeface="Aptos"/>
                        </a:rPr>
                        <a:t>K-means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0,182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1,84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0,033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5,00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0,057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</a:tr>
              <a:tr h="5554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B3A"/>
                          </a:solidFill>
                          <a:latin typeface="Aptos"/>
                        </a:rPr>
                        <a:t>GMM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0,081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2,70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0,072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6,25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0,053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36000" y="5400000"/>
            <a:ext cx="10320120" cy="612000"/>
          </a:xfrm>
          <a:prstGeom prst="roundRect">
            <a:avLst>
              <a:gd name="adj" fmla="val 50000"/>
            </a:avLst>
          </a:prstGeom>
          <a:solidFill>
            <a:srgbClr val="E3EF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000" y="5400000"/>
            <a:ext cx="9888120" cy="61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ctr"/>
            <a:r>
              <a:rPr sz="1400" b="1" i="0">
                <a:solidFill>
                  <a:srgbClr val="205A58"/>
                </a:solidFill>
                <a:latin typeface="Aptos"/>
              </a:rPr>
              <a:t>Filtre : k = 3 ou 4, chaque segment ≥ 5 % ; classement sur les 4 indices internes ; y seulement pour contrôler.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256032"/>
            <a:ext cx="960120" cy="32004"/>
          </a:xfrm>
          <a:prstGeom prst="rect">
            <a:avLst/>
          </a:prstGeom>
          <a:solidFill>
            <a:srgbClr val="D4A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Rectangle 3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03999" y="306000"/>
            <a:ext cx="540000" cy="34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1200" b="1" i="0">
                <a:solidFill>
                  <a:srgbClr val="142B3A"/>
                </a:solidFill>
                <a:latin typeface="Aptos"/>
              </a:rPr>
              <a:t>13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460800"/>
            <a:ext cx="385200" cy="32400"/>
          </a:xfrm>
          <a:prstGeom prst="rect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200" y="255600"/>
            <a:ext cx="9612000" cy="503999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2300" b="1" i="0">
                <a:solidFill>
                  <a:srgbClr val="142B3A"/>
                </a:solidFill>
                <a:latin typeface="Aptos"/>
              </a:rPr>
              <a:t>Indices externes et stabilité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3999" y="932400"/>
            <a:ext cx="11184121" cy="0"/>
          </a:xfrm>
          <a:prstGeom prst="line">
            <a:avLst/>
          </a:prstGeom>
          <a:ln w="1016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9200" y="6480000"/>
            <a:ext cx="3671999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000" b="1" i="0">
                <a:solidFill>
                  <a:srgbClr val="3D4A55"/>
                </a:solidFill>
                <a:latin typeface="Aptos"/>
              </a:rPr>
              <a:t>NDEYE SOKHNA NOKHO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36119" y="6480000"/>
            <a:ext cx="1152000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r"/>
            <a:r>
              <a:rPr sz="1000" b="0" i="0">
                <a:solidFill>
                  <a:srgbClr val="3D4A55"/>
                </a:solidFill>
                <a:latin typeface="Aptos"/>
              </a:rPr>
              <a:t>13  / 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999" y="1223541"/>
            <a:ext cx="11184119" cy="3348917"/>
          </a:xfrm>
          <a:prstGeom prst="roundRect">
            <a:avLst>
              <a:gd name="adj" fmla="val 4837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3999" y="4698000"/>
            <a:ext cx="11184119" cy="251999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200" b="0" i="1">
                <a:solidFill>
                  <a:srgbClr val="3D4A55"/>
                </a:solidFill>
                <a:latin typeface="Aptos"/>
              </a:rPr>
              <a:t>Gauche : K-means relancé avec 20 graines (ARI entre exécutions)  –  Droite : bootstrap, K-means et Ward selon 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999" y="5040000"/>
            <a:ext cx="3536039" cy="1206000"/>
          </a:xfrm>
          <a:prstGeom prst="roundRect">
            <a:avLst>
              <a:gd name="adj" fmla="val 1791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0000" y="5238000"/>
            <a:ext cx="162000" cy="1620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2000" y="5166000"/>
            <a:ext cx="2852039" cy="288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500" b="1" i="0">
                <a:solidFill>
                  <a:srgbClr val="142B3A"/>
                </a:solidFill>
                <a:latin typeface="Aptos"/>
              </a:rPr>
              <a:t>Indices externes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000" y="5454000"/>
            <a:ext cx="2852039" cy="75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350" b="0" i="0">
                <a:solidFill>
                  <a:srgbClr val="3D4A55"/>
                </a:solidFill>
                <a:latin typeface="Aptos"/>
              </a:rPr>
              <a:t>ARI, NMI, homogénéité, complétude, V-mesure : accord faible avec y (ARI &lt; 0,25).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8040" y="5040000"/>
            <a:ext cx="3536039" cy="1206000"/>
          </a:xfrm>
          <a:prstGeom prst="roundRect">
            <a:avLst>
              <a:gd name="adj" fmla="val 1791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44039" y="5238000"/>
            <a:ext cx="162000" cy="1620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6040" y="5166000"/>
            <a:ext cx="2852039" cy="288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500" b="1" i="0">
                <a:solidFill>
                  <a:srgbClr val="142B3A"/>
                </a:solidFill>
                <a:latin typeface="Aptos"/>
              </a:rPr>
              <a:t>20 graines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6040" y="5454000"/>
            <a:ext cx="2852039" cy="75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350" b="0" i="0">
                <a:solidFill>
                  <a:srgbClr val="3D4A55"/>
                </a:solidFill>
                <a:latin typeface="Aptos"/>
              </a:rPr>
              <a:t>Avec une seule initialisation, K-means varie (ARI de 0,69 à 0,88) : d'où 10 initialisations.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2079" y="5040000"/>
            <a:ext cx="3536039" cy="1206000"/>
          </a:xfrm>
          <a:prstGeom prst="roundRect">
            <a:avLst>
              <a:gd name="adj" fmla="val 1791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68079" y="5238000"/>
            <a:ext cx="162000" cy="1620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20079" y="5166000"/>
            <a:ext cx="2852039" cy="288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500" b="1" i="0">
                <a:solidFill>
                  <a:srgbClr val="142B3A"/>
                </a:solidFill>
                <a:latin typeface="Aptos"/>
              </a:rPr>
              <a:t>Bootstrap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0079" y="5454000"/>
            <a:ext cx="2852039" cy="75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350" b="0" i="0">
                <a:solidFill>
                  <a:srgbClr val="3D4A55"/>
                </a:solidFill>
                <a:latin typeface="Aptos"/>
              </a:rPr>
              <a:t>Ward reste stable à k = 4 (0,93) ; K-means chute à 0,71.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256032"/>
            <a:ext cx="960120" cy="32004"/>
          </a:xfrm>
          <a:prstGeom prst="rect">
            <a:avLst/>
          </a:prstGeom>
          <a:solidFill>
            <a:srgbClr val="D4A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stabil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99" y="1349541"/>
            <a:ext cx="10932119" cy="30969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Rectangle 3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03999" y="306000"/>
            <a:ext cx="540000" cy="34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1200" b="1" i="0">
                <a:solidFill>
                  <a:srgbClr val="142B3A"/>
                </a:solidFill>
                <a:latin typeface="Aptos"/>
              </a:rPr>
              <a:t>14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460800"/>
            <a:ext cx="385200" cy="32400"/>
          </a:xfrm>
          <a:prstGeom prst="rect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200" y="255600"/>
            <a:ext cx="9612000" cy="503999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2300" b="1" i="0">
                <a:solidFill>
                  <a:srgbClr val="142B3A"/>
                </a:solidFill>
                <a:latin typeface="Aptos"/>
              </a:rPr>
              <a:t>Le taux de souscription va de 5 % à 41 %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3999" y="932400"/>
            <a:ext cx="11184121" cy="0"/>
          </a:xfrm>
          <a:prstGeom prst="line">
            <a:avLst/>
          </a:prstGeom>
          <a:ln w="1016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9200" y="6480000"/>
            <a:ext cx="3671999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000" b="1" i="0">
                <a:solidFill>
                  <a:srgbClr val="3D4A55"/>
                </a:solidFill>
                <a:latin typeface="Aptos"/>
              </a:rPr>
              <a:t>NDEYE SOKHNA NOKHO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36119" y="6480000"/>
            <a:ext cx="1152000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r"/>
            <a:r>
              <a:rPr sz="1000" b="0" i="0">
                <a:solidFill>
                  <a:srgbClr val="3D4A55"/>
                </a:solidFill>
                <a:latin typeface="Aptos"/>
              </a:rPr>
              <a:t>14  / 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9779" y="1115999"/>
            <a:ext cx="11032560" cy="3564000"/>
          </a:xfrm>
          <a:prstGeom prst="roundRect">
            <a:avLst>
              <a:gd name="adj" fmla="val 4545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3999" y="4698000"/>
            <a:ext cx="11184119" cy="251999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200" b="0" i="1">
                <a:solidFill>
                  <a:srgbClr val="3D4A55"/>
                </a:solidFill>
                <a:latin typeface="Aptos"/>
              </a:rPr>
              <a:t>Gauche : part des clients dans chaque segment  –  Droite : taux de souscription (pointillés : moyenne 11,3 %)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999" y="5040000"/>
            <a:ext cx="5448059" cy="1206000"/>
          </a:xfrm>
          <a:prstGeom prst="roundRect">
            <a:avLst>
              <a:gd name="adj" fmla="val 1791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0000" y="5238000"/>
            <a:ext cx="162000" cy="1620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2000" y="5166000"/>
            <a:ext cx="4764059" cy="288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500" b="1" i="0">
                <a:solidFill>
                  <a:srgbClr val="142B3A"/>
                </a:solidFill>
                <a:latin typeface="Aptos"/>
              </a:rPr>
              <a:t>S1 : deux tiers des clients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000" y="5454000"/>
            <a:ext cx="4764059" cy="75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350" b="0" i="0">
                <a:solidFill>
                  <a:srgbClr val="3D4A55"/>
                </a:solidFill>
                <a:latin typeface="Aptos"/>
              </a:rPr>
              <a:t>5,4 % de souscription : le segment le moins réceptif.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0059" y="5040000"/>
            <a:ext cx="5448059" cy="1206000"/>
          </a:xfrm>
          <a:prstGeom prst="roundRect">
            <a:avLst>
              <a:gd name="adj" fmla="val 1791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6059" y="5238000"/>
            <a:ext cx="162000" cy="1620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8059" y="5166000"/>
            <a:ext cx="4764059" cy="288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500" b="1" i="0">
                <a:solidFill>
                  <a:srgbClr val="142B3A"/>
                </a:solidFill>
                <a:latin typeface="Aptos"/>
              </a:rPr>
              <a:t>S4 : 6 % des clients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8059" y="5454000"/>
            <a:ext cx="4764059" cy="75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350" b="0" i="0">
                <a:solidFill>
                  <a:srgbClr val="3D4A55"/>
                </a:solidFill>
                <a:latin typeface="Aptos"/>
              </a:rPr>
              <a:t>40,8 % de souscription : 7 fois plus que S1, 3,6 fois la moyenne.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256032"/>
            <a:ext cx="960120" cy="32004"/>
          </a:xfrm>
          <a:prstGeom prst="rect">
            <a:avLst/>
          </a:prstGeom>
          <a:solidFill>
            <a:srgbClr val="D4A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taille_souscri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79" y="1242000"/>
            <a:ext cx="10780560" cy="331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" name="Rectangle 3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03999" y="306000"/>
            <a:ext cx="540000" cy="34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1200" b="1" i="0">
                <a:solidFill>
                  <a:srgbClr val="142B3A"/>
                </a:solidFill>
                <a:latin typeface="Aptos"/>
              </a:rPr>
              <a:t>15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460800"/>
            <a:ext cx="385200" cy="32400"/>
          </a:xfrm>
          <a:prstGeom prst="rect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200" y="255600"/>
            <a:ext cx="9612000" cy="503999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2300" b="1" i="0">
                <a:solidFill>
                  <a:srgbClr val="142B3A"/>
                </a:solidFill>
                <a:latin typeface="Aptos"/>
              </a:rPr>
              <a:t>Quatre profils de clients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3999" y="932400"/>
            <a:ext cx="11184121" cy="0"/>
          </a:xfrm>
          <a:prstGeom prst="line">
            <a:avLst/>
          </a:prstGeom>
          <a:ln w="1016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9200" y="6480000"/>
            <a:ext cx="3671999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000" b="1" i="0">
                <a:solidFill>
                  <a:srgbClr val="3D4A55"/>
                </a:solidFill>
                <a:latin typeface="Aptos"/>
              </a:rPr>
              <a:t>NDEYE SOKHNA NOKHO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36119" y="6480000"/>
            <a:ext cx="1152000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r"/>
            <a:r>
              <a:rPr sz="1000" b="0" i="0">
                <a:solidFill>
                  <a:srgbClr val="3D4A55"/>
                </a:solidFill>
                <a:latin typeface="Aptos"/>
              </a:rPr>
              <a:t>15  / 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999" y="1289410"/>
            <a:ext cx="11184119" cy="3217179"/>
          </a:xfrm>
          <a:prstGeom prst="roundRect">
            <a:avLst>
              <a:gd name="adj" fmla="val 5035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3999" y="4698000"/>
            <a:ext cx="11184119" cy="251999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200" b="0" i="1">
                <a:solidFill>
                  <a:srgbClr val="3D4A55"/>
                </a:solidFill>
                <a:latin typeface="Aptos"/>
              </a:rPr>
              <a:t>Un radar par segment : chaque indicateur ramené entre 0 (segment le plus bas) et 1 (segment le plus haut)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999" y="5040000"/>
            <a:ext cx="2580029" cy="1298448"/>
          </a:xfrm>
          <a:prstGeom prst="roundRect">
            <a:avLst>
              <a:gd name="adj" fmla="val 1791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0000" y="5238000"/>
            <a:ext cx="162000" cy="1620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2000" y="5166000"/>
            <a:ext cx="1896029" cy="288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500" b="1" i="0">
                <a:solidFill>
                  <a:srgbClr val="142B3A"/>
                </a:solidFill>
                <a:latin typeface="Aptos"/>
              </a:rPr>
              <a:t>S1 : taux hauts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000" y="5454000"/>
            <a:ext cx="1896029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250" b="0" i="0">
                <a:solidFill>
                  <a:srgbClr val="3D4A55"/>
                </a:solidFill>
                <a:latin typeface="Aptos"/>
              </a:rPr>
              <a:t>Prospects jamais démarchés, Euribor ≈ 4,8 %, moitié sur fixe.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72029" y="5040000"/>
            <a:ext cx="2580029" cy="1298448"/>
          </a:xfrm>
          <a:prstGeom prst="roundRect">
            <a:avLst>
              <a:gd name="adj" fmla="val 1791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88029" y="5238000"/>
            <a:ext cx="162000" cy="1620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029" y="5166000"/>
            <a:ext cx="1896029" cy="288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500" b="1" i="0">
                <a:solidFill>
                  <a:srgbClr val="142B3A"/>
                </a:solidFill>
                <a:latin typeface="Aptos"/>
              </a:rPr>
              <a:t>S2 : taux bas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029" y="5454000"/>
            <a:ext cx="1896029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250" b="0" i="0">
                <a:solidFill>
                  <a:srgbClr val="3D4A55"/>
                </a:solidFill>
                <a:latin typeface="Aptos"/>
              </a:rPr>
              <a:t>Prospects jamais démarchés, sur mobile, les plus jeunes.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059" y="5040000"/>
            <a:ext cx="2580029" cy="1298448"/>
          </a:xfrm>
          <a:prstGeom prst="roundRect">
            <a:avLst>
              <a:gd name="adj" fmla="val 1791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56059" y="5238000"/>
            <a:ext cx="162000" cy="1620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8059" y="5166000"/>
            <a:ext cx="1896029" cy="288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500" b="1" i="0">
                <a:solidFill>
                  <a:srgbClr val="142B3A"/>
                </a:solidFill>
                <a:latin typeface="Aptos"/>
              </a:rPr>
              <a:t>S3 : démarchés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8059" y="5454000"/>
            <a:ext cx="1896029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250" b="0" i="0">
                <a:solidFill>
                  <a:srgbClr val="3D4A55"/>
                </a:solidFill>
                <a:latin typeface="Aptos"/>
              </a:rPr>
              <a:t>Tous déjà contactés ; 21 % de succès la fois précédente.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08089" y="5040000"/>
            <a:ext cx="2580029" cy="1298448"/>
          </a:xfrm>
          <a:prstGeom prst="roundRect">
            <a:avLst>
              <a:gd name="adj" fmla="val 1791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4089" y="5238000"/>
            <a:ext cx="162000" cy="1620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76089" y="5166000"/>
            <a:ext cx="1896029" cy="288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500" b="1" i="0">
                <a:solidFill>
                  <a:srgbClr val="142B3A"/>
                </a:solidFill>
                <a:latin typeface="Aptos"/>
              </a:rPr>
              <a:t>S4 : réceptifs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76089" y="5454000"/>
            <a:ext cx="1896029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250" b="0" i="0">
                <a:solidFill>
                  <a:srgbClr val="3D4A55"/>
                </a:solidFill>
                <a:latin typeface="Aptos"/>
              </a:rPr>
              <a:t>Seniors, retraités, étudiants, diplômés.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" y="256032"/>
            <a:ext cx="960120" cy="32004"/>
          </a:xfrm>
          <a:prstGeom prst="rect">
            <a:avLst/>
          </a:prstGeom>
          <a:solidFill>
            <a:srgbClr val="D4A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rad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99" y="1415410"/>
            <a:ext cx="10932119" cy="296517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Rectangle 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03999" y="306000"/>
            <a:ext cx="540000" cy="34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1200" b="1" i="0">
                <a:solidFill>
                  <a:srgbClr val="142B3A"/>
                </a:solidFill>
                <a:latin typeface="Aptos"/>
              </a:rPr>
              <a:t>16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460800"/>
            <a:ext cx="385200" cy="32400"/>
          </a:xfrm>
          <a:prstGeom prst="rect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200" y="255600"/>
            <a:ext cx="9612000" cy="503999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2300" b="1" i="0">
                <a:solidFill>
                  <a:srgbClr val="142B3A"/>
                </a:solidFill>
                <a:latin typeface="Aptos"/>
              </a:rPr>
              <a:t>Une action par segment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3999" y="932400"/>
            <a:ext cx="11184121" cy="0"/>
          </a:xfrm>
          <a:prstGeom prst="line">
            <a:avLst/>
          </a:prstGeom>
          <a:ln w="1016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9200" y="6480000"/>
            <a:ext cx="3671999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000" b="1" i="0">
                <a:solidFill>
                  <a:srgbClr val="3D4A55"/>
                </a:solidFill>
                <a:latin typeface="Aptos"/>
              </a:rPr>
              <a:t>NDEYE SOKHNA NOKHO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36119" y="6480000"/>
            <a:ext cx="1152000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r"/>
            <a:r>
              <a:rPr sz="1000" b="0" i="0">
                <a:solidFill>
                  <a:srgbClr val="3D4A55"/>
                </a:solidFill>
                <a:latin typeface="Aptos"/>
              </a:rPr>
              <a:t>16  /  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3999" y="1188000"/>
          <a:ext cx="11184119" cy="393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3896"/>
                <a:gridCol w="4473647"/>
                <a:gridCol w="3976576"/>
              </a:tblGrid>
              <a:tr h="63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Segment</a:t>
                      </a:r>
                    </a:p>
                  </a:txBody>
                  <a:tcPr marL="125999" marR="125999" anchor="ctr">
                    <a:solidFill>
                      <a:srgbClr val="14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Action recommandée</a:t>
                      </a:r>
                    </a:p>
                  </a:txBody>
                  <a:tcPr marL="125999" marR="125999" anchor="ctr">
                    <a:solidFill>
                      <a:srgbClr val="14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Justification</a:t>
                      </a:r>
                    </a:p>
                  </a:txBody>
                  <a:tcPr marL="125999" marR="125999" anchor="ctr">
                    <a:solidFill>
                      <a:srgbClr val="142B3A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B3A"/>
                          </a:solidFill>
                          <a:latin typeface="Aptos"/>
                        </a:rPr>
                        <a:t>S4  Profils réceptifs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Les appeler en premier, avec les conseillers les plus expérimentés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Taux 3,6 fois la moyenne ; 1,8 appel suffit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B3A"/>
                          </a:solidFill>
                          <a:latin typeface="Aptos"/>
                        </a:rPr>
                        <a:t>S3  Déjà démarchés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Relance personnalisée selon la campagne précédente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Taux double de la moyenne ; 21 % d'anciens succès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B3A"/>
                          </a:solidFill>
                          <a:latin typeface="Aptos"/>
                        </a:rPr>
                        <a:t>S2  Prospects, taux bas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Acquisition sur mobile, en période de taux bas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Taux 1,5 fois supérieur ; 91 % joints sur mobile</a:t>
                      </a:r>
                    </a:p>
                  </a:txBody>
                  <a:tcPr marL="125999" marR="125999" anchor="ctr"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42B3A"/>
                          </a:solidFill>
                          <a:latin typeface="Aptos"/>
                        </a:rPr>
                        <a:t>S1  Prospects, taux élevés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Réduire la pression : 2 appels au plus, courriel ou SMS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42B3A"/>
                          </a:solidFill>
                          <a:latin typeface="Aptos"/>
                        </a:rPr>
                        <a:t>66 % des appels pour 32 % des souscriptions</a:t>
                      </a:r>
                    </a:p>
                  </a:txBody>
                  <a:tcPr marL="125999" marR="125999" anchor="ctr">
                    <a:solidFill>
                      <a:srgbClr val="F0ECE4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36000" y="5349240"/>
            <a:ext cx="10320120" cy="612000"/>
          </a:xfrm>
          <a:prstGeom prst="roundRect">
            <a:avLst>
              <a:gd name="adj" fmla="val 50000"/>
            </a:avLst>
          </a:prstGeom>
          <a:solidFill>
            <a:srgbClr val="E3EF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000" y="5349240"/>
            <a:ext cx="9888120" cy="61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ctr"/>
            <a:r>
              <a:rPr sz="1400" b="1" i="0">
                <a:solidFill>
                  <a:srgbClr val="205A58"/>
                </a:solidFill>
                <a:latin typeface="Aptos"/>
              </a:rPr>
              <a:t>En appelant S4, S3 puis S2 (33,6 % des clients) : 68,1 % des souscriptions, taux de réussite de 11,3 à 22,8 %.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256032"/>
            <a:ext cx="960120" cy="32004"/>
          </a:xfrm>
          <a:prstGeom prst="rect">
            <a:avLst/>
          </a:prstGeom>
          <a:solidFill>
            <a:srgbClr val="D4A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" name="Rectangle 3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03999" y="306000"/>
            <a:ext cx="540000" cy="34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1200" b="1" i="0">
                <a:solidFill>
                  <a:srgbClr val="142B3A"/>
                </a:solidFill>
                <a:latin typeface="Aptos"/>
              </a:rPr>
              <a:t>17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460800"/>
            <a:ext cx="385200" cy="32400"/>
          </a:xfrm>
          <a:prstGeom prst="rect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200" y="255600"/>
            <a:ext cx="9612000" cy="503999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2300" b="1" i="0">
                <a:solidFill>
                  <a:srgbClr val="142B3A"/>
                </a:solidFill>
                <a:latin typeface="Aptos"/>
              </a:rPr>
              <a:t>Une structure réelle, mais faible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3999" y="932400"/>
            <a:ext cx="11184121" cy="0"/>
          </a:xfrm>
          <a:prstGeom prst="line">
            <a:avLst/>
          </a:prstGeom>
          <a:ln w="1016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9200" y="6480000"/>
            <a:ext cx="3671999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000" b="1" i="0">
                <a:solidFill>
                  <a:srgbClr val="3D4A55"/>
                </a:solidFill>
                <a:latin typeface="Aptos"/>
              </a:rPr>
              <a:t>NDEYE SOKHNA NOKHO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36119" y="6480000"/>
            <a:ext cx="1152000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r"/>
            <a:r>
              <a:rPr sz="1000" b="0" i="0">
                <a:solidFill>
                  <a:srgbClr val="3D4A55"/>
                </a:solidFill>
                <a:latin typeface="Aptos"/>
              </a:rPr>
              <a:t>17  /  20</a:t>
            </a:r>
          </a:p>
        </p:txBody>
      </p:sp>
      <p:sp>
        <p:nvSpPr>
          <p:cNvPr id="8" name="Oval 7"/>
          <p:cNvSpPr/>
          <p:nvPr/>
        </p:nvSpPr>
        <p:spPr>
          <a:xfrm>
            <a:off x="684000" y="1224000"/>
            <a:ext cx="576000" cy="576000"/>
          </a:xfrm>
          <a:prstGeom prst="ellipse">
            <a:avLst/>
          </a:prstGeom>
          <a:solidFill>
            <a:srgbClr val="14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4000" y="1224000"/>
            <a:ext cx="576000" cy="576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4000" y="1188000"/>
            <a:ext cx="9900000" cy="342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900" b="1" i="0">
                <a:solidFill>
                  <a:srgbClr val="142B3A"/>
                </a:solidFill>
                <a:latin typeface="Aptos"/>
              </a:rPr>
              <a:t>Les segments se chevauchent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4000" y="1548000"/>
            <a:ext cx="9900000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400" b="0" i="0">
                <a:solidFill>
                  <a:srgbClr val="3D4A55"/>
                </a:solidFill>
                <a:latin typeface="Aptos"/>
              </a:rPr>
              <a:t>Silhouettes autour de 0,2, comme l'annonçaient t-SNE et UMAP.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84000" y="2250000"/>
            <a:ext cx="10104120" cy="0"/>
          </a:xfrm>
          <a:prstGeom prst="line">
            <a:avLst/>
          </a:prstGeom>
          <a:ln w="1016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84000" y="2501999"/>
            <a:ext cx="576000" cy="576000"/>
          </a:xfrm>
          <a:prstGeom prst="ellipse">
            <a:avLst/>
          </a:prstGeom>
          <a:solidFill>
            <a:srgbClr val="14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501999"/>
            <a:ext cx="576000" cy="576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4000" y="2466000"/>
            <a:ext cx="9900000" cy="342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900" b="1" i="0">
                <a:solidFill>
                  <a:srgbClr val="142B3A"/>
                </a:solidFill>
                <a:latin typeface="Aptos"/>
              </a:rPr>
              <a:t>S1 et S2 dépendent du contexte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4000" y="2826000"/>
            <a:ext cx="9900000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400" b="0" i="0">
                <a:solidFill>
                  <a:srgbClr val="3D4A55"/>
                </a:solidFill>
                <a:latin typeface="Aptos"/>
              </a:rPr>
              <a:t>Ils se distinguent par la période du contact plus que par le client.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84000" y="3527999"/>
            <a:ext cx="10104120" cy="0"/>
          </a:xfrm>
          <a:prstGeom prst="line">
            <a:avLst/>
          </a:prstGeom>
          <a:ln w="1016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84000" y="3779999"/>
            <a:ext cx="576000" cy="5760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4000" y="3779999"/>
            <a:ext cx="576000" cy="576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4000" y="3743999"/>
            <a:ext cx="9900000" cy="342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900" b="1" i="0">
                <a:solidFill>
                  <a:srgbClr val="142B3A"/>
                </a:solidFill>
                <a:latin typeface="Aptos"/>
              </a:rPr>
              <a:t>Des données incomplètes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4000" y="4103999"/>
            <a:ext cx="9900000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400" b="0" i="0">
                <a:solidFill>
                  <a:srgbClr val="3D4A55"/>
                </a:solidFill>
                <a:latin typeface="Aptos"/>
              </a:rPr>
              <a:t>Ni revenu, ni solde, ni ancienneté dans le fichier.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584000" y="4806000"/>
            <a:ext cx="10104120" cy="0"/>
          </a:xfrm>
          <a:prstGeom prst="line">
            <a:avLst/>
          </a:prstGeom>
          <a:ln w="1016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84000" y="5058000"/>
            <a:ext cx="576000" cy="576000"/>
          </a:xfrm>
          <a:prstGeom prst="ellipse">
            <a:avLst/>
          </a:prstGeom>
          <a:solidFill>
            <a:srgbClr val="14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4000" y="5058000"/>
            <a:ext cx="576000" cy="576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4000" y="5022000"/>
            <a:ext cx="9900000" cy="342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900" b="1" i="0">
                <a:solidFill>
                  <a:srgbClr val="142B3A"/>
                </a:solidFill>
                <a:latin typeface="Aptos"/>
              </a:rPr>
              <a:t>k = 4 est un choix métier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4000" y="5382000"/>
            <a:ext cx="9900000" cy="5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400" b="0" i="0">
                <a:solidFill>
                  <a:srgbClr val="3D4A55"/>
                </a:solidFill>
                <a:latin typeface="Aptos"/>
              </a:rPr>
              <a:t>La structure la plus nette reste à deux groupes.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" y="256032"/>
            <a:ext cx="960120" cy="32004"/>
          </a:xfrm>
          <a:prstGeom prst="rect">
            <a:avLst/>
          </a:prstGeom>
          <a:solidFill>
            <a:srgbClr val="D4A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" name="Rectangle 4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03999" y="306000"/>
            <a:ext cx="540000" cy="34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1200" b="1" i="0">
                <a:solidFill>
                  <a:srgbClr val="142B3A"/>
                </a:solidFill>
                <a:latin typeface="Aptos"/>
              </a:rPr>
              <a:t>18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460800"/>
            <a:ext cx="385200" cy="32400"/>
          </a:xfrm>
          <a:prstGeom prst="rect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200" y="255600"/>
            <a:ext cx="8460000" cy="503999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2300" b="1" i="0">
                <a:solidFill>
                  <a:srgbClr val="142B3A"/>
                </a:solidFill>
                <a:latin typeface="Aptos"/>
              </a:rPr>
              <a:t>Extensions réalisées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3999" y="932400"/>
            <a:ext cx="11184121" cy="0"/>
          </a:xfrm>
          <a:prstGeom prst="line">
            <a:avLst/>
          </a:prstGeom>
          <a:ln w="1016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1040120" y="352800"/>
            <a:ext cx="648000" cy="309600"/>
          </a:xfrm>
          <a:prstGeom prst="roundRect">
            <a:avLst>
              <a:gd name="adj" fmla="val 50000"/>
            </a:avLst>
          </a:prstGeom>
          <a:solidFill>
            <a:srgbClr val="142B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0120" y="352800"/>
            <a:ext cx="648000" cy="3096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rIns="18000" tIns="7200" bIns="72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BONUS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9200" y="6480000"/>
            <a:ext cx="3671999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000" b="1" i="0">
                <a:solidFill>
                  <a:srgbClr val="3D4A55"/>
                </a:solidFill>
                <a:latin typeface="Aptos"/>
              </a:rPr>
              <a:t>NDEYE SOKHNA NOKHO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36119" y="6480000"/>
            <a:ext cx="1152000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r"/>
            <a:r>
              <a:rPr sz="1000" b="0" i="0">
                <a:solidFill>
                  <a:srgbClr val="3D4A55"/>
                </a:solidFill>
                <a:latin typeface="Aptos"/>
              </a:rPr>
              <a:t>18  /  20</a:t>
            </a:r>
          </a:p>
        </p:txBody>
      </p:sp>
      <p:sp>
        <p:nvSpPr>
          <p:cNvPr id="10" name="Oval 9"/>
          <p:cNvSpPr/>
          <p:nvPr/>
        </p:nvSpPr>
        <p:spPr>
          <a:xfrm>
            <a:off x="1168515" y="1332000"/>
            <a:ext cx="1224000" cy="1224000"/>
          </a:xfrm>
          <a:prstGeom prst="ellipse">
            <a:avLst/>
          </a:prstGeom>
          <a:solidFill>
            <a:srgbClr val="14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agnifying-glass_142B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995" y="1662480"/>
            <a:ext cx="563040" cy="563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3999" y="2772000"/>
            <a:ext cx="2553029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900" b="1" i="0">
                <a:solidFill>
                  <a:srgbClr val="142B3A"/>
                </a:solidFill>
                <a:latin typeface="Aptos"/>
              </a:rPr>
              <a:t>Clients atypiques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3999" y="3168000"/>
            <a:ext cx="2553029" cy="57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400" b="0" i="0">
                <a:solidFill>
                  <a:srgbClr val="3D4A55"/>
                </a:solidFill>
                <a:latin typeface="Aptos"/>
              </a:rPr>
              <a:t>DBSCAN + Isolation Forest : près de 50 % de souscription</a:t>
            </a:r>
          </a:p>
        </p:txBody>
      </p:sp>
      <p:sp>
        <p:nvSpPr>
          <p:cNvPr id="14" name="Oval 13"/>
          <p:cNvSpPr/>
          <p:nvPr/>
        </p:nvSpPr>
        <p:spPr>
          <a:xfrm>
            <a:off x="4045545" y="1332000"/>
            <a:ext cx="1224000" cy="1224000"/>
          </a:xfrm>
          <a:prstGeom prst="ellipse">
            <a:avLst/>
          </a:prstGeom>
          <a:solidFill>
            <a:srgbClr val="14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ilter_142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025" y="1662480"/>
            <a:ext cx="563040" cy="563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381030" y="2772000"/>
            <a:ext cx="2553029" cy="66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900" b="1" i="0">
                <a:solidFill>
                  <a:srgbClr val="142B3A"/>
                </a:solidFill>
                <a:latin typeface="Aptos"/>
              </a:rPr>
              <a:t>Sélection de variables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1030" y="3474000"/>
            <a:ext cx="2553029" cy="57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400" b="0" i="0">
                <a:solidFill>
                  <a:srgbClr val="3D4A55"/>
                </a:solidFill>
                <a:latin typeface="Aptos"/>
              </a:rPr>
              <a:t>variance, wrapper : 3 variables reproduisent la segmentation (ARI 0,97)</a:t>
            </a:r>
          </a:p>
        </p:txBody>
      </p:sp>
      <p:sp>
        <p:nvSpPr>
          <p:cNvPr id="10" name="Oval 9"/>
          <p:cNvSpPr/>
          <p:nvPr/>
        </p:nvSpPr>
        <p:spPr>
          <a:xfrm>
            <a:off x="6923869" y="1332000"/>
            <a:ext cx="1224000" cy="1224000"/>
          </a:xfrm>
          <a:prstGeom prst="ellipse">
            <a:avLst/>
          </a:prstGeom>
          <a:solidFill>
            <a:srgbClr val="14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art-shoppin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3054" y="1662480"/>
            <a:ext cx="563040" cy="563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58059" y="2772000"/>
            <a:ext cx="2553029" cy="66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900" b="1" i="0">
                <a:solidFill>
                  <a:srgbClr val="142B3A"/>
                </a:solidFill>
                <a:latin typeface="Aptos"/>
              </a:rPr>
              <a:t>Online Retail (RFM)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8059" y="3474000"/>
            <a:ext cx="2553029" cy="57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400" b="0" i="0">
                <a:solidFill>
                  <a:srgbClr val="3D4A55"/>
                </a:solidFill>
                <a:latin typeface="Aptos"/>
              </a:rPr>
              <a:t>16 % de Champions font 65 % du chiffre d'affaires</a:t>
            </a:r>
          </a:p>
        </p:txBody>
      </p:sp>
      <p:sp>
        <p:nvSpPr>
          <p:cNvPr id="10" name="Oval 9"/>
          <p:cNvSpPr/>
          <p:nvPr/>
        </p:nvSpPr>
        <p:spPr>
          <a:xfrm>
            <a:off x="9800900" y="1332000"/>
            <a:ext cx="1224000" cy="1224000"/>
          </a:xfrm>
          <a:prstGeom prst="ellipse">
            <a:avLst/>
          </a:prstGeom>
          <a:solidFill>
            <a:srgbClr val="14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aptop-code_142B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0084" y="1662480"/>
            <a:ext cx="563040" cy="563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35090" y="2772000"/>
            <a:ext cx="2553029" cy="66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900" b="1" i="0">
                <a:solidFill>
                  <a:srgbClr val="142B3A"/>
                </a:solidFill>
                <a:latin typeface="Aptos"/>
              </a:rPr>
              <a:t>Application Streamlit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5090" y="3474000"/>
            <a:ext cx="2553029" cy="57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400" b="0" i="0">
                <a:solidFill>
                  <a:srgbClr val="3D4A55"/>
                </a:solidFill>
                <a:latin typeface="Aptos"/>
              </a:rPr>
              <a:t>affecter un client ou un fichier à un segment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6000" y="4536000"/>
            <a:ext cx="10320120" cy="684000"/>
          </a:xfrm>
          <a:prstGeom prst="roundRect">
            <a:avLst>
              <a:gd name="adj" fmla="val 47368"/>
            </a:avLst>
          </a:prstGeom>
          <a:solidFill>
            <a:srgbClr val="E3EF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52000" y="4536000"/>
            <a:ext cx="9888120" cy="684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ctr"/>
            <a:r>
              <a:rPr sz="1400" b="1" i="0">
                <a:solidFill>
                  <a:srgbClr val="205A58"/>
                </a:solidFill>
                <a:latin typeface="Aptos"/>
              </a:rPr>
              <a:t>Sans le contexte économique, seul l'historique de contact forme un groupe net (silhouette 0,12).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256032"/>
            <a:ext cx="960120" cy="32004"/>
          </a:xfrm>
          <a:prstGeom prst="rect">
            <a:avLst/>
          </a:prstGeom>
          <a:solidFill>
            <a:srgbClr val="D4A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Rectangle 3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03999" y="306000"/>
            <a:ext cx="540000" cy="34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1200" b="1" i="0">
                <a:solidFill>
                  <a:srgbClr val="142B3A"/>
                </a:solidFill>
                <a:latin typeface="Aptos"/>
              </a:rPr>
              <a:t>19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460800"/>
            <a:ext cx="385200" cy="32400"/>
          </a:xfrm>
          <a:prstGeom prst="rect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200" y="255600"/>
            <a:ext cx="9612000" cy="503999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l"/>
            <a:r>
              <a:rPr sz="2300" b="1" i="0">
                <a:solidFill>
                  <a:srgbClr val="142B3A"/>
                </a:solidFill>
                <a:latin typeface="Aptos"/>
              </a:rPr>
              <a:t>Livrables et reproductibilité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3999" y="932400"/>
            <a:ext cx="11184121" cy="0"/>
          </a:xfrm>
          <a:prstGeom prst="line">
            <a:avLst/>
          </a:prstGeom>
          <a:ln w="1016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9200" y="6480000"/>
            <a:ext cx="3671999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000" b="1" i="0">
                <a:solidFill>
                  <a:srgbClr val="3D4A55"/>
                </a:solidFill>
                <a:latin typeface="Aptos"/>
              </a:rPr>
              <a:t>NDEYE SOKHNA NOKHO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36119" y="6480000"/>
            <a:ext cx="1152000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r"/>
            <a:r>
              <a:rPr sz="1000" b="0" i="0">
                <a:solidFill>
                  <a:srgbClr val="3D4A55"/>
                </a:solidFill>
                <a:latin typeface="Aptos"/>
              </a:rPr>
              <a:t>19  /  20</a:t>
            </a:r>
          </a:p>
        </p:txBody>
      </p:sp>
      <p:sp>
        <p:nvSpPr>
          <p:cNvPr id="8" name="Oval 7"/>
          <p:cNvSpPr/>
          <p:nvPr/>
        </p:nvSpPr>
        <p:spPr>
          <a:xfrm>
            <a:off x="1168515" y="1332000"/>
            <a:ext cx="1224000" cy="1224000"/>
          </a:xfrm>
          <a:prstGeom prst="ellipse">
            <a:avLst/>
          </a:prstGeom>
          <a:solidFill>
            <a:srgbClr val="14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ook_142B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995" y="1662480"/>
            <a:ext cx="563040" cy="563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3999" y="2772000"/>
            <a:ext cx="2553029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900" b="1" i="0">
                <a:solidFill>
                  <a:srgbClr val="142B3A"/>
                </a:solidFill>
                <a:latin typeface="Aptos"/>
              </a:rPr>
              <a:t>8 notebooks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999" y="3168000"/>
            <a:ext cx="2553029" cy="57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400" b="0" i="0">
                <a:solidFill>
                  <a:srgbClr val="3D4A55"/>
                </a:solidFill>
                <a:latin typeface="Aptos"/>
              </a:rPr>
              <a:t>un par jour, 3 pour les extensions, et projet_complet</a:t>
            </a:r>
          </a:p>
        </p:txBody>
      </p:sp>
      <p:sp>
        <p:nvSpPr>
          <p:cNvPr id="12" name="Oval 11"/>
          <p:cNvSpPr/>
          <p:nvPr/>
        </p:nvSpPr>
        <p:spPr>
          <a:xfrm>
            <a:off x="4045545" y="1332000"/>
            <a:ext cx="1224000" cy="1224000"/>
          </a:xfrm>
          <a:prstGeom prst="ellipse">
            <a:avLst/>
          </a:prstGeom>
          <a:solidFill>
            <a:srgbClr val="14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le-lines_142B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025" y="1662480"/>
            <a:ext cx="563040" cy="563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81030" y="2772000"/>
            <a:ext cx="2553029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900" b="1" i="0">
                <a:solidFill>
                  <a:srgbClr val="142B3A"/>
                </a:solidFill>
                <a:latin typeface="Aptos"/>
              </a:rPr>
              <a:t>Rapport LaTeX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1030" y="3168000"/>
            <a:ext cx="2553029" cy="57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400" b="0" i="0">
                <a:solidFill>
                  <a:srgbClr val="3D4A55"/>
                </a:solidFill>
                <a:latin typeface="Aptos"/>
              </a:rPr>
              <a:t>15 pages, de l'introduction à la conclusion</a:t>
            </a:r>
          </a:p>
        </p:txBody>
      </p:sp>
      <p:sp>
        <p:nvSpPr>
          <p:cNvPr id="8" name="Oval 7"/>
          <p:cNvSpPr/>
          <p:nvPr/>
        </p:nvSpPr>
        <p:spPr>
          <a:xfrm>
            <a:off x="6923869" y="1332000"/>
            <a:ext cx="1224000" cy="1224000"/>
          </a:xfrm>
          <a:prstGeom prst="ellipse">
            <a:avLst/>
          </a:prstGeom>
          <a:solidFill>
            <a:srgbClr val="14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ode-branch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3054" y="1662480"/>
            <a:ext cx="563040" cy="563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58059" y="2772000"/>
            <a:ext cx="2553029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900" b="1" i="0">
                <a:solidFill>
                  <a:srgbClr val="142B3A"/>
                </a:solidFill>
                <a:latin typeface="Aptos"/>
              </a:rPr>
              <a:t>Dépôt Git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8059" y="3168000"/>
            <a:ext cx="2553029" cy="57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400" b="0" i="0">
                <a:solidFill>
                  <a:srgbClr val="3D4A55"/>
                </a:solidFill>
                <a:latin typeface="Aptos"/>
              </a:rPr>
              <a:t>README, requirements.txt, graine fixée (42)</a:t>
            </a:r>
          </a:p>
        </p:txBody>
      </p:sp>
      <p:sp>
        <p:nvSpPr>
          <p:cNvPr id="8" name="Oval 7"/>
          <p:cNvSpPr/>
          <p:nvPr/>
        </p:nvSpPr>
        <p:spPr>
          <a:xfrm>
            <a:off x="9800900" y="1332000"/>
            <a:ext cx="1224000" cy="1224000"/>
          </a:xfrm>
          <a:prstGeom prst="ellipse">
            <a:avLst/>
          </a:prstGeom>
          <a:solidFill>
            <a:srgbClr val="14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gears_142B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0084" y="1662480"/>
            <a:ext cx="563040" cy="5630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135090" y="2772000"/>
            <a:ext cx="2553029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900" b="1" i="0">
                <a:solidFill>
                  <a:srgbClr val="142B3A"/>
                </a:solidFill>
                <a:latin typeface="Aptos"/>
              </a:rPr>
              <a:t>Code réutilisable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5090" y="3168000"/>
            <a:ext cx="2553029" cy="57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ctr"/>
            <a:r>
              <a:rPr sz="1400" b="0" i="0">
                <a:solidFill>
                  <a:srgbClr val="3D4A55"/>
                </a:solidFill>
                <a:latin typeface="Aptos"/>
              </a:rPr>
              <a:t>fonction de prétraitement, K-medoids, indice de Dunn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6000" y="4536000"/>
            <a:ext cx="10320120" cy="684000"/>
          </a:xfrm>
          <a:prstGeom prst="roundRect">
            <a:avLst>
              <a:gd name="adj" fmla="val 47368"/>
            </a:avLst>
          </a:prstGeom>
          <a:solidFill>
            <a:srgbClr val="E3EF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52000" y="4536000"/>
            <a:ext cx="9888120" cy="684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8000" rIns="18000" tIns="7200" bIns="7200">
            <a:spAutoFit/>
          </a:bodyPr>
          <a:lstStyle/>
          <a:p>
            <a:pPr algn="ctr"/>
            <a:r>
              <a:rPr sz="1400" b="1" i="0">
                <a:solidFill>
                  <a:srgbClr val="205A58"/>
                </a:solidFill>
                <a:latin typeface="Aptos"/>
              </a:rPr>
              <a:t>Les notebooks s'exécutent de bout en bout et redonnent les mêmes chiffres.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" y="256032"/>
            <a:ext cx="960120" cy="32004"/>
          </a:xfrm>
          <a:prstGeom prst="rect">
            <a:avLst/>
          </a:prstGeom>
          <a:solidFill>
            <a:srgbClr val="D4A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Rectangle 3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2000" y="1645200"/>
            <a:ext cx="640800" cy="640800"/>
          </a:xfrm>
          <a:prstGeom prst="ellipse">
            <a:avLst/>
          </a:prstGeom>
          <a:solidFill>
            <a:srgbClr val="D4A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600" y="684000"/>
            <a:ext cx="1044000" cy="309600"/>
          </a:xfrm>
          <a:prstGeom prst="roundRect">
            <a:avLst>
              <a:gd name="adj" fmla="val 50000"/>
            </a:avLst>
          </a:prstGeom>
          <a:solidFill>
            <a:srgbClr val="142B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600" y="684000"/>
            <a:ext cx="1044000" cy="309600"/>
          </a:xfrm>
          <a:prstGeom prst="rect">
            <a:avLst/>
          </a:prstGeom>
          <a:noFill/>
          <a:ln>
            <a:noFill/>
          </a:ln>
        </p:spPr>
        <p:txBody>
          <a:bodyPr wrap="none" anchor="ctr" lIns="18000" rIns="18000" tIns="7200" bIns="72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600" y="1188000"/>
            <a:ext cx="6408000" cy="503999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2800" b="1" i="0">
                <a:solidFill>
                  <a:srgbClr val="142B3A"/>
                </a:solidFill>
                <a:latin typeface="Aptos"/>
              </a:rPr>
              <a:t>Un tiers des clients concentre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600" y="1728000"/>
            <a:ext cx="6408000" cy="93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2800" b="1" i="0">
                <a:solidFill>
                  <a:srgbClr val="247C78"/>
                </a:solidFill>
                <a:latin typeface="Aptos"/>
              </a:rPr>
              <a:t>deux tiers des souscriptions.</a:t>
            </a:r>
          </a:p>
        </p:txBody>
      </p:sp>
      <p:sp>
        <p:nvSpPr>
          <p:cNvPr id="10" name="Oval 9"/>
          <p:cNvSpPr/>
          <p:nvPr/>
        </p:nvSpPr>
        <p:spPr>
          <a:xfrm>
            <a:off x="827999" y="3096000"/>
            <a:ext cx="151200" cy="1512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6000" y="3024000"/>
            <a:ext cx="5940000" cy="324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500" b="0" i="0">
                <a:solidFill>
                  <a:srgbClr val="142B3A"/>
                </a:solidFill>
                <a:latin typeface="Aptos"/>
              </a:rPr>
              <a:t>La distance et la standardisation changent les groupes</a:t>
            </a:r>
          </a:p>
        </p:txBody>
      </p:sp>
      <p:sp>
        <p:nvSpPr>
          <p:cNvPr id="12" name="Oval 11"/>
          <p:cNvSpPr/>
          <p:nvPr/>
        </p:nvSpPr>
        <p:spPr>
          <a:xfrm>
            <a:off x="827999" y="3546000"/>
            <a:ext cx="151200" cy="1512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6000" y="3474000"/>
            <a:ext cx="5940000" cy="324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500" b="0" i="0">
                <a:solidFill>
                  <a:srgbClr val="142B3A"/>
                </a:solidFill>
                <a:latin typeface="Aptos"/>
              </a:rPr>
              <a:t>Un indice ne se lit jamais sans la taille des clusters</a:t>
            </a:r>
          </a:p>
        </p:txBody>
      </p:sp>
      <p:sp>
        <p:nvSpPr>
          <p:cNvPr id="14" name="Oval 13"/>
          <p:cNvSpPr/>
          <p:nvPr/>
        </p:nvSpPr>
        <p:spPr>
          <a:xfrm>
            <a:off x="827999" y="3996000"/>
            <a:ext cx="151200" cy="151200"/>
          </a:xfrm>
          <a:prstGeom prst="ellipse">
            <a:avLst/>
          </a:prstGeom>
          <a:solidFill>
            <a:srgbClr val="247C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6000" y="3924000"/>
            <a:ext cx="5940000" cy="324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500" b="0" i="0">
                <a:solidFill>
                  <a:srgbClr val="142B3A"/>
                </a:solidFill>
                <a:latin typeface="Aptos"/>
              </a:rPr>
              <a:t>Le nombre de groupes : un compromis données / métier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4400" y="4536000"/>
            <a:ext cx="2653200" cy="0"/>
          </a:xfrm>
          <a:prstGeom prst="line">
            <a:avLst/>
          </a:prstGeom>
          <a:ln w="1905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600" y="4680000"/>
            <a:ext cx="4320000" cy="684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3600" b="1" i="0">
                <a:solidFill>
                  <a:srgbClr val="142B3A"/>
                </a:solidFill>
                <a:latin typeface="Aptos"/>
              </a:rPr>
              <a:t>Merci.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00" y="5400000"/>
            <a:ext cx="6300000" cy="324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500" b="0" i="0">
                <a:solidFill>
                  <a:srgbClr val="142B3A"/>
                </a:solidFill>
                <a:latin typeface="Aptos"/>
              </a:rPr>
              <a:t>Questions  –  github.com/Nokho11/segmentation-bancaire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200" y="6480000"/>
            <a:ext cx="3671999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l"/>
            <a:r>
              <a:rPr sz="1000" b="1" i="0">
                <a:solidFill>
                  <a:srgbClr val="142B3A"/>
                </a:solidFill>
                <a:latin typeface="Aptos"/>
              </a:rPr>
              <a:t>NDEYE SOKHNA NOKHO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36119" y="6480000"/>
            <a:ext cx="1152000" cy="2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8000" rIns="18000" tIns="7200" bIns="7200">
            <a:spAutoFit/>
          </a:bodyPr>
          <a:lstStyle/>
          <a:p>
            <a:pPr algn="r"/>
            <a:r>
              <a:rPr sz="1000" b="0" i="0">
                <a:solidFill>
                  <a:srgbClr val="142B3A"/>
                </a:solidFill>
                <a:latin typeface="Aptos"/>
              </a:rPr>
              <a:t>20  /  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256032"/>
            <a:ext cx="960120" cy="32004"/>
          </a:xfrm>
          <a:prstGeom prst="rect">
            <a:avLst/>
          </a:prstGeom>
          <a:solidFill>
            <a:srgbClr val="D4A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63640"/>
      </a:dk2>
      <a:lt2>
        <a:srgbClr val="F5F3ED"/>
      </a:lt2>
      <a:accent1>
        <a:srgbClr val="247C78"/>
      </a:accent1>
      <a:accent2>
        <a:srgbClr val="142B3A"/>
      </a:accent2>
      <a:accent3>
        <a:srgbClr val="D4A85F"/>
      </a:accent3>
      <a:accent4>
        <a:srgbClr val="205A58"/>
      </a:accent4>
      <a:accent5>
        <a:srgbClr val="E3EFEC"/>
      </a:accent5>
      <a:accent6>
        <a:srgbClr val="667783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63640"/>
      </a:dk2>
      <a:lt2>
        <a:srgbClr val="F5F3ED"/>
      </a:lt2>
      <a:accent1>
        <a:srgbClr val="247C78"/>
      </a:accent1>
      <a:accent2>
        <a:srgbClr val="142B3A"/>
      </a:accent2>
      <a:accent3>
        <a:srgbClr val="D4A85F"/>
      </a:accent3>
      <a:accent4>
        <a:srgbClr val="205A58"/>
      </a:accent4>
      <a:accent5>
        <a:srgbClr val="E3EFEC"/>
      </a:accent5>
      <a:accent6>
        <a:srgbClr val="667783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Segmentation de clientèle bancaire</dc:title>
  <dc:subject/>
  <dc:creator>Ndeye Sokhna NOKHO</dc:creator>
  <cp:keywords/>
  <dc:description/>
  <cp:lastModifiedBy>Ndeye Sokhna NOKHO</cp:lastModifiedBy>
  <cp:revision>1</cp:revision>
  <dcterms:created xsi:type="dcterms:W3CDTF">2026-10-09T23:30:00Z</dcterms:created>
  <dcterms:modified xsi:type="dcterms:W3CDTF">2026-10-09T23:30:00Z</dcterms:modified>
  <cp:category/>
</cp:coreProperties>
</file>