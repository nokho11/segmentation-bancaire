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dre du projet" id="{c78bec2a-cafc-a714-4ab6-e1266056f760}">
          <p14:sldIdLst>
            <p14:sldId id="256"/>
            <p14:sldId id="257"/>
            <p14:sldId id="258"/>
          </p14:sldIdLst>
        </p14:section>
        <p14:section name="Données et distances" id="{23c5d9ff-6090-b7fa-d7f4-54318b4bc5bb}">
          <p14:sldIdLst>
            <p14:sldId id="259"/>
            <p14:sldId id="260"/>
          </p14:sldIdLst>
        </p14:section>
        <p14:section name="Méthodes et résultats" id="{9cb98e1b-542f-eb14-1e8c-f19bff2a0d8c}">
          <p14:sldIdLst>
            <p14:sldId id="261"/>
            <p14:sldId id="262"/>
            <p14:sldId id="263"/>
            <p14:sldId id="264"/>
          </p14:sldIdLst>
        </p14:section>
        <p14:section name="Validation et décision" id="{70d27e93-f2cd-d849-5639-12b390b2af0f}">
          <p14:sldIdLst>
            <p14:sldId id="265"/>
            <p14:sldId id="266"/>
          </p14:sldIdLst>
        </p14:section>
        <p14:section name="Segments et recommandations" id="{dbeafc4c-84be-af65-27e2-7d4d59d5717d}">
          <p14:sldIdLst>
            <p14:sldId id="267"/>
            <p14:sldId id="268"/>
            <p14:sldId id="269"/>
          </p14:sldIdLst>
        </p14:section>
        <p14:section name="Limites et conclusion" id="{a4c6ca03-0673-5fd4-67b5-c45ab6d0d414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2545"/>
                </a:solidFill>
                <a:latin typeface="+mn-lt"/>
              </a:rPr>
              <a:t>Poids de chaque variable dans la distance euclidienne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Sans standardisation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2545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age</c:v>
                  </c:pt>
                  <c:pt idx="1">
                    <c:v>cons.conf.idx</c:v>
                  </c:pt>
                  <c:pt idx="2">
                    <c:v>campaign</c:v>
                  </c:pt>
                  <c:pt idx="3">
                    <c:v>euribor3m</c:v>
                  </c:pt>
                  <c:pt idx="4">
                    <c:v>job</c:v>
                  </c:pt>
                  <c:pt idx="5">
                    <c:v>education</c:v>
                  </c:pt>
                  <c:pt idx="6">
                    <c:v>marital</c:v>
                  </c:pt>
                  <c:pt idx="7">
                    <c:v>cons.price.idx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77</c:v>
                </c:pt>
                <c:pt idx="1">
                  <c:v>14.9</c:v>
                </c:pt>
                <c:pt idx="2">
                  <c:v>3.4</c:v>
                </c:pt>
                <c:pt idx="3">
                  <c:v>2.1</c:v>
                </c:pt>
                <c:pt idx="4">
                  <c:v>0.6</c:v>
                </c:pt>
                <c:pt idx="5">
                  <c:v>0.5</c:v>
                </c:pt>
                <c:pt idx="6">
                  <c:v>0.4</c:v>
                </c:pt>
                <c:pt idx="7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Avec standardisation</c:v>
                </c:pt>
              </c:strCache>
            </c:strRef>
          </c:tx>
          <c:spPr>
            <a:solidFill>
              <a:srgbClr val="0B2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2545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age</c:v>
                  </c:pt>
                  <c:pt idx="1">
                    <c:v>cons.conf.idx</c:v>
                  </c:pt>
                  <c:pt idx="2">
                    <c:v>campaign</c:v>
                  </c:pt>
                  <c:pt idx="3">
                    <c:v>euribor3m</c:v>
                  </c:pt>
                  <c:pt idx="4">
                    <c:v>job</c:v>
                  </c:pt>
                  <c:pt idx="5">
                    <c:v>education</c:v>
                  </c:pt>
                  <c:pt idx="6">
                    <c:v>marital</c:v>
                  </c:pt>
                  <c:pt idx="7">
                    <c:v>cons.price.idx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10.9</c:v>
                </c:pt>
                <c:pt idx="1">
                  <c:v>10.6</c:v>
                </c:pt>
                <c:pt idx="2">
                  <c:v>9.8</c:v>
                </c:pt>
                <c:pt idx="3">
                  <c:v>10.5</c:v>
                </c:pt>
                <c:pt idx="4">
                  <c:v>8.9</c:v>
                </c:pt>
                <c:pt idx="5">
                  <c:v>8.3</c:v>
                </c:pt>
                <c:pt idx="6">
                  <c:v>5.7</c:v>
                </c:pt>
                <c:pt idx="7">
                  <c:v>10.7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B254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5DC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B254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2545"/>
                </a:solidFill>
                <a:latin typeface="+mn-lt"/>
              </a:rPr>
              <a:t>K-means : inertie intra-classe selon k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Inertie</c:v>
                </c:pt>
              </c:strCache>
            </c:strRef>
          </c:tx>
          <c:spPr>
            <a:solidFill>
              <a:srgbClr val="0B2545"/>
            </a:solidFill>
            <a:ln w="28575" cap="flat">
              <a:solidFill>
                <a:srgbClr val="0B2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2545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B2545"/>
              </a:solidFill>
              <a:ln w="9525" cap="flat">
                <a:solidFill>
                  <a:srgbClr val="0B2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</c:v>
                  </c:pt>
                  <c:pt idx="1">
                    <c:v>3</c:v>
                  </c:pt>
                  <c:pt idx="2">
                    <c:v>4</c:v>
                  </c:pt>
                  <c:pt idx="3">
                    <c:v>5</c:v>
                  </c:pt>
                  <c:pt idx="4">
                    <c:v>6</c:v>
                  </c:pt>
                  <c:pt idx="5">
                    <c:v>7</c:v>
                  </c:pt>
                  <c:pt idx="6">
                    <c:v>8</c:v>
                  </c:pt>
                  <c:pt idx="7">
                    <c:v>9</c:v>
                  </c:pt>
                  <c:pt idx="8">
                    <c:v>10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309128</c:v>
                </c:pt>
                <c:pt idx="1">
                  <c:v>279987</c:v>
                </c:pt>
                <c:pt idx="2">
                  <c:v>256652</c:v>
                </c:pt>
                <c:pt idx="3">
                  <c:v>238401</c:v>
                </c:pt>
                <c:pt idx="4">
                  <c:v>221919</c:v>
                </c:pt>
                <c:pt idx="5">
                  <c:v>213187</c:v>
                </c:pt>
                <c:pt idx="6">
                  <c:v>204976</c:v>
                </c:pt>
                <c:pt idx="7">
                  <c:v>199660</c:v>
                </c:pt>
                <c:pt idx="8">
                  <c:v>194926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B254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180000"/>
        </c:scaling>
        <c:delete val="0"/>
        <c:axPos val="l"/>
        <c:majorGridlines>
          <c:spPr>
            <a:ln w="9525" cap="flat">
              <a:solidFill>
                <a:srgbClr val="D5DCE5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2545"/>
                </a:solidFill>
                <a:latin typeface="+mn-lt"/>
              </a:rPr>
              <a:t>K-means : silhouette moyenne selon k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Silhouette</c:v>
                </c:pt>
              </c:strCache>
            </c:strRef>
          </c:tx>
          <c:spPr>
            <a:solidFill>
              <a:srgbClr val="F2A900"/>
            </a:solidFill>
            <a:ln w="28575" cap="flat">
              <a:solidFill>
                <a:srgbClr val="F2A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2545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2A900"/>
              </a:solidFill>
              <a:ln w="9525" cap="flat">
                <a:solidFill>
                  <a:srgbClr val="F2A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</c:v>
                  </c:pt>
                  <c:pt idx="1">
                    <c:v>3</c:v>
                  </c:pt>
                  <c:pt idx="2">
                    <c:v>4</c:v>
                  </c:pt>
                  <c:pt idx="3">
                    <c:v>5</c:v>
                  </c:pt>
                  <c:pt idx="4">
                    <c:v>6</c:v>
                  </c:pt>
                  <c:pt idx="5">
                    <c:v>7</c:v>
                  </c:pt>
                  <c:pt idx="6">
                    <c:v>8</c:v>
                  </c:pt>
                  <c:pt idx="7">
                    <c:v>9</c:v>
                  </c:pt>
                  <c:pt idx="8">
                    <c:v>10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0.237</c:v>
                </c:pt>
                <c:pt idx="1">
                  <c:v>0.192</c:v>
                </c:pt>
                <c:pt idx="2">
                  <c:v>0.217</c:v>
                </c:pt>
                <c:pt idx="3">
                  <c:v>0.222</c:v>
                </c:pt>
                <c:pt idx="4">
                  <c:v>0.149</c:v>
                </c:pt>
                <c:pt idx="5">
                  <c:v>0.153</c:v>
                </c:pt>
                <c:pt idx="6">
                  <c:v>0.134</c:v>
                </c:pt>
                <c:pt idx="7">
                  <c:v>0.13</c:v>
                </c:pt>
                <c:pt idx="8">
                  <c:v>0.13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B254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"/>
          <c:min val="0.1"/>
        </c:scaling>
        <c:delete val="0"/>
        <c:axPos val="l"/>
        <c:majorGridlines>
          <c:spPr>
            <a:ln w="9525" cap="flat">
              <a:solidFill>
                <a:srgbClr val="D5DCE5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2545"/>
                </a:solidFill>
                <a:latin typeface="+mn-lt"/>
              </a:rPr>
              <a:t>Stabilité bootstrap : ARI moyen selon k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K-means</c:v>
                </c:pt>
              </c:strCache>
            </c:strRef>
          </c:tx>
          <c:spPr>
            <a:solidFill>
              <a:srgbClr val="8DA9C4"/>
            </a:solidFill>
            <a:ln w="28575" cap="flat">
              <a:solidFill>
                <a:srgbClr val="8DA9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2545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DA9C4"/>
              </a:solidFill>
              <a:ln w="9525" cap="flat">
                <a:solidFill>
                  <a:srgbClr val="8DA9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</c:v>
                  </c:pt>
                  <c:pt idx="1">
                    <c:v>3</c:v>
                  </c:pt>
                  <c:pt idx="2">
                    <c:v>4</c:v>
                  </c:pt>
                  <c:pt idx="3">
                    <c:v>5</c:v>
                  </c:pt>
                  <c:pt idx="4">
                    <c:v>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0.997</c:v>
                </c:pt>
                <c:pt idx="1">
                  <c:v>0.976</c:v>
                </c:pt>
                <c:pt idx="2">
                  <c:v>0.715</c:v>
                </c:pt>
                <c:pt idx="3">
                  <c:v>0.648</c:v>
                </c:pt>
                <c:pt idx="4">
                  <c:v>0.971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CAH Ward</c:v>
                </c:pt>
              </c:strCache>
            </c:strRef>
          </c:tx>
          <c:spPr>
            <a:solidFill>
              <a:srgbClr val="0B2545"/>
            </a:solidFill>
            <a:ln w="28575" cap="flat">
              <a:solidFill>
                <a:srgbClr val="0B2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2545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B2545"/>
              </a:solidFill>
              <a:ln w="9525" cap="flat">
                <a:solidFill>
                  <a:srgbClr val="0B2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</c:v>
                  </c:pt>
                  <c:pt idx="1">
                    <c:v>3</c:v>
                  </c:pt>
                  <c:pt idx="2">
                    <c:v>4</c:v>
                  </c:pt>
                  <c:pt idx="3">
                    <c:v>5</c:v>
                  </c:pt>
                  <c:pt idx="4">
                    <c:v>6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0.987</c:v>
                </c:pt>
                <c:pt idx="1">
                  <c:v>0.956</c:v>
                </c:pt>
                <c:pt idx="2">
                  <c:v>0.932</c:v>
                </c:pt>
                <c:pt idx="3">
                  <c:v>0.861</c:v>
                </c:pt>
                <c:pt idx="4">
                  <c:v>0.713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B254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9525" cap="flat">
              <a:solidFill>
                <a:srgbClr val="D5DCE5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B254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2545"/>
                </a:solidFill>
                <a:latin typeface="+mn-lt"/>
              </a:rPr>
              <a:t>Taux de souscription par segment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souscription (%)</c:v>
                </c:pt>
              </c:strCache>
            </c:strRef>
          </c:tx>
          <c:spPr>
            <a:solidFill>
              <a:srgbClr val="0B254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254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5.4</c:v>
                </c:pt>
                <c:pt idx="1">
                  <c:v>17</c:v>
                </c:pt>
                <c:pt idx="2">
                  <c:v>22.3</c:v>
                </c:pt>
                <c:pt idx="3">
                  <c:v>40.8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B254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9525" cap="flat">
              <a:solidFill>
                <a:srgbClr val="D5DC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2545"/>
                </a:solidFill>
                <a:latin typeface="+mn-lt"/>
              </a:rPr>
              <a:t>Indicateurs ramenés entre 0 et 1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5C6B80"/>
            </a:solidFill>
            <a:ln w="28575" cap="flat">
              <a:solidFill>
                <a:srgbClr val="5C6B80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C6B80"/>
              </a:solidFill>
              <a:ln w="9525" cap="flat">
                <a:solidFill>
                  <a:srgbClr val="5C6B8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Âge</c:v>
                  </c:pt>
                  <c:pt idx="1">
                    <c:v>Nb d'appels</c:v>
                  </c:pt>
                  <c:pt idx="2">
                    <c:v>Contacts antérieurs</c:v>
                  </c:pt>
                  <c:pt idx="3">
                    <c:v>Euribor</c:v>
                  </c:pt>
                  <c:pt idx="4">
                    <c:v>Confiance ménages</c:v>
                  </c:pt>
                  <c:pt idx="5">
                    <c:v>% mobile</c:v>
                  </c:pt>
                  <c:pt idx="6">
                    <c:v>% retraités ou étudiants</c:v>
                  </c:pt>
                  <c:pt idx="7">
                    <c:v>% défaut inconnu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0.31</c:v>
                </c:pt>
                <c:pt idx="1">
                  <c:v>1</c:v>
                </c:pt>
                <c:pt idx="2">
                  <c:v>0</c:v>
                </c:pt>
                <c:pt idx="3">
                  <c:v>1</c:v>
                </c:pt>
                <c:pt idx="4">
                  <c:v>0.43</c:v>
                </c:pt>
                <c:pt idx="5">
                  <c:v>0</c:v>
                </c:pt>
                <c:pt idx="6">
                  <c:v>0</c:v>
                </c:pt>
                <c:pt idx="7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S2</c:v>
                </c:pt>
              </c:strCache>
            </c:strRef>
          </c:tx>
          <c:spPr>
            <a:solidFill>
              <a:srgbClr val="8DA9C4"/>
            </a:solidFill>
            <a:ln w="28575" cap="flat">
              <a:solidFill>
                <a:srgbClr val="8DA9C4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8DA9C4"/>
              </a:solidFill>
              <a:ln w="9525" cap="flat">
                <a:solidFill>
                  <a:srgbClr val="8DA9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Âge</c:v>
                  </c:pt>
                  <c:pt idx="1">
                    <c:v>Nb d'appels</c:v>
                  </c:pt>
                  <c:pt idx="2">
                    <c:v>Contacts antérieurs</c:v>
                  </c:pt>
                  <c:pt idx="3">
                    <c:v>Euribor</c:v>
                  </c:pt>
                  <c:pt idx="4">
                    <c:v>Confiance ménages</c:v>
                  </c:pt>
                  <c:pt idx="5">
                    <c:v>% mobile</c:v>
                  </c:pt>
                  <c:pt idx="6">
                    <c:v>% retraités ou étudiants</c:v>
                  </c:pt>
                  <c:pt idx="7">
                    <c:v>% défaut inconnu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0.48</c:v>
                </c:pt>
                <c:pt idx="2">
                  <c:v>0</c:v>
                </c:pt>
                <c:pt idx="3">
                  <c:v>0.13</c:v>
                </c:pt>
                <c:pt idx="4">
                  <c:v>0</c:v>
                </c:pt>
                <c:pt idx="5">
                  <c:v>0.96</c:v>
                </c:pt>
                <c:pt idx="6">
                  <c:v>0.16</c:v>
                </c:pt>
                <c:pt idx="7">
                  <c:v>0.44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</c:v>
                </c:pt>
              </c:strCache>
            </c:strRef>
          </c:tx>
          <c:spPr>
            <a:solidFill>
              <a:srgbClr val="0B2545"/>
            </a:solidFill>
            <a:ln w="28575" cap="flat">
              <a:solidFill>
                <a:srgbClr val="0B254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0B2545"/>
              </a:solidFill>
              <a:ln w="9525" cap="flat">
                <a:solidFill>
                  <a:srgbClr val="0B2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Âge</c:v>
                  </c:pt>
                  <c:pt idx="1">
                    <c:v>Nb d'appels</c:v>
                  </c:pt>
                  <c:pt idx="2">
                    <c:v>Contacts antérieurs</c:v>
                  </c:pt>
                  <c:pt idx="3">
                    <c:v>Euribor</c:v>
                  </c:pt>
                  <c:pt idx="4">
                    <c:v>Confiance ménages</c:v>
                  </c:pt>
                  <c:pt idx="5">
                    <c:v>% mobile</c:v>
                  </c:pt>
                  <c:pt idx="6">
                    <c:v>% retraités ou étudiants</c:v>
                  </c:pt>
                  <c:pt idx="7">
                    <c:v>% défaut inconnu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0.2</c:v>
                </c:pt>
                <c:pt idx="1">
                  <c:v>0.23</c:v>
                </c:pt>
                <c:pt idx="2">
                  <c:v>1</c:v>
                </c:pt>
                <c:pt idx="3">
                  <c:v>0.21</c:v>
                </c:pt>
                <c:pt idx="4">
                  <c:v>0.14</c:v>
                </c:pt>
                <c:pt idx="5">
                  <c:v>1</c:v>
                </c:pt>
                <c:pt idx="6">
                  <c:v>0.24</c:v>
                </c:pt>
                <c:pt idx="7">
                  <c:v>0.39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S4</c:v>
                </c:pt>
              </c:strCache>
            </c:strRef>
          </c:tx>
          <c:spPr>
            <a:solidFill>
              <a:srgbClr val="F2A900"/>
            </a:solidFill>
            <a:ln w="28575" cap="flat">
              <a:solidFill>
                <a:srgbClr val="F2A900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F2A900"/>
              </a:solidFill>
              <a:ln w="9525" cap="flat">
                <a:solidFill>
                  <a:srgbClr val="F2A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Âge</c:v>
                  </c:pt>
                  <c:pt idx="1">
                    <c:v>Nb d'appels</c:v>
                  </c:pt>
                  <c:pt idx="2">
                    <c:v>Contacts antérieurs</c:v>
                  </c:pt>
                  <c:pt idx="3">
                    <c:v>Euribor</c:v>
                  </c:pt>
                  <c:pt idx="4">
                    <c:v>Confiance ménages</c:v>
                  </c:pt>
                  <c:pt idx="5">
                    <c:v>% mobile</c:v>
                  </c:pt>
                  <c:pt idx="6">
                    <c:v>% retraités ou étudiants</c:v>
                  </c:pt>
                  <c:pt idx="7">
                    <c:v>% défaut inconnu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</c:v>
                </c:pt>
                <c:pt idx="1">
                  <c:v>0</c:v>
                </c:pt>
                <c:pt idx="2">
                  <c:v>0.42</c:v>
                </c:pt>
                <c:pt idx="3">
                  <c:v>0</c:v>
                </c:pt>
                <c:pt idx="4">
                  <c:v>1</c:v>
                </c:pt>
                <c:pt idx="5">
                  <c:v>0.91</c:v>
                </c:pt>
                <c:pt idx="6">
                  <c:v>1</c:v>
                </c:pt>
                <c:pt idx="7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B2545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majorGridlines>
          <c:spPr>
            <a:ln w="9525" cap="flat">
              <a:solidFill>
                <a:srgbClr val="D5DC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B254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Bonjour. Je présente mon projet final du module Apprentissage non supervisé : une segmentation de la clientèle d'une banque à partir du jeu Bank Marketing. Plan : le problème, la démarche, les résultats méthode par méthode, la solution retenue et les recommandations.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marketing téléphonique coûte cher et seuls 11,3 % des contacts aboutissent à une souscription. La banque n'a aucune segmentation. Ma mission : trouver des groupes homogènes sans utiliser la variable de souscription, puis vérifier qu'ils sont utiles. Trois questions guident le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projet suit cinq étapes, une par jour : préparation, distances et partitionnement, hiérarchique et densité, validation, interprétation. Chaque étape a son notebook. Point clé : y est mise de côté dès le chargement. Elle ne revient qu'au jour 4 pour évaluer et au jour 5 pour décrire.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données : 41 188 contacts, 10 variables numériques et 10 catégorielles. Nettoyage : 12 doublons, les unknown imputés par le mode sauf pour default où c'est une vraie modalité, campaign plafonnée. Je distingue variables actives et illustratives : duration est connue après l'appel, deux indicateurs économiques sont redondants avec l'Euribor. C'est un écart assumé par rapport au squelette du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Première question : comment mesurer la ressemblance. Sans standardisation, l'âge porte 77 % de la distance euclidienne, juste parce qu'il s'exprime en dizaines. Après standardisation, chaque variable numérique pèse environ 10 %. Seuls 23 % des dix plus proches voisins restent les mêmes : la standardisation change les groupes. Pour les données mixtes j'utilise Gower, qui donne le même poids à chaque variable.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J'ai comparé neuf méthodes dans quatre familles. Chacune reçoit la représentation et la distance qui lui conviennent. Pour K-medoids, la bibliothèque scikit-learn-extra citée dans le sujet ne fonctionne plus avec NumPy 2 : le code l'utilise si elle est disponible, sinon il bascule sur ma propre implémentation du même algorithme. L'indice de Dunn est aussi codé à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K-means, l'inertie décroît sans cassure franche : le coude est vers 6. La silhouette est maximale à k = 2, 0,24, et reste proche de 0,20 jusqu'à 5. À k = 2, K-means, K-prototypes et le mélange gaussien trouvent la même coupure : taux élevés contre taux bas. K-medoids sur Gower donne une structure plus faible et différente. Pour le GMM, le BIC décroît sans minimum : les données ne sont pas gaussiennes.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quatre liens donnent des résultats très différents. Single produit un effet de chaîne : un cluster géant et des singletons. Average et complete isolent quelques dizaines d'atypiques. Seul Ward donne des groupes équilibrés. Le piège : les trois liens inutilisables ont les meilleures silhouettes. Un indice ne se lit jamais sans la taille des clusters. Pour Ward, le dendrogramme propose deux coupures, 2 et 5 ; la silhouette préfère 2 puis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DBSCAN, réglé par le graphique des k-distances, epsilon environ 1 et min_samples 10. Il trouve 8 clusters, mais un seul contient 82 % des clients, et 3,8 % des points sont du bruit. La clientèle est une masse continue : DBSCAN ne segmente pas. En revanche le bruit a un sens : clients plus âgés, déjà démarchés, souvent retraités ou étudiants. C'est aussi la limite de K-means : il range ces points de force dans un cluster, presque deux fois plus loin de leur centre.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Sélection en quatre temps. Un filtre métier : 3 ou 4 groupes, chacun d'au moins 5 % des clients, ce qui élimine les partitions dégénérées. Puis un classement sur les quatre indices internes seulement : y n'intervient pas dans le choix, sinon le raisonnement serait circulaire. Ward à 4 groupes est premier : meilleure silhouette, meilleur Davies-Bouldin, meilleur Dunn. Troisième étape, la stabilité : en bootstrap, Ward obtient 0,93 à k = 4 contre 0,72 pour K-means. Enfin, l'ARI calculé avec y sert seulement de contrôle : Ward a aussi le meilleur, et l'ajouter au classement ne change pas le vainqueur.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solution retenue est donc la CAH de Ward à quatre segments. Je l'assume comme un compromis : statistiquement, la structure la plus nette est à deux groupes. Quatre groupes répondent au besoin de recommandations différenciées, et les indices le valident. Comme Ward ne passe pas à l'échelle de 41 000 clients, j'affecte chaque client au centre de segment le plus proche : cette règle reproduit Ward à 98 %.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Voici les quatre segments sur les 41 176 clients, classés du moins au plus souscripteur. Le taux de souscription est multiplié par plus de 7 entre S1 et S4, alors que y n'a jamais été montrée aux algorithmes. S1, deux tiers des clients, 5 %. S4, 6 % des clients, 41 %.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profils. S1 : jamais démarchés, contactés quand les taux sont élevés, pour moitié sur fixe. S2 : jamais démarchés non plus, mais en période de taux bas, sur mobile, plus jeunes. S3 : tous déjà démarchés lors d'une campagne précédente. S4 : les plus âgés, beaucoup de retraités, d'étudiants et de diplômés. Trois dimensions structurent donc la clientèle : le contexte économique, l'historique, puis le profil socio-démographique.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Quatre recommandations, une par segment. S4 : priorité numéro un, les meilleurs conseillers. S3 : relance personnalisée selon le résultat précédent. S2 : acquisition sur mobile en période de taux bas. S1 : réduire la pression téléphonique. Le gain : en appelant S4, S3 puis S2, soit un tiers des clients, la banque obtient deux tiers des souscriptions. Le taux de réussite double.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Les limites, à dire clairement. Les silhouettes sont autour de 0,2 : les segments se chevauchent. S1 et S2 se distinguent surtout par la période du contact, pas par ce que le client est. Le fichier n'a ni revenu ni solde. Et k = 4 est un choix métier. J'ai mesuré ce poids du contexte : sans les trois indicateurs économiques, seul l'historique de contact forme un groupe net, et la partition devient instable. À période égale, ce sont l'historique et le nombre d'appels qui discriminent, plus que la démographie. Deuxième extension : DBSCAN et l'Isolation Forest s'accordent sur un noyau de clients atypiques, surtout d'anciens souscripteurs, qui souscrivent à près de 50 %. Enfin, la règle d'affectation est déployée dans une petite application Streamlit.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conclusion : sans utiliser la variable de souscription, on obtient quatre segments dont le taux va de 5 à 41 %. Trois enseignements de méthode : la standardisation et la distance changent les groupes ; un indice ne se lit jamais seul ; le nombre de groupes est un compromis entre les données et le métier, à énoncer clairement. Merci, je suis à votre disposition pour vos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PLANCHE_SOMBRE-image-1.png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COUVERTURE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NCH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0312" cy="6309360"/>
          </a:xfrm>
          <a:prstGeom prst="rect">
            <a:avLst/>
          </a:prstGeom>
          <a:ln w="15875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14372" y="274320"/>
            <a:ext cx="0" cy="109728"/>
          </a:xfrm>
          <a:prstGeom prst="line">
            <a:avLst/>
          </a:prstGeom>
          <a:noFill/>
          <a:ln w="12700">
            <a:solidFill>
              <a:srgbClr val="0B25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54424" y="274320"/>
            <a:ext cx="0" cy="109728"/>
          </a:xfrm>
          <a:prstGeom prst="line">
            <a:avLst/>
          </a:prstGeom>
          <a:noFill/>
          <a:ln w="12700">
            <a:solidFill>
              <a:srgbClr val="0B25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4476" y="274320"/>
            <a:ext cx="0" cy="109728"/>
          </a:xfrm>
          <a:prstGeom prst="line">
            <a:avLst/>
          </a:prstGeom>
          <a:noFill/>
          <a:ln w="12700">
            <a:solidFill>
              <a:srgbClr val="0B25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34528" y="274320"/>
            <a:ext cx="0" cy="109728"/>
          </a:xfrm>
          <a:prstGeom prst="line">
            <a:avLst/>
          </a:prstGeom>
          <a:noFill/>
          <a:ln w="12700">
            <a:solidFill>
              <a:srgbClr val="0B254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74580" y="274320"/>
            <a:ext cx="0" cy="109728"/>
          </a:xfrm>
          <a:prstGeom prst="line">
            <a:avLst/>
          </a:prstGeom>
          <a:noFill/>
          <a:ln w="12700">
            <a:solidFill>
              <a:srgbClr val="0B254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851660"/>
            <a:ext cx="109728" cy="0"/>
          </a:xfrm>
          <a:prstGeom prst="line">
            <a:avLst/>
          </a:prstGeom>
          <a:noFill/>
          <a:ln w="12700">
            <a:solidFill>
              <a:srgbClr val="0B25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04904" y="1851660"/>
            <a:ext cx="109728" cy="0"/>
          </a:xfrm>
          <a:prstGeom prst="line">
            <a:avLst/>
          </a:prstGeom>
          <a:noFill/>
          <a:ln w="12700">
            <a:solidFill>
              <a:srgbClr val="0B25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3429000"/>
            <a:ext cx="109728" cy="0"/>
          </a:xfrm>
          <a:prstGeom prst="line">
            <a:avLst/>
          </a:prstGeom>
          <a:noFill/>
          <a:ln w="12700">
            <a:solidFill>
              <a:srgbClr val="0B25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04904" y="3429000"/>
            <a:ext cx="109728" cy="0"/>
          </a:xfrm>
          <a:prstGeom prst="line">
            <a:avLst/>
          </a:prstGeom>
          <a:noFill/>
          <a:ln w="12700">
            <a:solidFill>
              <a:srgbClr val="0B254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5006340"/>
            <a:ext cx="109728" cy="0"/>
          </a:xfrm>
          <a:prstGeom prst="line">
            <a:avLst/>
          </a:prstGeom>
          <a:noFill/>
          <a:ln w="12700">
            <a:solidFill>
              <a:srgbClr val="0B254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04904" y="5006340"/>
            <a:ext cx="109728" cy="0"/>
          </a:xfrm>
          <a:prstGeom prst="line">
            <a:avLst/>
          </a:prstGeom>
          <a:noFill/>
          <a:ln w="12700">
            <a:solidFill>
              <a:srgbClr val="0B25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6199632"/>
            <a:ext cx="4754880" cy="384048"/>
          </a:xfrm>
          <a:prstGeom prst="rect">
            <a:avLst/>
          </a:prstGeom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6199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  SEGMENTATION DE CLIENTÈLE BANCAIRE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0" y="6199632"/>
            <a:ext cx="3566160" cy="384048"/>
          </a:xfrm>
          <a:prstGeom prst="rect">
            <a:avLst/>
          </a:prstGeom>
          <a:ln w="12700">
            <a:solidFill>
              <a:srgbClr val="0B25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38928" y="619963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 S. NOKHO  MASTER BDA/IA  UN-CHK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6199632"/>
            <a:ext cx="2130552" cy="384048"/>
          </a:xfrm>
          <a:prstGeom prst="rect">
            <a:avLst/>
          </a:prstGeom>
          <a:ln w="12700">
            <a:solidFill>
              <a:srgbClr val="0B25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05088" y="6199632"/>
            <a:ext cx="194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ENS.  M. C. GUEYE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725912" y="6199632"/>
            <a:ext cx="1188720" cy="384048"/>
          </a:xfrm>
          <a:prstGeom prst="rect">
            <a:avLst/>
          </a:prstGeom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835640" y="619963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FEUILLE</a:t>
            </a:r>
            <a:endParaRPr lang="en-US" sz="1000" dirty="0"/>
          </a:p>
        </p:txBody>
      </p:sp>
      <p:sp>
        <p:nvSpPr>
          <p:cNvPr id="2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NCHE_SOMB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0312" cy="6309360"/>
          </a:xfrm>
          <a:prstGeom prst="rect">
            <a:avLst/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14372" y="27432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54424" y="27432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4476" y="27432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34528" y="27432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74580" y="27432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851660"/>
            <a:ext cx="109728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04904" y="1851660"/>
            <a:ext cx="109728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3429000"/>
            <a:ext cx="109728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04904" y="3429000"/>
            <a:ext cx="109728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5006340"/>
            <a:ext cx="109728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04904" y="5006340"/>
            <a:ext cx="109728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6199632"/>
            <a:ext cx="4754880" cy="384048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6199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  SEGMENTATION DE CLIENTÈLE BANCAIRE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0" y="6199632"/>
            <a:ext cx="3566160" cy="384048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38928" y="619963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 S. NOKHO  MASTER BDA/IA  UN-CHK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6199632"/>
            <a:ext cx="2130552" cy="384048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05088" y="6199632"/>
            <a:ext cx="194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ENS.  M. C. GUEYE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725912" y="6199632"/>
            <a:ext cx="1188720" cy="384048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835640" y="619963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FEUILLE</a:t>
            </a:r>
            <a:endParaRPr lang="en-US" sz="1000" dirty="0"/>
          </a:p>
        </p:txBody>
      </p:sp>
      <p:sp>
        <p:nvSpPr>
          <p:cNvPr id="2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bg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0312" cy="6309360"/>
          </a:xfrm>
          <a:prstGeom prst="rect">
            <a:avLst/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14372" y="27432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54424" y="27432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4476" y="27432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34528" y="27432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74580" y="274320"/>
            <a:ext cx="0" cy="109728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851660"/>
            <a:ext cx="109728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04904" y="1851660"/>
            <a:ext cx="109728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3429000"/>
            <a:ext cx="109728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04904" y="3429000"/>
            <a:ext cx="109728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5006340"/>
            <a:ext cx="109728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04904" y="5006340"/>
            <a:ext cx="109728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>
            <p:ph idx="112" type="body" hasCustomPrompt="1"/>
          </p:nvPr>
        </p:nvSpPr>
        <p:spPr>
          <a:xfrm>
            <a:off x="822960" y="914400"/>
            <a:ext cx="100584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15" name="Text 12"/>
          <p:cNvSpPr/>
          <p:nvPr>
            <p:ph idx="113" type="title" hasCustomPrompt="1"/>
          </p:nvPr>
        </p:nvSpPr>
        <p:spPr>
          <a:xfrm>
            <a:off x="822960" y="1371600"/>
            <a:ext cx="10515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2"/>
          <p:cNvSpPr/>
          <p:nvPr>
            <p:ph idx="112" type="body" hasCustomPrompt="1"/>
          </p:nvPr>
        </p:nvSpPr>
        <p:spPr>
          <a:xfrm>
            <a:off x="822960" y="914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DOSSIER DE PROJET  /  APPRENTISSAGE NON SUPERVISÉ</a:t>
            </a:r>
            <a:endParaRPr lang="en-US" sz="1300" dirty="0"/>
          </a:p>
        </p:txBody>
      </p:sp>
      <p:sp>
        <p:nvSpPr>
          <p:cNvPr id="3" name="Text 12"/>
          <p:cNvSpPr/>
          <p:nvPr>
            <p:ph idx="113" type="title" hasCustomPrompt="1"/>
          </p:nvPr>
        </p:nvSpPr>
        <p:spPr>
          <a:xfrm>
            <a:off x="822960" y="13716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Segmentation de clientèle bancaire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3317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Découvrir des groupes de clients sans étiquette, pour mieux cibler les campagnes de marketing téléphonique</a:t>
            </a:r>
            <a:endParaRPr lang="en-US" sz="2000" dirty="0"/>
          </a:p>
        </p:txBody>
      </p:sp>
      <p:graphicFrame>
        <p:nvGraphicFramePr>
          <p:cNvPr id="2" name="Cartouch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4160520"/>
          <a:ext cx="73426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879592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Apprentissage non supervisé  /  Master BDA/IA, UN-CHK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AUTEURE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Ndeye Sokhna Nokho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ENSEIGNANT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M. Cheikh GUEYE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DONNÉES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Bank Marketing (UCI)  /  41 188 contacts, 20 variables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Octobre 2026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PROBLÈME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appels sur dix n'aboutissent pas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01168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11,3 %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3375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des contacts se terminent par la souscription d'un dépôt à terme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434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Découvrir des groupes de clients homogènes à partir de données mixtes, sans jamais utiliser la variable de souscription y.</a:t>
            </a:r>
            <a:endParaRPr lang="en-US" sz="1400" dirty="0"/>
          </a:p>
        </p:txBody>
      </p:sp>
      <p:sp>
        <p:nvSpPr>
          <p:cNvPr id="8" name="Question 1"/>
          <p:cNvSpPr/>
          <p:nvPr/>
        </p:nvSpPr>
        <p:spPr>
          <a:xfrm>
            <a:off x="5120640" y="1920240"/>
            <a:ext cx="6492240" cy="1143000"/>
          </a:xfrm>
          <a:prstGeom prst="rect">
            <a:avLst/>
          </a:prstGeom>
          <a:solidFill>
            <a:schemeClr val="bg2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303520" y="20574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263640" y="2057400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Comment mesurer la ressemblance entre deux clients quand les données mêlent nombres et catégories ?</a:t>
            </a:r>
            <a:endParaRPr lang="en-US" sz="1600" dirty="0"/>
          </a:p>
        </p:txBody>
      </p:sp>
      <p:sp>
        <p:nvSpPr>
          <p:cNvPr id="11" name="Question 2"/>
          <p:cNvSpPr/>
          <p:nvPr/>
        </p:nvSpPr>
        <p:spPr>
          <a:xfrm>
            <a:off x="5120640" y="3291840"/>
            <a:ext cx="6492240" cy="1143000"/>
          </a:xfrm>
          <a:prstGeom prst="rect">
            <a:avLst/>
          </a:prstGeom>
          <a:solidFill>
            <a:schemeClr val="bg2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303520" y="34290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3429000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Quelle méthode de clustering, et combien de groupes ?</a:t>
            </a:r>
            <a:endParaRPr lang="en-US" sz="1600" dirty="0"/>
          </a:p>
        </p:txBody>
      </p:sp>
      <p:sp>
        <p:nvSpPr>
          <p:cNvPr id="14" name="Question 3"/>
          <p:cNvSpPr/>
          <p:nvPr/>
        </p:nvSpPr>
        <p:spPr>
          <a:xfrm>
            <a:off x="5120640" y="4663440"/>
            <a:ext cx="6492240" cy="1143000"/>
          </a:xfrm>
          <a:prstGeom prst="rect">
            <a:avLst/>
          </a:prstGeom>
          <a:solidFill>
            <a:schemeClr val="bg2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03520" y="48006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4800600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Les segments sont-ils stables, interprétables et utiles pour le ciblage 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DÉMARCHE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Une chaîne de traitement en cinq étapes</a:t>
            </a:r>
            <a:endParaRPr lang="en-US" sz="3000" dirty="0"/>
          </a:p>
        </p:txBody>
      </p:sp>
      <p:sp>
        <p:nvSpPr>
          <p:cNvPr id="5" name="Étape J1"/>
          <p:cNvSpPr/>
          <p:nvPr/>
        </p:nvSpPr>
        <p:spPr>
          <a:xfrm>
            <a:off x="594360" y="1920240"/>
            <a:ext cx="1993392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920240"/>
            <a:ext cx="731520" cy="548640"/>
          </a:xfrm>
          <a:prstGeom prst="rect">
            <a:avLst/>
          </a:prstGeom>
          <a:solidFill>
            <a:schemeClr val="tx1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920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5176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Préparation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38328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Nettoyage, EDA, deux représentations, PCA / t-SNE / UMAP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587752" y="3246120"/>
            <a:ext cx="274320" cy="0"/>
          </a:xfrm>
          <a:prstGeom prst="line">
            <a:avLst/>
          </a:prstGeom>
          <a:noFill/>
          <a:ln w="1905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1" name="Étape J2"/>
          <p:cNvSpPr/>
          <p:nvPr/>
        </p:nvSpPr>
        <p:spPr>
          <a:xfrm>
            <a:off x="2862072" y="1920240"/>
            <a:ext cx="1993392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62072" y="1920240"/>
            <a:ext cx="731520" cy="548640"/>
          </a:xfrm>
          <a:prstGeom prst="rect">
            <a:avLst/>
          </a:prstGeom>
          <a:solidFill>
            <a:schemeClr val="tx1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62072" y="1920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999232" y="265176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Distances et partitionnement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999232" y="338328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Gower, K-means, K-medoids, K-prototypes, GMM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55464" y="3246120"/>
            <a:ext cx="274320" cy="0"/>
          </a:xfrm>
          <a:prstGeom prst="line">
            <a:avLst/>
          </a:prstGeom>
          <a:noFill/>
          <a:ln w="1905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7" name="Étape J3"/>
          <p:cNvSpPr/>
          <p:nvPr/>
        </p:nvSpPr>
        <p:spPr>
          <a:xfrm>
            <a:off x="5129784" y="1920240"/>
            <a:ext cx="1993392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129784" y="1920240"/>
            <a:ext cx="731520" cy="548640"/>
          </a:xfrm>
          <a:prstGeom prst="rect">
            <a:avLst/>
          </a:prstGeom>
          <a:solidFill>
            <a:schemeClr val="tx1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29784" y="1920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J3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65176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Hiérarchique et densité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266944" y="338328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CAH à 4 liens, dendrogrammes, DBSCAN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123176" y="3246120"/>
            <a:ext cx="274320" cy="0"/>
          </a:xfrm>
          <a:prstGeom prst="line">
            <a:avLst/>
          </a:prstGeom>
          <a:noFill/>
          <a:ln w="1905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23" name="Étape J4"/>
          <p:cNvSpPr/>
          <p:nvPr/>
        </p:nvSpPr>
        <p:spPr>
          <a:xfrm>
            <a:off x="7397496" y="1920240"/>
            <a:ext cx="1993392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97496" y="1920240"/>
            <a:ext cx="731520" cy="548640"/>
          </a:xfrm>
          <a:prstGeom prst="rect">
            <a:avLst/>
          </a:prstGeom>
          <a:solidFill>
            <a:schemeClr val="accent1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97496" y="1920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534656" y="265176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Validation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534656" y="338328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Indices internes et externes, stabilité, choix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9390888" y="3246120"/>
            <a:ext cx="274320" cy="0"/>
          </a:xfrm>
          <a:prstGeom prst="line">
            <a:avLst/>
          </a:prstGeom>
          <a:noFill/>
          <a:ln w="1905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29" name="Étape J5"/>
          <p:cNvSpPr/>
          <p:nvPr/>
        </p:nvSpPr>
        <p:spPr>
          <a:xfrm>
            <a:off x="9665208" y="1920240"/>
            <a:ext cx="1993392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665208" y="1920240"/>
            <a:ext cx="731520" cy="548640"/>
          </a:xfrm>
          <a:prstGeom prst="rect">
            <a:avLst/>
          </a:prstGeom>
          <a:solidFill>
            <a:schemeClr val="tx1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665208" y="1920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J5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9802368" y="265176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Interprétation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802368" y="3383280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Profils, radars, recommandations</a:t>
            </a:r>
            <a:endParaRPr lang="en-US" sz="1400" dirty="0"/>
          </a:p>
        </p:txBody>
      </p:sp>
      <p:sp>
        <p:nvSpPr>
          <p:cNvPr id="34" name="Règle"/>
          <p:cNvSpPr/>
          <p:nvPr/>
        </p:nvSpPr>
        <p:spPr>
          <a:xfrm>
            <a:off x="594360" y="4937760"/>
            <a:ext cx="11064240" cy="868680"/>
          </a:xfrm>
          <a:prstGeom prst="rect">
            <a:avLst/>
          </a:prstGeom>
          <a:solidFill>
            <a:schemeClr val="bg2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77240" y="49377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RÈGLE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 variable y (souscription) n'est jamais utilisée pour construire les groupes. Elle sert à évaluer (J4) puis à décrire les segments (J5).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DONNÉES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15 variables actives retenues sur 20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FICHE TECHNIQUE</a:t>
            </a:r>
            <a:endParaRPr lang="en-US" sz="1100" dirty="0"/>
          </a:p>
        </p:txBody>
      </p:sp>
      <p:graphicFrame>
        <p:nvGraphicFramePr>
          <p:cNvPr id="5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03120"/>
          <a:ext cx="5760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4069080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Élément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Valeur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Individus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41 188, puis 41 176 après retrait de 12 doublons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Variables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 numériques + 10 catégorielles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Manquants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« unknown » : mode (5 variables) ; gardé pour default (21 %)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Aberrants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campaign plafonnée au 99e centile ; pdays recodée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Représentations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(a) one-hot standardisé, 37 colonnes ; (b) mixte, 15 colonnes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Échantillon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4 000 clients, aléatoire stratifié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67512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VARIABLES ÉCARTÉES DU CLUSTERING</a:t>
            </a:r>
            <a:endParaRPr lang="en-US" sz="1100" dirty="0"/>
          </a:p>
        </p:txBody>
      </p:sp>
      <p:graphicFrame>
        <p:nvGraphicFramePr>
          <p:cNvPr id="9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103120"/>
          <a:ext cx="4983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80360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Variable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Raison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duration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Connue seulement après l'appel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emp.var.rate, nr.employed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Corrélées à plus de 0,90 avec euribor3m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month, day_of_week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Calendrier de campagne, pas le client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pdays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Recodée en contacted_before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Vérité terrain, interdite à l'entraînement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6675120" y="54406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Ces variables restent utilisées pour décrire les segments.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DISTANCES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Sans standardisation, l'âge pèse 77 % de la distance</a:t>
            </a:r>
            <a:endParaRPr lang="en-US" sz="3000" dirty="0"/>
          </a:p>
        </p:txBody>
      </p:sp>
      <p:graphicFrame>
        <p:nvGraphicFramePr>
          <p:cNvPr id="5" name="Graphique poids" descr=""/>
          <p:cNvGraphicFramePr/>
          <p:nvPr/>
        </p:nvGraphicFramePr>
        <p:xfrm>
          <a:off x="594360" y="1783080"/>
          <a:ext cx="658368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 RETENUE PAR MÉTHODE</a:t>
            </a:r>
            <a:endParaRPr lang="en-US" sz="1100" dirty="0"/>
          </a:p>
        </p:txBody>
      </p:sp>
      <p:graphicFrame>
        <p:nvGraphicFramePr>
          <p:cNvPr id="6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2103120"/>
          <a:ext cx="41605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57400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Méthodes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Distance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K-means, GMM, Ward, DBSCAN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Euclidienne standardisée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K-medoids, CAH lien moyen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Gower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K-prototypes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Euclidienne + désaccords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Variables binaires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Jaccard si « oui » rare, Hamming sinon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498080" y="48920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23 %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9098280" y="49377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des 10 plus proches voisins restent les mêmes après standardisation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MÉTHODES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méthodes sur le banc d'essai</a:t>
            </a:r>
            <a:endParaRPr lang="en-US" sz="3000" dirty="0"/>
          </a:p>
        </p:txBody>
      </p:sp>
      <p:graphicFrame>
        <p:nvGraphicFramePr>
          <p:cNvPr id="7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566160"/>
                <a:gridCol w="301752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Famille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Méthode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Données et distance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Réglage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Partitionnement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K-means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(a) one-hot standardisé, euclidienne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Coude, k de 2 à 10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Partitionnement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K-medoids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Matrice de Gower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Coût et silhouette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Partitionnement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K-prototypes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(b) données mixtes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Coude sur le coût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Modèle probabiliste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Mélange gaussien (GMM)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 axes de la PCA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BIC et AIC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Hiérarchique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CAH : single, complete, average, Ward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(a), euclidienne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Dendrogramme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Hiérarchique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CAH à lien moyen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Matrice de Gower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Dendrogramme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Densité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DBSCAN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 axes de la PCA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ε par k-distances, min_samples = 10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94360" y="5623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K-medoids et indice de Dunn : implémentations personnelles (scikit-learn-extra est incompatible avec NumPy 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PARTITIONNEMENT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 structure la plus nette est à deux groupes</a:t>
            </a:r>
            <a:endParaRPr lang="en-US" sz="3000" dirty="0"/>
          </a:p>
        </p:txBody>
      </p:sp>
      <p:graphicFrame>
        <p:nvGraphicFramePr>
          <p:cNvPr id="5" name="Graphique coude" descr=""/>
          <p:cNvGraphicFramePr/>
          <p:nvPr/>
        </p:nvGraphicFramePr>
        <p:xfrm>
          <a:off x="594360" y="178308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Graphique silhouette" descr=""/>
          <p:cNvGraphicFramePr/>
          <p:nvPr/>
        </p:nvGraphicFramePr>
        <p:xfrm>
          <a:off x="6263640" y="178308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94360" y="49377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0,24</a:t>
            </a:r>
            <a:endParaRPr lang="en-US" sz="3000" dirty="0"/>
          </a:p>
        </p:txBody>
      </p:sp>
      <p:sp>
        <p:nvSpPr>
          <p:cNvPr id="8" name="Text 3"/>
          <p:cNvSpPr txBox="1"/>
          <p:nvPr/>
        </p:nvSpPr>
        <p:spPr>
          <a:xfrm>
            <a:off x="2057400" y="4937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silhouette maximale, obtenue pour k = 2</a:t>
            </a:r>
            <a:endParaRPr lang="en-US" sz="1400" dirty="0"/>
          </a:p>
        </p:txBody>
      </p:sp>
      <p:sp>
        <p:nvSpPr>
          <p:cNvPr id="9" name="Text 4"/>
          <p:cNvSpPr txBox="1"/>
          <p:nvPr/>
        </p:nvSpPr>
        <p:spPr>
          <a:xfrm>
            <a:off x="4343400" y="49377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≥ 0,97</a:t>
            </a:r>
            <a:endParaRPr lang="en-US" sz="3000" dirty="0"/>
          </a:p>
        </p:txBody>
      </p:sp>
      <p:sp>
        <p:nvSpPr>
          <p:cNvPr id="10" name="Text 5"/>
          <p:cNvSpPr txBox="1"/>
          <p:nvPr/>
        </p:nvSpPr>
        <p:spPr>
          <a:xfrm>
            <a:off x="5806440" y="4937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ARI entre K-means, K-prototypes et GMM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8092440" y="49377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 ≈ 6</a:t>
            </a:r>
            <a:endParaRPr lang="en-US" sz="3000" dirty="0"/>
          </a:p>
        </p:txBody>
      </p:sp>
      <p:sp>
        <p:nvSpPr>
          <p:cNvPr id="12" name="Text 7"/>
          <p:cNvSpPr txBox="1"/>
          <p:nvPr/>
        </p:nvSpPr>
        <p:spPr>
          <a:xfrm>
            <a:off x="9555480" y="4937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coude de l'inertie : borne haute pour 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CLASSIFICATION HIÉRARCHIQUE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 classification hiérarchique, le lien change tout</a:t>
            </a:r>
            <a:endParaRPr lang="en-US" sz="3000" dirty="0"/>
          </a:p>
        </p:txBody>
      </p:sp>
      <p:graphicFrame>
        <p:nvGraphicFramePr>
          <p:cNvPr id="9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56032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Lien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Tailles (k = 3)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Silhouette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Single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3 998 / 1 / 1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0,423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Complete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3 879 / 66 / 55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0,316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Average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3 964 / 35 / 1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0,489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Ward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2 617 / 756 / 627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0,193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6" name="Piège"/>
          <p:cNvSpPr/>
          <p:nvPr/>
        </p:nvSpPr>
        <p:spPr>
          <a:xfrm>
            <a:off x="6400800" y="1783080"/>
            <a:ext cx="5257800" cy="1828800"/>
          </a:xfrm>
          <a:prstGeom prst="rect">
            <a:avLst/>
          </a:prstGeom>
          <a:solidFill>
            <a:schemeClr val="bg2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583680" y="18745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PIÈGE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Les partitions inutilisables affichent les meilleures silhouettes. Un indice se lit toujours avec la taille des clusters.</a:t>
            </a:r>
            <a:endParaRPr lang="en-US" sz="1400" dirty="0"/>
          </a:p>
        </p:txBody>
      </p:sp>
      <p:pic>
        <p:nvPicPr>
          <p:cNvPr id="8" name="Image 0" descr="Sauts de hauteur et dendrogramme de W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7128" y="3794760"/>
            <a:ext cx="7863840" cy="214053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DENSITÉ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DBSCAN repère les atypiques, il ne segmente pas</a:t>
            </a:r>
            <a:endParaRPr lang="en-US" sz="3000" dirty="0"/>
          </a:p>
        </p:txBody>
      </p:sp>
      <p:pic>
        <p:nvPicPr>
          <p:cNvPr id="5" name="Image 0" descr="Résultat de DBSCAN : points cœur, bordure et bru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28800"/>
            <a:ext cx="7680960" cy="202393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49640" y="17830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8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9921240" y="17830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clusters trouvés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549640" y="25146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82 %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9921240" y="2514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des clients dans un seul cluster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32461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3,8 %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9921240" y="3246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points classés en bruit</a:t>
            </a:r>
            <a:endParaRPr lang="en-US" sz="1400" dirty="0"/>
          </a:p>
        </p:txBody>
      </p:sp>
      <p:graphicFrame>
        <p:nvGraphicFramePr>
          <p:cNvPr id="10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343400"/>
          <a:ext cx="11064240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320040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Profil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Points de bruit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Autres clients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Âge moyen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 ans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 ans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Déjà démarchés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42 %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Retraités ou étudiants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34 %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Distance au centre K-means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VALIDATION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Ward à quatre groupes domine les candidats</a:t>
            </a:r>
            <a:endParaRPr lang="en-US" sz="3000" dirty="0"/>
          </a:p>
        </p:txBody>
      </p:sp>
      <p:graphicFrame>
        <p:nvGraphicFramePr>
          <p:cNvPr id="11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61264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11480"/>
                <a:gridCol w="822960"/>
                <a:gridCol w="822960"/>
                <a:gridCol w="822960"/>
                <a:gridCol w="82296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Méthode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Silh.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D.-B.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Dunn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ARI*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CAH Ward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0,213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1,73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0,112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1,50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0,151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K-prototypes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0,185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1,92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0,083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3,00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0,094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K-means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0,186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1,92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0,065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3,25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0,096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CAH Ward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0,193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1,97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0,098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3,25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0,139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K-means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0,182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0,033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5,00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0,057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GMM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0,081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2,70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0,072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6,25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0,053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K-prototypes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0,126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2,26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0,006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8,00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0,048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K-medoids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0,039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3,73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0,020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8,75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0,015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94360" y="534924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Filtre : k = 3 ou 4, segments ≥ 5 %. Rang moyen sur les 4 indices internes. * ARI (calculé avec y) : contrôle a posteriori, hors rang.</a:t>
            </a:r>
            <a:endParaRPr lang="en-US" sz="1400" dirty="0"/>
          </a:p>
        </p:txBody>
      </p:sp>
      <p:graphicFrame>
        <p:nvGraphicFramePr>
          <p:cNvPr id="7" name="Graphique stabilité" descr=""/>
          <p:cNvGraphicFramePr/>
          <p:nvPr/>
        </p:nvGraphicFramePr>
        <p:xfrm>
          <a:off x="6949440" y="1783080"/>
          <a:ext cx="4709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DÉCISION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Solution retenue : CAH de Ward à quatre segments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201168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0,21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7432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silhouette, proche du maximum observé à k = 2 (0,24)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429000" y="201168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1,73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3429000" y="27432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Davies-Bouldin, le plus bas des candidats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201168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0,93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6263640" y="27432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ARI bootstrap, contre 0,72 pour K-means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098280" y="201168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98 %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9098280" y="27432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des clients reclassés à l'identique par le centre le plus proche</a:t>
            </a:r>
            <a:endParaRPr lang="en-US" sz="1400" dirty="0"/>
          </a:p>
        </p:txBody>
      </p:sp>
      <p:sp>
        <p:nvSpPr>
          <p:cNvPr id="13" name="Compromis"/>
          <p:cNvSpPr/>
          <p:nvPr/>
        </p:nvSpPr>
        <p:spPr>
          <a:xfrm>
            <a:off x="594360" y="3977640"/>
            <a:ext cx="11064240" cy="1737360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11480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 QUE CE CHOIX IMPLIQUE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k = 4 répond au besoin métier ; la structure statistiquement la plus nette reste k = 2.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Ward est construit sur 4 000 clients, puis étendu aux 41 176 par le centre le plus proche.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bg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SEGMENTS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taux de souscription va de 5 % à 41 %</a:t>
            </a:r>
            <a:endParaRPr lang="en-US" sz="3000" dirty="0"/>
          </a:p>
        </p:txBody>
      </p:sp>
      <p:graphicFrame>
        <p:nvGraphicFramePr>
          <p:cNvPr id="5" name="Graphique taux" descr=""/>
          <p:cNvGraphicFramePr/>
          <p:nvPr/>
        </p:nvGraphicFramePr>
        <p:xfrm>
          <a:off x="594360" y="1783080"/>
          <a:ext cx="44805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78308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960120"/>
                <a:gridCol w="960120"/>
                <a:gridCol w="960120"/>
                <a:gridCol w="9601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Indicateur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Poids dans la clientèle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66,4 %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16,6 %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11,4 %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5,6 %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Taux de souscription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5,4 %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17,0 %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22,3 %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40,8 %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Âge moyen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40,2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37,9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39,4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45,4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Euribor 3 mois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Appels par client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2,7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2,2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Contact sur mobile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91 %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93 %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88 %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Déjà démarchés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41 %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Retraités ou étudiants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26 %</a:t>
                      </a:r>
                      <a:endParaRPr lang="en-US" sz="13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349240" y="55321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Moyenne générale : 11,3 %. Profilage sur les 41 176 clients.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PROFILS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Quatre profils, structurés par le contexte et l'historique</a:t>
            </a:r>
            <a:endParaRPr lang="en-US" sz="3000" dirty="0"/>
          </a:p>
        </p:txBody>
      </p:sp>
      <p:graphicFrame>
        <p:nvGraphicFramePr>
          <p:cNvPr id="5" name="Radar segments" descr=""/>
          <p:cNvGraphicFramePr/>
          <p:nvPr/>
        </p:nvGraphicFramePr>
        <p:xfrm>
          <a:off x="594360" y="1783080"/>
          <a:ext cx="53949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Étiquette S1"/>
          <p:cNvSpPr/>
          <p:nvPr/>
        </p:nvSpPr>
        <p:spPr>
          <a:xfrm>
            <a:off x="6309360" y="1783080"/>
            <a:ext cx="822960" cy="896112"/>
          </a:xfrm>
          <a:prstGeom prst="rect">
            <a:avLst/>
          </a:prstGeom>
          <a:solidFill>
            <a:schemeClr val="tx1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09360" y="1783080"/>
            <a:ext cx="822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2000" dirty="0"/>
          </a:p>
        </p:txBody>
      </p:sp>
      <p:sp>
        <p:nvSpPr>
          <p:cNvPr id="8" name="Profil S1"/>
          <p:cNvSpPr/>
          <p:nvPr/>
        </p:nvSpPr>
        <p:spPr>
          <a:xfrm>
            <a:off x="7132320" y="1783080"/>
            <a:ext cx="45262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269480" y="1837944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Nouveaux prospects, taux élevés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Jamais démarchés, Euribor proche de 4,8 %, moitié sur fixe</a:t>
            </a:r>
            <a:endParaRPr lang="en-US" sz="1400" dirty="0"/>
          </a:p>
        </p:txBody>
      </p:sp>
      <p:sp>
        <p:nvSpPr>
          <p:cNvPr id="10" name="Étiquette S2"/>
          <p:cNvSpPr/>
          <p:nvPr/>
        </p:nvSpPr>
        <p:spPr>
          <a:xfrm>
            <a:off x="6309360" y="2825496"/>
            <a:ext cx="822960" cy="896112"/>
          </a:xfrm>
          <a:prstGeom prst="rect">
            <a:avLst/>
          </a:prstGeom>
          <a:solidFill>
            <a:schemeClr val="tx1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309360" y="2825496"/>
            <a:ext cx="822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2000" dirty="0"/>
          </a:p>
        </p:txBody>
      </p:sp>
      <p:sp>
        <p:nvSpPr>
          <p:cNvPr id="12" name="Profil S2"/>
          <p:cNvSpPr/>
          <p:nvPr/>
        </p:nvSpPr>
        <p:spPr>
          <a:xfrm>
            <a:off x="7132320" y="2825496"/>
            <a:ext cx="45262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69480" y="2880360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Nouveaux prospects, taux bas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Jamais démarchés, mobile, les plus jeunes</a:t>
            </a:r>
            <a:endParaRPr lang="en-US" sz="1400" dirty="0"/>
          </a:p>
        </p:txBody>
      </p:sp>
      <p:sp>
        <p:nvSpPr>
          <p:cNvPr id="14" name="Étiquette S3"/>
          <p:cNvSpPr/>
          <p:nvPr/>
        </p:nvSpPr>
        <p:spPr>
          <a:xfrm>
            <a:off x="6309360" y="3867912"/>
            <a:ext cx="822960" cy="896112"/>
          </a:xfrm>
          <a:prstGeom prst="rect">
            <a:avLst/>
          </a:prstGeom>
          <a:solidFill>
            <a:schemeClr val="tx1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3867912"/>
            <a:ext cx="822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2000" dirty="0"/>
          </a:p>
        </p:txBody>
      </p:sp>
      <p:sp>
        <p:nvSpPr>
          <p:cNvPr id="16" name="Profil S3"/>
          <p:cNvSpPr/>
          <p:nvPr/>
        </p:nvSpPr>
        <p:spPr>
          <a:xfrm>
            <a:off x="7132320" y="3867912"/>
            <a:ext cx="45262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269480" y="3922776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Clients déjà démarchés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79 % d'échecs et 21 % de succès à la campagne précédente</a:t>
            </a:r>
            <a:endParaRPr lang="en-US" sz="1400" dirty="0"/>
          </a:p>
        </p:txBody>
      </p:sp>
      <p:sp>
        <p:nvSpPr>
          <p:cNvPr id="18" name="Étiquette S4"/>
          <p:cNvSpPr/>
          <p:nvPr/>
        </p:nvSpPr>
        <p:spPr>
          <a:xfrm>
            <a:off x="6309360" y="4910328"/>
            <a:ext cx="822960" cy="896112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309360" y="4910328"/>
            <a:ext cx="822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2000" dirty="0"/>
          </a:p>
        </p:txBody>
      </p:sp>
      <p:sp>
        <p:nvSpPr>
          <p:cNvPr id="20" name="Profil S4"/>
          <p:cNvSpPr/>
          <p:nvPr/>
        </p:nvSpPr>
        <p:spPr>
          <a:xfrm>
            <a:off x="7132320" y="4910328"/>
            <a:ext cx="45262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269480" y="4965192"/>
            <a:ext cx="4297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Profils réceptifs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Seniors, étudiants, diplômés ; taux au plus bas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RECOMMANDATIONS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Une action par segment</a:t>
            </a:r>
            <a:endParaRPr lang="en-US" sz="3000" dirty="0"/>
          </a:p>
        </p:txBody>
      </p:sp>
      <p:graphicFrame>
        <p:nvGraphicFramePr>
          <p:cNvPr id="15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572000"/>
                <a:gridCol w="39319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Segment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Action recommandée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Justification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S4  Profils réceptifs</a:t>
                      </a:r>
                      <a:endParaRPr lang="en-US" sz="14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Les appeler en premier, avec les conseillers les plus expérimentés</a:t>
                      </a:r>
                      <a:endParaRPr lang="en-US" sz="14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Taux 3,6 fois supérieur à la moyenne ; 1,8 appel suffit</a:t>
                      </a:r>
                      <a:endParaRPr lang="en-US" sz="14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S3  Déjà démarchés</a:t>
                      </a:r>
                      <a:endParaRPr lang="en-US" sz="14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Relance personnalisée selon le résultat de la campagne précédente</a:t>
                      </a:r>
                      <a:endParaRPr lang="en-US" sz="14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Taux double de la moyenne ; 21 % d'anciens succès</a:t>
                      </a:r>
                      <a:endParaRPr lang="en-US" sz="14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S2  Prospects, taux bas</a:t>
                      </a:r>
                      <a:endParaRPr lang="en-US" sz="14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Acquisition sur mobile, concentrée sur les périodes de taux bas</a:t>
                      </a:r>
                      <a:endParaRPr lang="en-US" sz="14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Taux 1,5 fois supérieur ; 91 % joints sur mobile</a:t>
                      </a:r>
                      <a:endParaRPr lang="en-US" sz="14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S1  Prospects, taux élevés</a:t>
                      </a:r>
                      <a:endParaRPr lang="en-US" sz="14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Réduire la pression : 2 appels au plus, courriel ou SMS</a:t>
                      </a:r>
                      <a:endParaRPr lang="en-US" sz="14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66 % des appels pour 32 % des souscriptions</a:t>
                      </a:r>
                      <a:endParaRPr lang="en-US" sz="1400" dirty="0"/>
                    </a:p>
                  </a:txBody>
                  <a:tcPr marL="82296" marR="82296" marT="36576" marB="36576" anchor="ctr">
                    <a:lnL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Gain"/>
          <p:cNvSpPr/>
          <p:nvPr/>
        </p:nvSpPr>
        <p:spPr>
          <a:xfrm>
            <a:off x="594360" y="4754880"/>
            <a:ext cx="11064240" cy="1188720"/>
          </a:xfrm>
          <a:prstGeom prst="rect">
            <a:avLst/>
          </a:prstGeom>
          <a:solidFill>
            <a:schemeClr val="bg2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33,6 %</a:t>
            </a:r>
            <a:endParaRPr lang="en-US" sz="38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5458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des clients appelés (S4, S3, S2)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3611880" y="5120640"/>
            <a:ext cx="82296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0" name="Text 6"/>
          <p:cNvSpPr txBox="1"/>
          <p:nvPr/>
        </p:nvSpPr>
        <p:spPr>
          <a:xfrm>
            <a:off x="466344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68,1 %</a:t>
            </a:r>
            <a:endParaRPr lang="en-US" sz="3800" dirty="0"/>
          </a:p>
        </p:txBody>
      </p:sp>
      <p:sp>
        <p:nvSpPr>
          <p:cNvPr id="11" name="Text 7"/>
          <p:cNvSpPr txBox="1"/>
          <p:nvPr/>
        </p:nvSpPr>
        <p:spPr>
          <a:xfrm>
            <a:off x="4663440" y="5458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des souscriptions obtenues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48006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11,3 % → 22,8 %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54589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taux de réussite des appels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LIMITES ET EXTENSIONS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Une structure réelle, mais faible et liée au contexte</a:t>
            </a:r>
            <a:endParaRPr lang="en-US" sz="3000" dirty="0"/>
          </a:p>
        </p:txBody>
      </p:sp>
      <p:sp>
        <p:nvSpPr>
          <p:cNvPr id="5" name="LIMITES"/>
          <p:cNvSpPr/>
          <p:nvPr/>
        </p:nvSpPr>
        <p:spPr>
          <a:xfrm>
            <a:off x="59436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94360" y="1783080"/>
            <a:ext cx="5394960" cy="457200"/>
          </a:xfrm>
          <a:prstGeom prst="rect">
            <a:avLst/>
          </a:prstGeom>
          <a:solidFill>
            <a:schemeClr val="bg2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Silhouettes autour de 0,2 : les segments se chevauchent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S1 et S2 dépendent de la période du contact plus que du client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Ni revenu, ni solde, ni ancienneté dans le fichier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 = 4 est un choix métier ; la structure la plus nette est k = 2</a:t>
            </a:r>
            <a:endParaRPr lang="en-US" sz="1400" dirty="0"/>
          </a:p>
        </p:txBody>
      </p:sp>
      <p:sp>
        <p:nvSpPr>
          <p:cNvPr id="9" name="PISTES"/>
          <p:cNvSpPr/>
          <p:nvPr/>
        </p:nvSpPr>
        <p:spPr>
          <a:xfrm>
            <a:off x="6263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263640" y="1783080"/>
            <a:ext cx="5394960" cy="457200"/>
          </a:xfrm>
          <a:prstGeom prst="rect">
            <a:avLst/>
          </a:prstGeom>
          <a:solidFill>
            <a:schemeClr val="bg2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446520" y="1783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EXTENSIONS RÉALISÉES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246888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Sans le contexte, seul l'historique reste net (silhouette 0,12 ; stabilité 0,58)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À période égale, historique et pression d'appels comptent plus que l'âge ou la profession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Atypiques (DBSCAN + Isolation Forest) : anciens souscripteurs, ~50 % de souscription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Application Streamlit : affecte un nouveau client à son segment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0" type="body" hasCustomPrompt="1"/>
          </p:nvPr>
        </p:nvSpPr>
        <p:spPr>
          <a:xfrm>
            <a:off x="5943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CONCLUSION</a:t>
            </a:r>
            <a:endParaRPr lang="en-US" sz="1200" dirty="0"/>
          </a:p>
        </p:txBody>
      </p:sp>
      <p:sp>
        <p:nvSpPr>
          <p:cNvPr id="3" name="Text 20"/>
          <p:cNvSpPr/>
          <p:nvPr>
            <p:ph idx="121" type="title" hasCustomPrompt="1"/>
          </p:nvPr>
        </p:nvSpPr>
        <p:spPr>
          <a:xfrm>
            <a:off x="594360" y="80467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Un tiers des clients concentre deux tiers des souscriptions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19202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9202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La standardisation et le choix de la distance changent réellement les groupes.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8803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880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indice de qualité ne se lit jamais seul : vérifier la taille des clusters.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8404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38404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nombre de groupes est un compromis entre les données et le besoin métier.</a:t>
            </a:r>
            <a:endParaRPr lang="en-US" sz="1800" dirty="0"/>
          </a:p>
        </p:txBody>
      </p:sp>
      <p:sp>
        <p:nvSpPr>
          <p:cNvPr id="11" name="Questions"/>
          <p:cNvSpPr/>
          <p:nvPr/>
        </p:nvSpPr>
        <p:spPr>
          <a:xfrm>
            <a:off x="594360" y="4846320"/>
            <a:ext cx="11064240" cy="1005840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846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48463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Code, notebooks et rapport : dépôt segmentation-bancaire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199632"/>
            <a:ext cx="45720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bg1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anche technique">
  <a:themeElements>
    <a:clrScheme name="Planche technique">
      <a:dk1>
        <a:srgbClr val="0B2545"/>
      </a:dk1>
      <a:lt1>
        <a:srgbClr val="FFFFFF"/>
      </a:lt1>
      <a:dk2>
        <a:srgbClr val="5C6B80"/>
      </a:dk2>
      <a:lt2>
        <a:srgbClr val="E8EDF3"/>
      </a:lt2>
      <a:accent1>
        <a:srgbClr val="F2A900"/>
      </a:accent1>
      <a:accent2>
        <a:srgbClr val="134074"/>
      </a:accent2>
      <a:accent3>
        <a:srgbClr val="8DA9C4"/>
      </a:accent3>
      <a:accent4>
        <a:srgbClr val="13315C"/>
      </a:accent4>
      <a:accent5>
        <a:srgbClr val="C1121F"/>
      </a:accent5>
      <a:accent6>
        <a:srgbClr val="2A9D8F"/>
      </a:accent6>
      <a:hlink>
        <a:srgbClr val="134074"/>
      </a:hlink>
      <a:folHlink>
        <a:srgbClr val="5C6B80"/>
      </a:folHlink>
    </a:clrScheme>
    <a:fontScheme name="Planche techniqu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Segmentation de clientèle bancaire</dc:title>
  <dc:subject>PptxGenJS Presentation</dc:subject>
  <dc:creator>Ndeye Sokhna Nokho</dc:creator>
  <cp:lastModifiedBy>Ndeye Sokhna Nokho</cp:lastModifiedBy>
  <cp:revision>1</cp:revision>
  <dcterms:created xsi:type="dcterms:W3CDTF">2026-10-04T14:23:39Z</dcterms:created>
  <dcterms:modified xsi:type="dcterms:W3CDTF">2026-10-04T14:23:39Z</dcterms:modified>
</cp:coreProperties>
</file>