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Sans standardisation</c:v>
                </c:pt>
              </c:strCache>
            </c:strRef>
          </c:tx>
          <c:spPr>
            <a:solidFill>
              <a:srgbClr val="DB2777"/>
            </a:solidFill>
          </c:spPr>
          <c:cat>
            <c:strRef>
              <c:f>Sheet1!$A$2:$A$9</c:f>
              <c:strCache>
                <c:ptCount val="8"/>
                <c:pt idx="0">
                  <c:v>age</c:v>
                </c:pt>
                <c:pt idx="1">
                  <c:v>cons.conf.idx</c:v>
                </c:pt>
                <c:pt idx="2">
                  <c:v>campaign</c:v>
                </c:pt>
                <c:pt idx="3">
                  <c:v>euribor3m</c:v>
                </c:pt>
                <c:pt idx="4">
                  <c:v>job</c:v>
                </c:pt>
                <c:pt idx="5">
                  <c:v>education</c:v>
                </c:pt>
                <c:pt idx="6">
                  <c:v>marital</c:v>
                </c:pt>
                <c:pt idx="7">
                  <c:v>cons.price.idx</c:v>
                </c:pt>
              </c:strCache>
            </c:strRef>
          </c:cat>
          <c:val>
            <c:numRef>
              <c:f>Sheet1!$B$2:$B$9</c:f>
              <c:numCache>
                <c:formatCode>General</c:formatCode>
                <c:ptCount val="8"/>
                <c:pt idx="0">
                  <c:v>77.0</c:v>
                </c:pt>
                <c:pt idx="1">
                  <c:v>14.9</c:v>
                </c:pt>
                <c:pt idx="2">
                  <c:v>3.4</c:v>
                </c:pt>
                <c:pt idx="3">
                  <c:v>2.1</c:v>
                </c:pt>
                <c:pt idx="4">
                  <c:v>0.6</c:v>
                </c:pt>
                <c:pt idx="5">
                  <c:v>0.5</c:v>
                </c:pt>
                <c:pt idx="6">
                  <c:v>0.4</c:v>
                </c:pt>
                <c:pt idx="7">
                  <c:v>0.2</c:v>
                </c:pt>
              </c:numCache>
            </c:numRef>
          </c:val>
        </c:ser>
        <c:ser>
          <c:idx val="1"/>
          <c:order val="1"/>
          <c:tx>
            <c:strRef>
              <c:f>Sheet1!$C$1</c:f>
              <c:strCache>
                <c:ptCount val="1"/>
                <c:pt idx="0">
                  <c:v>Avec standardisation</c:v>
                </c:pt>
              </c:strCache>
            </c:strRef>
          </c:tx>
          <c:spPr>
            <a:solidFill>
              <a:srgbClr val="0891B2"/>
            </a:solidFill>
          </c:spPr>
          <c:cat>
            <c:strRef>
              <c:f>Sheet1!$A$2:$A$9</c:f>
              <c:strCache>
                <c:ptCount val="8"/>
                <c:pt idx="0">
                  <c:v>age</c:v>
                </c:pt>
                <c:pt idx="1">
                  <c:v>cons.conf.idx</c:v>
                </c:pt>
                <c:pt idx="2">
                  <c:v>campaign</c:v>
                </c:pt>
                <c:pt idx="3">
                  <c:v>euribor3m</c:v>
                </c:pt>
                <c:pt idx="4">
                  <c:v>job</c:v>
                </c:pt>
                <c:pt idx="5">
                  <c:v>education</c:v>
                </c:pt>
                <c:pt idx="6">
                  <c:v>marital</c:v>
                </c:pt>
                <c:pt idx="7">
                  <c:v>cons.price.idx</c:v>
                </c:pt>
              </c:strCache>
            </c:strRef>
          </c:cat>
          <c:val>
            <c:numRef>
              <c:f>Sheet1!$C$2:$C$9</c:f>
              <c:numCache>
                <c:formatCode>General</c:formatCode>
                <c:ptCount val="8"/>
                <c:pt idx="0">
                  <c:v>10.9</c:v>
                </c:pt>
                <c:pt idx="1">
                  <c:v>10.6</c:v>
                </c:pt>
                <c:pt idx="2">
                  <c:v>9.8</c:v>
                </c:pt>
                <c:pt idx="3">
                  <c:v>10.5</c:v>
                </c:pt>
                <c:pt idx="4">
                  <c:v>8.9</c:v>
                </c:pt>
                <c:pt idx="5">
                  <c:v>8.3</c:v>
                </c:pt>
                <c:pt idx="6">
                  <c:v>5.7</c:v>
                </c:pt>
                <c:pt idx="7">
                  <c:v>10.7</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068027336"/>
        <c:crosses val="autoZero"/>
      </c:valAx>
      <c:spPr>
        <a:noFill/>
        <a:ln>
          <a:noFill/>
        </a:ln>
      </c:spPr>
    </c:plotArea>
    <c:legend>
      <c:legendPos val="b"/>
      <c:overlay val="0"/>
      <c:txPr>
        <a:bodyPr/>
        <a:lstStyle/>
        <a:p>
          <a:pPr>
            <a:defRPr sz="1000">
              <a:solidFill>
                <a:srgbClr val="0F172A"/>
              </a:solidFill>
            </a:defRPr>
          </a:pPr>
        </a:p>
      </c:txPr>
    </c:legend>
    <c:dispBlanksAs val="gap"/>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Inertie</c:v>
                </c:pt>
              </c:strCache>
            </c:strRef>
          </c:tx>
          <c:spPr>
            <a:ln w="28575">
              <a:solidFill>
                <a:srgbClr val="D97706"/>
              </a:solidFill>
            </a:ln>
          </c:spPr>
          <c:marker>
            <c:symbol val="circle"/>
            <c:size val="7"/>
            <c:spPr>
              <a:solidFill>
                <a:srgbClr val="D97706"/>
              </a:solidFill>
              <a:ln>
                <a:solidFill>
                  <a:srgbClr val="D97706"/>
                </a:solidFill>
              </a:ln>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309128</c:v>
                </c:pt>
                <c:pt idx="1">
                  <c:v>279987</c:v>
                </c:pt>
                <c:pt idx="2">
                  <c:v>256652</c:v>
                </c:pt>
                <c:pt idx="3">
                  <c:v>238401</c:v>
                </c:pt>
                <c:pt idx="4">
                  <c:v>221919</c:v>
                </c:pt>
                <c:pt idx="5">
                  <c:v>213187</c:v>
                </c:pt>
                <c:pt idx="6">
                  <c:v>204976</c:v>
                </c:pt>
                <c:pt idx="7">
                  <c:v>199660</c:v>
                </c:pt>
                <c:pt idx="8">
                  <c:v>194926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118791784"/>
        <c:crosses val="autoZero"/>
      </c:valAx>
      <c:spPr>
        <a:noFill/>
        <a:ln>
          <a:noFill/>
        </a:ln>
      </c:spPr>
    </c:plotArea>
    <c:plotVisOnly val="1"/>
    <c:dispBlanksAs val="gap"/>
    <c:showDLblsOverMax val="0"/>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Silhouette</c:v>
                </c:pt>
              </c:strCache>
            </c:strRef>
          </c:tx>
          <c:spPr>
            <a:ln w="28575">
              <a:solidFill>
                <a:srgbClr val="0891B2"/>
              </a:solidFill>
            </a:ln>
          </c:spPr>
          <c:marker>
            <c:symbol val="circle"/>
            <c:size val="7"/>
            <c:spPr>
              <a:solidFill>
                <a:srgbClr val="0891B2"/>
              </a:solidFill>
              <a:ln>
                <a:solidFill>
                  <a:srgbClr val="0891B2"/>
                </a:solidFill>
              </a:ln>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0.237</c:v>
                </c:pt>
                <c:pt idx="1">
                  <c:v>0.192</c:v>
                </c:pt>
                <c:pt idx="2">
                  <c:v>0.217</c:v>
                </c:pt>
                <c:pt idx="3">
                  <c:v>0.222</c:v>
                </c:pt>
                <c:pt idx="4">
                  <c:v>0.149</c:v>
                </c:pt>
                <c:pt idx="5">
                  <c:v>0.153</c:v>
                </c:pt>
                <c:pt idx="6">
                  <c:v>0.134</c:v>
                </c:pt>
                <c:pt idx="7">
                  <c:v>0.13</c:v>
                </c:pt>
                <c:pt idx="8">
                  <c:v>0.13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118791784"/>
        <c:crosses val="autoZero"/>
      </c:valAx>
      <c:spPr>
        <a:noFill/>
        <a:ln>
          <a:noFill/>
        </a:ln>
      </c:spPr>
    </c:plotArea>
    <c:plotVisOnly val="1"/>
    <c:dispBlanksAs val="gap"/>
    <c:showDLblsOverMax val="0"/>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de souscription (%)</c:v>
                </c:pt>
              </c:strCache>
            </c:strRef>
          </c:tx>
          <c:spPr>
            <a:solidFill>
              <a:srgbClr val="0891B2"/>
            </a:solidFill>
          </c:spPr>
          <c:dPt>
            <c:idx val="0"/>
            <c:spPr>
              <a:solidFill>
                <a:srgbClr val="2563EB"/>
              </a:solidFill>
            </c:spPr>
          </c:dPt>
          <c:dPt>
            <c:idx val="1"/>
            <c:spPr>
              <a:solidFill>
                <a:srgbClr val="059669"/>
              </a:solidFill>
            </c:spPr>
          </c:dPt>
          <c:dPt>
            <c:idx val="2"/>
            <c:spPr>
              <a:solidFill>
                <a:srgbClr val="D97706"/>
              </a:solidFill>
            </c:spPr>
          </c:dPt>
          <c:dPt>
            <c:idx val="3"/>
            <c:spPr>
              <a:solidFill>
                <a:srgbClr val="DB2777"/>
              </a:solidFill>
            </c:spPr>
          </c:dPt>
          <c:cat>
            <c:strRef>
              <c:f>Sheet1!$A$2:$A$5</c:f>
              <c:strCache>
                <c:ptCount val="4"/>
                <c:pt idx="0">
                  <c:v>S1</c:v>
                </c:pt>
                <c:pt idx="1">
                  <c:v>S2</c:v>
                </c:pt>
                <c:pt idx="2">
                  <c:v>S3</c:v>
                </c:pt>
                <c:pt idx="3">
                  <c:v>S4</c:v>
                </c:pt>
              </c:strCache>
            </c:strRef>
          </c:cat>
          <c:val>
            <c:numRef>
              <c:f>Sheet1!$B$2:$B$5</c:f>
              <c:numCache>
                <c:formatCode>General</c:formatCode>
                <c:ptCount val="4"/>
                <c:pt idx="0">
                  <c:v>5.4</c:v>
                </c:pt>
                <c:pt idx="1">
                  <c:v>17.0</c:v>
                </c:pt>
                <c:pt idx="2">
                  <c:v>22.3</c:v>
                </c:pt>
                <c:pt idx="3">
                  <c:v>40.8</c:v>
                </c:pt>
              </c:numCache>
            </c:numRef>
          </c:val>
        </c:ser>
        <c:dLbls>
          <c:numFmt formatCode="0.0&quot; %&quot;" sourceLinked="0"/>
          <c:txPr>
            <a:bodyPr/>
            <a:lstStyle/>
            <a:p>
              <a:pPr>
                <a:defRPr b="1" sz="1200">
                  <a:solidFill>
                    <a:srgbClr val="0F17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10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1000">
                <a:solidFill>
                  <a:srgbClr val="475569"/>
                </a:solidFill>
              </a:defRPr>
            </a:pPr>
          </a:p>
        </c:txPr>
        <c:crossAx val="-2068027336"/>
        <c:crosses val="autoZero"/>
      </c:valAx>
      <c:spPr>
        <a:noFill/>
        <a:ln>
          <a:noFill/>
        </a:ln>
      </c:spPr>
    </c:plotArea>
    <c:dispBlanksAs val="gap"/>
  </c:chart>
  <c:txPr>
    <a:bodyPr/>
    <a:lstStyle/>
    <a:p>
      <a:pPr>
        <a:defRPr sz="1100">
          <a:solidFill>
            <a:srgbClr val="475569"/>
          </a:solidFill>
          <a:latin typeface="Arial"/>
        </a:defRPr>
      </a:pPr>
      <a:endParaRPr lang="en-US"/>
    </a:p>
  </c:txPr>
  <c:externalData r:id="rId1">
    <c:autoUpdate val="0"/>
  </c:externalData>
  <c:spPr>
    <a:noFill/>
    <a:ln>
      <a:noFill/>
    </a:ln>
  </c:spPr>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radarChart>
        <c:radarStyle val="marker"/>
        <c:varyColors val="0"/>
        <c:ser>
          <c:idx val="0"/>
          <c:order val="0"/>
          <c:tx>
            <c:strRef>
              <c:f>Sheet1!$B$1</c:f>
              <c:strCache>
                <c:ptCount val="1"/>
                <c:pt idx="0">
                  <c:v>S1</c:v>
                </c:pt>
              </c:strCache>
            </c:strRef>
          </c:tx>
          <c:spPr>
            <a:ln w="28575">
              <a:solidFill>
                <a:srgbClr val="2563EB"/>
              </a:solidFill>
            </a:ln>
          </c:spPr>
          <c:marker>
            <c:symbol val="circle"/>
            <c:size val="7"/>
            <c:spPr>
              <a:solidFill>
                <a:srgbClr val="2563EB"/>
              </a:solidFill>
              <a:ln>
                <a:solidFill>
                  <a:srgbClr val="2563EB"/>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Sheet1!$B$2:$B$9</c:f>
              <c:numCache>
                <c:formatCode>General</c:formatCode>
                <c:ptCount val="8"/>
                <c:pt idx="0">
                  <c:v>0.31</c:v>
                </c:pt>
                <c:pt idx="1">
                  <c:v>1.0</c:v>
                </c:pt>
                <c:pt idx="2">
                  <c:v>0.0</c:v>
                </c:pt>
                <c:pt idx="3">
                  <c:v>1.0</c:v>
                </c:pt>
                <c:pt idx="4">
                  <c:v>0.43</c:v>
                </c:pt>
                <c:pt idx="5">
                  <c:v>0.0</c:v>
                </c:pt>
                <c:pt idx="6">
                  <c:v>0.0</c:v>
                </c:pt>
                <c:pt idx="7">
                  <c:v>1.0</c:v>
                </c:pt>
              </c:numCache>
            </c:numRef>
          </c:val>
          <c:smooth val="0"/>
        </c:ser>
        <c:ser>
          <c:idx val="1"/>
          <c:order val="1"/>
          <c:tx>
            <c:strRef>
              <c:f>Sheet1!$C$1</c:f>
              <c:strCache>
                <c:ptCount val="1"/>
                <c:pt idx="0">
                  <c:v>S2</c:v>
                </c:pt>
              </c:strCache>
            </c:strRef>
          </c:tx>
          <c:spPr>
            <a:ln w="28575">
              <a:solidFill>
                <a:srgbClr val="059669"/>
              </a:solidFill>
            </a:ln>
          </c:spPr>
          <c:marker>
            <c:symbol val="circle"/>
            <c:size val="7"/>
            <c:spPr>
              <a:solidFill>
                <a:srgbClr val="059669"/>
              </a:solidFill>
              <a:ln>
                <a:solidFill>
                  <a:srgbClr val="059669"/>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Sheet1!$C$2:$C$9</c:f>
              <c:numCache>
                <c:formatCode>General</c:formatCode>
                <c:ptCount val="8"/>
                <c:pt idx="0">
                  <c:v>0.0</c:v>
                </c:pt>
                <c:pt idx="1">
                  <c:v>0.48</c:v>
                </c:pt>
                <c:pt idx="2">
                  <c:v>0.0</c:v>
                </c:pt>
                <c:pt idx="3">
                  <c:v>0.13</c:v>
                </c:pt>
                <c:pt idx="4">
                  <c:v>0.0</c:v>
                </c:pt>
                <c:pt idx="5">
                  <c:v>0.96</c:v>
                </c:pt>
                <c:pt idx="6">
                  <c:v>0.16</c:v>
                </c:pt>
                <c:pt idx="7">
                  <c:v>0.44</c:v>
                </c:pt>
              </c:numCache>
            </c:numRef>
          </c:val>
          <c:smooth val="0"/>
        </c:ser>
        <c:ser>
          <c:idx val="2"/>
          <c:order val="2"/>
          <c:tx>
            <c:strRef>
              <c:f>Sheet1!$D$1</c:f>
              <c:strCache>
                <c:ptCount val="1"/>
                <c:pt idx="0">
                  <c:v>S3</c:v>
                </c:pt>
              </c:strCache>
            </c:strRef>
          </c:tx>
          <c:spPr>
            <a:ln w="28575">
              <a:solidFill>
                <a:srgbClr val="D97706"/>
              </a:solidFill>
            </a:ln>
          </c:spPr>
          <c:marker>
            <c:symbol val="circle"/>
            <c:size val="7"/>
            <c:spPr>
              <a:solidFill>
                <a:srgbClr val="D97706"/>
              </a:solidFill>
              <a:ln>
                <a:solidFill>
                  <a:srgbClr val="D97706"/>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Sheet1!$D$2:$D$9</c:f>
              <c:numCache>
                <c:formatCode>General</c:formatCode>
                <c:ptCount val="8"/>
                <c:pt idx="0">
                  <c:v>0.2</c:v>
                </c:pt>
                <c:pt idx="1">
                  <c:v>0.23</c:v>
                </c:pt>
                <c:pt idx="2">
                  <c:v>1.0</c:v>
                </c:pt>
                <c:pt idx="3">
                  <c:v>0.21</c:v>
                </c:pt>
                <c:pt idx="4">
                  <c:v>0.14</c:v>
                </c:pt>
                <c:pt idx="5">
                  <c:v>1.0</c:v>
                </c:pt>
                <c:pt idx="6">
                  <c:v>0.24</c:v>
                </c:pt>
                <c:pt idx="7">
                  <c:v>0.39</c:v>
                </c:pt>
              </c:numCache>
            </c:numRef>
          </c:val>
          <c:smooth val="0"/>
        </c:ser>
        <c:ser>
          <c:idx val="3"/>
          <c:order val="3"/>
          <c:tx>
            <c:strRef>
              <c:f>Sheet1!$E$1</c:f>
              <c:strCache>
                <c:ptCount val="1"/>
                <c:pt idx="0">
                  <c:v>S4</c:v>
                </c:pt>
              </c:strCache>
            </c:strRef>
          </c:tx>
          <c:spPr>
            <a:ln w="28575">
              <a:solidFill>
                <a:srgbClr val="DB2777"/>
              </a:solidFill>
            </a:ln>
          </c:spPr>
          <c:marker>
            <c:symbol val="circle"/>
            <c:size val="7"/>
            <c:spPr>
              <a:solidFill>
                <a:srgbClr val="DB2777"/>
              </a:solidFill>
              <a:ln>
                <a:solidFill>
                  <a:srgbClr val="DB2777"/>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Sheet1!$E$2:$E$9</c:f>
              <c:numCache>
                <c:formatCode>General</c:formatCode>
                <c:ptCount val="8"/>
                <c:pt idx="0">
                  <c:v>1.0</c:v>
                </c:pt>
                <c:pt idx="1">
                  <c:v>0.0</c:v>
                </c:pt>
                <c:pt idx="2">
                  <c:v>0.42</c:v>
                </c:pt>
                <c:pt idx="3">
                  <c:v>0.0</c:v>
                </c:pt>
                <c:pt idx="4">
                  <c:v>1.0</c:v>
                </c:pt>
                <c:pt idx="5">
                  <c:v>0.91</c:v>
                </c:pt>
                <c:pt idx="6">
                  <c:v>1.0</c:v>
                </c:pt>
                <c:pt idx="7">
                  <c:v>0.0</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spPr>
          <a:ln>
            <a:solidFill>
              <a:srgbClr val="94A3B8"/>
            </a:solidFill>
          </a:ln>
        </c:spPr>
        <c:txPr>
          <a:bodyPr/>
          <a:lstStyle/>
          <a:p>
            <a:pPr>
              <a:defRPr sz="800">
                <a:solidFill>
                  <a:srgbClr val="475569"/>
                </a:solidFill>
              </a:defRPr>
            </a:pPr>
          </a:p>
        </c:txPr>
        <c:crossAx val="-2112772216"/>
        <c:crosses val="autoZero"/>
        <c:auto val="1"/>
        <c:lblAlgn val="ctr"/>
        <c:lblOffset val="100"/>
        <c:noMultiLvlLbl val="0"/>
      </c:catAx>
      <c:valAx>
        <c:axId val="-2112772216"/>
        <c:scaling>
          <c:orientation val="minMax"/>
        </c:scaling>
        <c:delete val="0"/>
        <c:axPos val="l"/>
        <c:majorGridlines>
          <c:spPr>
            <a:ln w="9525">
              <a:solidFill>
                <a:srgbClr val="E2E8F0"/>
              </a:solidFill>
            </a:ln>
          </c:spPr>
        </c:majorGridlines>
        <c:numFmt formatCode="General" sourceLinked="1"/>
        <c:majorTickMark val="cross"/>
        <c:minorTickMark val="none"/>
        <c:tickLblPos val="nextTo"/>
        <c:spPr>
          <a:ln>
            <a:solidFill>
              <a:srgbClr val="94A3B8"/>
            </a:solidFill>
          </a:ln>
        </c:spPr>
        <c:txPr>
          <a:bodyPr/>
          <a:lstStyle/>
          <a:p>
            <a:pPr>
              <a:defRPr sz="100">
                <a:solidFill>
                  <a:srgbClr val="F1F5F9"/>
                </a:solidFill>
              </a:defRPr>
            </a:pPr>
          </a:p>
        </c:txPr>
        <c:crossAx val="2073612648"/>
        <c:crosses val="autoZero"/>
        <c:crossBetween val="between"/>
      </c:valAx>
      <c:spPr>
        <a:noFill/>
        <a:ln>
          <a:noFill/>
        </a:ln>
      </c:spPr>
    </c:plotArea>
    <c:legend>
      <c:legendPos val="b"/>
      <c:overlay val="0"/>
      <c:txPr>
        <a:bodyPr/>
        <a:lstStyle/>
        <a:p>
          <a:pPr>
            <a:defRPr sz="900">
              <a:solidFill>
                <a:srgbClr val="0F172A"/>
              </a:solidFill>
            </a:defRPr>
          </a:pPr>
        </a:p>
      </c:txPr>
    </c:legend>
    <c:plotVisOnly val="1"/>
    <c:dispBlanksAs val="gap"/>
    <c:showDLblsOverMax val="0"/>
  </c:chart>
  <c:txPr>
    <a:bodyPr/>
    <a:lstStyle/>
    <a:p>
      <a:pPr>
        <a:defRPr sz="900">
          <a:solidFill>
            <a:srgbClr val="475569"/>
          </a:solidFill>
          <a:latin typeface="Arial"/>
        </a:defRPr>
      </a:pPr>
      <a:endParaRPr lang="en-US"/>
    </a:p>
  </c:txPr>
  <c:externalData r:id="rId1">
    <c:autoUpdate val="0"/>
  </c:externalData>
  <c:spPr>
    <a:noFill/>
    <a:ln>
      <a:noFill/>
    </a:ln>
  </c:spPr>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bas</c:v>
                </c:pt>
              </c:strCache>
            </c:strRef>
          </c:tx>
          <c:spPr>
            <a:solidFill>
              <a:srgbClr val="059669"/>
            </a:solidFill>
          </c:spPr>
          <c:cat>
            <c:strRef>
              <c:f>Sheet1!$A$2:$A$5</c:f>
              <c:strCache>
                <c:ptCount val="4"/>
                <c:pt idx="0">
                  <c:v>Déjà démarchés</c:v>
                </c:pt>
                <c:pt idx="1">
                  <c:v>Sur-sollicités</c:v>
                </c:pt>
                <c:pt idx="2">
                  <c:v>Seniors</c:v>
                </c:pt>
                <c:pt idx="3">
                  <c:v>Jeunes actifs</c:v>
                </c:pt>
              </c:strCache>
            </c:strRef>
          </c:cat>
          <c:val>
            <c:numRef>
              <c:f>Sheet1!$B$2:$B$5</c:f>
              <c:numCache>
                <c:formatCode>General</c:formatCode>
                <c:ptCount val="4"/>
                <c:pt idx="0">
                  <c:v>30.1</c:v>
                </c:pt>
                <c:pt idx="1">
                  <c:v>10.1</c:v>
                </c:pt>
                <c:pt idx="2">
                  <c:v>24.2</c:v>
                </c:pt>
                <c:pt idx="3">
                  <c:v>21.6</c:v>
                </c:pt>
              </c:numCache>
            </c:numRef>
          </c:val>
        </c:ser>
        <c:ser>
          <c:idx val="1"/>
          <c:order val="1"/>
          <c:tx>
            <c:strRef>
              <c:f>Sheet1!$C$1</c:f>
              <c:strCache>
                <c:ptCount val="1"/>
                <c:pt idx="0">
                  <c:v>Taux hauts</c:v>
                </c:pt>
              </c:strCache>
            </c:strRef>
          </c:tx>
          <c:spPr>
            <a:solidFill>
              <a:srgbClr val="DB2777"/>
            </a:solidFill>
          </c:spPr>
          <c:cat>
            <c:strRef>
              <c:f>Sheet1!$A$2:$A$5</c:f>
              <c:strCache>
                <c:ptCount val="4"/>
                <c:pt idx="0">
                  <c:v>Déjà démarchés</c:v>
                </c:pt>
                <c:pt idx="1">
                  <c:v>Sur-sollicités</c:v>
                </c:pt>
                <c:pt idx="2">
                  <c:v>Seniors</c:v>
                </c:pt>
                <c:pt idx="3">
                  <c:v>Jeunes actifs</c:v>
                </c:pt>
              </c:strCache>
            </c:strRef>
          </c:cat>
          <c:val>
            <c:numRef>
              <c:f>Sheet1!$C$2:$C$5</c:f>
              <c:numCache>
                <c:formatCode>General</c:formatCode>
                <c:ptCount val="4"/>
                <c:pt idx="0">
                  <c:v>3.7</c:v>
                </c:pt>
                <c:pt idx="1">
                  <c:v>4.4</c:v>
                </c:pt>
                <c:pt idx="2">
                  <c:v>4.4</c:v>
                </c:pt>
                <c:pt idx="3">
                  <c:v>5.3</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8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800">
                <a:solidFill>
                  <a:srgbClr val="475569"/>
                </a:solidFill>
              </a:defRPr>
            </a:pPr>
          </a:p>
        </c:txPr>
        <c:crossAx val="-2068027336"/>
        <c:crosses val="autoZero"/>
      </c:valAx>
      <c:spPr>
        <a:noFill/>
        <a:ln>
          <a:noFill/>
        </a:ln>
      </c:spPr>
    </c:plotArea>
    <c:legend>
      <c:legendPos val="b"/>
      <c:overlay val="0"/>
      <c:txPr>
        <a:bodyPr/>
        <a:lstStyle/>
        <a:p>
          <a:pPr>
            <a:defRPr sz="900">
              <a:solidFill>
                <a:srgbClr val="0F172A"/>
              </a:solidFill>
            </a:defRPr>
          </a:pPr>
        </a:p>
      </c:txPr>
    </c:legend>
    <c:dispBlanksAs val="gap"/>
  </c:chart>
  <c:txPr>
    <a:bodyPr/>
    <a:lstStyle/>
    <a:p>
      <a:pPr>
        <a:defRPr sz="900">
          <a:solidFill>
            <a:srgbClr val="475569"/>
          </a:solidFill>
          <a:latin typeface="Arial"/>
        </a:defRPr>
      </a:pPr>
      <a:endParaRPr lang="en-US"/>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présente mon projet final du module Apprentissage non supervisé : une segmentation de la clientèle d'une banque à partir du jeu Bank Marketing. Plan : le problème et la démarche, les données et les distances, les résultats méthode par méthode, la solution retenue, les recommandations, puis les limites et les extensions.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marketing téléphonique coûte cher et seuls 11,3 % des contacts aboutissent à une souscription. La banque n'a aucune segmentation. Ma mission : trouver des groupes homogènes sans utiliser la variable de souscription, puis vérifier qu'ils sont utiles. Trois questions guident le travail. Le projet suit les cinq jours du sujet, un notebook par jour, plus un sixième pour les extensions. Point clé : y ne sert ni à construire ni à choisir les groupes ; elle revient au jour 4 pour vérifier le choix et au jour 5 pour décrire les segments.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données : 41 188 contacts, 10 variables numériques et 10 catégorielles. Nettoyage : 12 doublons, les unknown imputés par le mode sauf pour default où c'est une vraie modalité, campaign plafonnée. Je distingue variables actives et illustratives : duration est connue après l'appel, deux indicateurs économiques sont redondants avec l'Euribor. C'est un écart assumé par rapport au squelette du sujet.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question : comment mesurer la ressemblance. Sans standardisation, l'âge porte 77 % de la distance euclidienne, juste parce qu'il s'exprime en dizaines. Après standardisation, chaque variable numérique pèse environ 10 %. Seuls 23 % des dix plus proches voisins restent les mêmes : la standardisation change les groupes. Pour les données mixtes j'utilise Gower, qui donne le même poids à chaque variable.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comparé neuf méthodes dans quatre familles. Chacune reçoit la représentation et la distance qui lui conviennent. Pour K-medoids, le sujet propose la bibliothèque scikit-learn-extra. Mais elle n'est plus mise à jour depuis 2023 : elle n'existe que pour NumPy 1 et pour Python 3.11 au plus, alors que mon environnement utilise Python 3.13 et NumPy 2. J'ai donc écrit K-medoids moi-même, avec le même algorithme : initialisation k-medoids++, puis on alterne l'affectation de chaque client au médoïde le plus proche et le remplacement de chaque médoïde par le client qui minimise la somme des distances de Gower dans son groupe. Si la bibliothèque est installée avec NumPy 1, le code l'utilise automatiquement. L'indice de Dunn est aussi codé à la main, comme le sujet le permet.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K-means, l'inertie décroît sans cassure franche : le coude est vers 6. La silhouette est maximale à k = 2, 0,24, et reste proche de 0,20 jusqu'à 5. À k = 2, K-means, K-prototypes et le mélange gaussien trouvent la même coupure : taux élevés contre taux bas. K-medoids sur Gower donne une structure plus faible et différente. Pour le GMM, le BIC décroît sans minimum : les données ne sont pas gaussiennes.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hiérarchique : le choix du lien change tout. Single produit un effet de chaîne, average et complete isolent quelques dizaines d'atypiques ; seul Ward donne des groupes équilibrés. Le piège : les liens inutilisables ont les meilleures silhouettes, donc un indice ne se lit jamais sans la taille des clusters. Le dendrogramme de Ward propose deux coupures, 2 et 5 ; la silhouette préfère 2 puis 4. DBSCAN, réglé par le graphique des k-distances, trouve 8 clusters mais un seul contient 82 % des clients : la clientèle est une masse continue. Le bruit, en revanche, a un sens : clients plus âgés, déjà démarchés, souvent retraités ou étudiants, que K-means range de force loin de leur centre.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Sélection en quatre temps. Un filtre métier : 3 ou 4 groupes, chacun d'au moins 5 % des clients. Puis un classement sur les quatre indices internes seulement : y n'intervient pas dans le choix, sinon le raisonnement serait circulaire. Ward à 4 groupes est premier : meilleure silhouette, meilleur Davies-Bouldin, meilleur Dunn. Troisième étape, la stabilité : en bootstrap, Ward obtient 0,93 à k = 4 contre 0,72 pour K-means. Enfin, l'ARI calculé avec y sert seulement de contrôle : Ward a aussi le meilleur. Je retiens donc la CAH de Ward à quatre segments, en assumant le compromis : la structure la plus nette est à deux groupes. Ward ne passe pas à l'échelle de 41 000 clients : j'affecte chaque client au centre le plus proche, ce qui reproduit Ward à 98 %.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les quatre segments sur les 41 176 clients, classés du moins au plus souscripteur. Le taux de souscription est multiplié par plus de 7 entre S1 et S4, alors que y n'a servi ni à construire les groupes ni à choisir la solution. S1, deux tiers des clients, 5 %. S4, 6 % des clients, 41 %.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profils. S1 : jamais démarchés, contactés quand les taux sont élevés, pour moitié sur fixe. S2 : jamais démarchés non plus, mais en période de taux bas, sur mobile, plus jeunes. S3 : tous déjà démarchés lors d'une campagne précédente. S4 : les plus âgés, beaucoup de retraités, d'étudiants et de diplômés. Trois dimensions structurent donc la clientèle : le contexte économique, l'historique, puis le profil socio-démographique.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recommandations, une par segment. S4 : priorité numéro un, les meilleurs conseillers. S3 : relance personnalisée selon le résultat précédent. S2 : acquisition sur mobile en période de taux bas. S1 : réduire la pression téléphonique. Le gain : en appelant S4, S3 puis S2, soit un tiers des clients, la banque obtient deux tiers des souscriptions. Le taux de réussite double.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limites, à dire clairement. Les silhouettes sont autour de 0,2 : les segments se chevauchent. S1 et S2 se distinguent surtout par la période du contact, pas par ce que le client est. Le fichier n'a ni revenu ni solde. Et k = 4 est un choix métier. J'ai mesuré ce poids du contexte : sans les trois indicateurs économiques, seul l'historique de contact forme un groupe net, et la partition devient instable. Le graphique le montre : dans chaque groupe, la souscription est bien plus forte en période de taux bas ; à période égale, ce sont l'historique et le nombre d'appels qui discriminent, plus que la démographie. Deuxième extension : DBSCAN et l'Isolation Forest s'accordent sur un noyau de clients atypiques, surtout d'anciens souscripteurs, qui souscrivent à près de 50 %. La sélection de variables le confirme : un wrapper bien construit montre que trois variables, l'Euribor, la confiance des ménages et l'historique, suffisent à reproduire la segmentation. J'ai aussi reproduit toute la démarche sur un second jeu, Online Retail, avec une segmentation RFM : un client sur six, les Champions, fait deux tiers du chiffre d'affaires, et cette fois c'est K-means qui est la méthode la plus stable. Enfin, la règle d'affectation est déployée dans une application Streamlit.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 sans utiliser la variable de souscription, on obtient quatre segments dont le taux va de 5 à 41 %. Trois enseignements de méthode : la standardisation et la distance changent les groupes ; un indice ne se lit jamais seul ; le nombre de groupes est un compromis entre les données et le métier, à énoncer clairement. Merci, je suis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hyperlink" Target="https://github.com/Nokho11/segmentation-bancaire"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github.com/Nokho11/segmentation-bancaire"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85800" y="685800"/>
            <a:ext cx="8229600" cy="274320"/>
          </a:xfrm>
          <a:prstGeom prst="rect">
            <a:avLst/>
          </a:prstGeom>
          <a:noFill/>
        </p:spPr>
        <p:txBody>
          <a:bodyPr wrap="square" lIns="0" rIns="0" tIns="0" bIns="0" anchor="t">
            <a:spAutoFit/>
          </a:bodyPr>
          <a:lstStyle/>
          <a:p>
            <a:pPr algn="l"/>
            <a:r>
              <a:rPr sz="1300" b="1">
                <a:solidFill>
                  <a:srgbClr val="0891B2"/>
                </a:solidFill>
                <a:latin typeface="Arial"/>
              </a:rPr>
              <a:t>PROJET FINAL  ·  APPRENTISSAGE NON SUPERVISÉ</a:t>
            </a:r>
          </a:p>
        </p:txBody>
      </p:sp>
      <p:sp>
        <p:nvSpPr>
          <p:cNvPr id="4" name="TextBox 3"/>
          <p:cNvSpPr txBox="1"/>
          <p:nvPr/>
        </p:nvSpPr>
        <p:spPr>
          <a:xfrm>
            <a:off x="685800" y="1051560"/>
            <a:ext cx="9601200" cy="1463040"/>
          </a:xfrm>
          <a:prstGeom prst="rect">
            <a:avLst/>
          </a:prstGeom>
          <a:noFill/>
        </p:spPr>
        <p:txBody>
          <a:bodyPr wrap="square" lIns="0" rIns="0" tIns="0" bIns="0" anchor="t">
            <a:spAutoFit/>
          </a:bodyPr>
          <a:lstStyle/>
          <a:p>
            <a:pPr algn="l"/>
            <a:r>
              <a:rPr sz="4600" b="1">
                <a:solidFill>
                  <a:srgbClr val="0F172A"/>
                </a:solidFill>
                <a:latin typeface="Arial"/>
              </a:rPr>
              <a:t>Segmentation de</a:t>
            </a:r>
          </a:p>
          <a:p>
            <a:pPr algn="l"/>
            <a:r>
              <a:rPr sz="4600" b="1">
                <a:solidFill>
                  <a:srgbClr val="0F172A"/>
                </a:solidFill>
                <a:latin typeface="Arial"/>
              </a:rPr>
              <a:t>clientèle bancaire</a:t>
            </a:r>
          </a:p>
        </p:txBody>
      </p:sp>
      <p:sp>
        <p:nvSpPr>
          <p:cNvPr id="5" name="TextBox 4"/>
          <p:cNvSpPr txBox="1"/>
          <p:nvPr/>
        </p:nvSpPr>
        <p:spPr>
          <a:xfrm>
            <a:off x="685800" y="2606040"/>
            <a:ext cx="8686800" cy="640080"/>
          </a:xfrm>
          <a:prstGeom prst="rect">
            <a:avLst/>
          </a:prstGeom>
          <a:noFill/>
        </p:spPr>
        <p:txBody>
          <a:bodyPr wrap="square" lIns="0" rIns="0" tIns="0" bIns="0" anchor="t">
            <a:spAutoFit/>
          </a:bodyPr>
          <a:lstStyle/>
          <a:p>
            <a:pPr algn="l"/>
            <a:r>
              <a:rPr sz="1700" b="0">
                <a:solidFill>
                  <a:srgbClr val="475569"/>
                </a:solidFill>
                <a:latin typeface="Arial"/>
              </a:rPr>
              <a:t>Découvrir des groupes de clients sans étiquette, pour mieux cibler les campagnes de marketing téléphonique</a:t>
            </a:r>
          </a:p>
        </p:txBody>
      </p:sp>
      <p:sp>
        <p:nvSpPr>
          <p:cNvPr id="6" name="Rounded Rectangle 5"/>
          <p:cNvSpPr/>
          <p:nvPr/>
        </p:nvSpPr>
        <p:spPr>
          <a:xfrm>
            <a:off x="6858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85800" y="3520440"/>
            <a:ext cx="64008" cy="1143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41832" y="3666744"/>
            <a:ext cx="1965960" cy="685800"/>
          </a:xfrm>
          <a:prstGeom prst="rect">
            <a:avLst/>
          </a:prstGeom>
          <a:noFill/>
        </p:spPr>
        <p:txBody>
          <a:bodyPr wrap="square" lIns="0" rIns="0" tIns="0" bIns="0" anchor="t">
            <a:spAutoFit/>
          </a:bodyPr>
          <a:lstStyle/>
          <a:p>
            <a:pPr algn="l"/>
            <a:r>
              <a:rPr sz="3000" b="1">
                <a:solidFill>
                  <a:srgbClr val="0891B2"/>
                </a:solidFill>
                <a:latin typeface="Arial"/>
              </a:rPr>
              <a:t>41 176</a:t>
            </a:r>
          </a:p>
        </p:txBody>
      </p:sp>
      <p:sp>
        <p:nvSpPr>
          <p:cNvPr id="9" name="TextBox 8"/>
          <p:cNvSpPr txBox="1"/>
          <p:nvPr/>
        </p:nvSpPr>
        <p:spPr>
          <a:xfrm>
            <a:off x="9418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clients analysés</a:t>
            </a:r>
          </a:p>
        </p:txBody>
      </p:sp>
      <p:sp>
        <p:nvSpPr>
          <p:cNvPr id="10" name="Rounded Rectangle 9"/>
          <p:cNvSpPr/>
          <p:nvPr/>
        </p:nvSpPr>
        <p:spPr>
          <a:xfrm>
            <a:off x="32004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200400" y="3520440"/>
            <a:ext cx="64008"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456432" y="3666744"/>
            <a:ext cx="1965960" cy="685800"/>
          </a:xfrm>
          <a:prstGeom prst="rect">
            <a:avLst/>
          </a:prstGeom>
          <a:noFill/>
        </p:spPr>
        <p:txBody>
          <a:bodyPr wrap="square" lIns="0" rIns="0" tIns="0" bIns="0" anchor="t">
            <a:spAutoFit/>
          </a:bodyPr>
          <a:lstStyle/>
          <a:p>
            <a:pPr algn="l"/>
            <a:r>
              <a:rPr sz="3000" b="1">
                <a:solidFill>
                  <a:srgbClr val="2563EB"/>
                </a:solidFill>
                <a:latin typeface="Arial"/>
              </a:rPr>
              <a:t>9</a:t>
            </a:r>
          </a:p>
        </p:txBody>
      </p:sp>
      <p:sp>
        <p:nvSpPr>
          <p:cNvPr id="13" name="TextBox 12"/>
          <p:cNvSpPr txBox="1"/>
          <p:nvPr/>
        </p:nvSpPr>
        <p:spPr>
          <a:xfrm>
            <a:off x="34564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méthodes comparées</a:t>
            </a:r>
          </a:p>
        </p:txBody>
      </p:sp>
      <p:sp>
        <p:nvSpPr>
          <p:cNvPr id="14" name="Rounded Rectangle 13"/>
          <p:cNvSpPr/>
          <p:nvPr/>
        </p:nvSpPr>
        <p:spPr>
          <a:xfrm>
            <a:off x="57150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715000" y="3520440"/>
            <a:ext cx="64008"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71032" y="3666744"/>
            <a:ext cx="1965960" cy="685800"/>
          </a:xfrm>
          <a:prstGeom prst="rect">
            <a:avLst/>
          </a:prstGeom>
          <a:noFill/>
        </p:spPr>
        <p:txBody>
          <a:bodyPr wrap="square" lIns="0" rIns="0" tIns="0" bIns="0" anchor="t">
            <a:spAutoFit/>
          </a:bodyPr>
          <a:lstStyle/>
          <a:p>
            <a:pPr algn="l"/>
            <a:r>
              <a:rPr sz="3000" b="1">
                <a:solidFill>
                  <a:srgbClr val="059669"/>
                </a:solidFill>
                <a:latin typeface="Arial"/>
              </a:rPr>
              <a:t>4</a:t>
            </a:r>
          </a:p>
        </p:txBody>
      </p:sp>
      <p:sp>
        <p:nvSpPr>
          <p:cNvPr id="17" name="TextBox 16"/>
          <p:cNvSpPr txBox="1"/>
          <p:nvPr/>
        </p:nvSpPr>
        <p:spPr>
          <a:xfrm>
            <a:off x="59710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segments retenus</a:t>
            </a:r>
          </a:p>
        </p:txBody>
      </p:sp>
      <p:sp>
        <p:nvSpPr>
          <p:cNvPr id="18" name="Rounded Rectangle 17"/>
          <p:cNvSpPr/>
          <p:nvPr/>
        </p:nvSpPr>
        <p:spPr>
          <a:xfrm>
            <a:off x="82296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229600" y="3520440"/>
            <a:ext cx="64008" cy="1143000"/>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85632" y="3666744"/>
            <a:ext cx="1965960" cy="685800"/>
          </a:xfrm>
          <a:prstGeom prst="rect">
            <a:avLst/>
          </a:prstGeom>
          <a:noFill/>
        </p:spPr>
        <p:txBody>
          <a:bodyPr wrap="square" lIns="0" rIns="0" tIns="0" bIns="0" anchor="t">
            <a:spAutoFit/>
          </a:bodyPr>
          <a:lstStyle/>
          <a:p>
            <a:pPr algn="l"/>
            <a:r>
              <a:rPr sz="3000" b="1">
                <a:solidFill>
                  <a:srgbClr val="DB2777"/>
                </a:solidFill>
                <a:latin typeface="Arial"/>
              </a:rPr>
              <a:t>5 → 41 %</a:t>
            </a:r>
          </a:p>
        </p:txBody>
      </p:sp>
      <p:sp>
        <p:nvSpPr>
          <p:cNvPr id="21" name="TextBox 20"/>
          <p:cNvSpPr txBox="1"/>
          <p:nvPr/>
        </p:nvSpPr>
        <p:spPr>
          <a:xfrm>
            <a:off x="84856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taux de souscription</a:t>
            </a:r>
          </a:p>
        </p:txBody>
      </p:sp>
      <p:sp>
        <p:nvSpPr>
          <p:cNvPr id="22" name="TextBox 21"/>
          <p:cNvSpPr txBox="1"/>
          <p:nvPr/>
        </p:nvSpPr>
        <p:spPr>
          <a:xfrm>
            <a:off x="685800" y="5029200"/>
            <a:ext cx="1883664" cy="228600"/>
          </a:xfrm>
          <a:prstGeom prst="rect">
            <a:avLst/>
          </a:prstGeom>
          <a:noFill/>
        </p:spPr>
        <p:txBody>
          <a:bodyPr wrap="square" lIns="0" rIns="0" tIns="0" bIns="0" anchor="t">
            <a:spAutoFit/>
          </a:bodyPr>
          <a:lstStyle/>
          <a:p>
            <a:pPr algn="l"/>
            <a:r>
              <a:rPr sz="1000" b="1">
                <a:solidFill>
                  <a:srgbClr val="94A3B8"/>
                </a:solidFill>
                <a:latin typeface="Arial"/>
              </a:rPr>
              <a:t>AUTEURE</a:t>
            </a:r>
          </a:p>
        </p:txBody>
      </p:sp>
      <p:sp>
        <p:nvSpPr>
          <p:cNvPr id="23" name="TextBox 22"/>
          <p:cNvSpPr txBox="1"/>
          <p:nvPr/>
        </p:nvSpPr>
        <p:spPr>
          <a:xfrm>
            <a:off x="685800" y="5285232"/>
            <a:ext cx="1883664" cy="457200"/>
          </a:xfrm>
          <a:prstGeom prst="rect">
            <a:avLst/>
          </a:prstGeom>
          <a:noFill/>
        </p:spPr>
        <p:txBody>
          <a:bodyPr wrap="square" lIns="0" rIns="0" tIns="0" bIns="0" anchor="t">
            <a:spAutoFit/>
          </a:bodyPr>
          <a:lstStyle/>
          <a:p>
            <a:pPr algn="l"/>
            <a:r>
              <a:rPr sz="1300" b="1">
                <a:solidFill>
                  <a:srgbClr val="0F172A"/>
                </a:solidFill>
                <a:latin typeface="Arial"/>
              </a:rPr>
              <a:t>Ndeye Sokhna Nokho</a:t>
            </a:r>
          </a:p>
        </p:txBody>
      </p:sp>
      <p:sp>
        <p:nvSpPr>
          <p:cNvPr id="24" name="TextBox 23"/>
          <p:cNvSpPr txBox="1"/>
          <p:nvPr/>
        </p:nvSpPr>
        <p:spPr>
          <a:xfrm>
            <a:off x="2660904" y="5029200"/>
            <a:ext cx="1883664" cy="228600"/>
          </a:xfrm>
          <a:prstGeom prst="rect">
            <a:avLst/>
          </a:prstGeom>
          <a:noFill/>
        </p:spPr>
        <p:txBody>
          <a:bodyPr wrap="square" lIns="0" rIns="0" tIns="0" bIns="0" anchor="t">
            <a:spAutoFit/>
          </a:bodyPr>
          <a:lstStyle/>
          <a:p>
            <a:pPr algn="l"/>
            <a:r>
              <a:rPr sz="1000" b="1">
                <a:solidFill>
                  <a:srgbClr val="94A3B8"/>
                </a:solidFill>
                <a:latin typeface="Arial"/>
              </a:rPr>
              <a:t>ENSEIGNANT</a:t>
            </a:r>
          </a:p>
        </p:txBody>
      </p:sp>
      <p:sp>
        <p:nvSpPr>
          <p:cNvPr id="25" name="TextBox 24"/>
          <p:cNvSpPr txBox="1"/>
          <p:nvPr/>
        </p:nvSpPr>
        <p:spPr>
          <a:xfrm>
            <a:off x="2660904" y="5285232"/>
            <a:ext cx="1883664" cy="457200"/>
          </a:xfrm>
          <a:prstGeom prst="rect">
            <a:avLst/>
          </a:prstGeom>
          <a:noFill/>
        </p:spPr>
        <p:txBody>
          <a:bodyPr wrap="square" lIns="0" rIns="0" tIns="0" bIns="0" anchor="t">
            <a:spAutoFit/>
          </a:bodyPr>
          <a:lstStyle/>
          <a:p>
            <a:pPr algn="l"/>
            <a:r>
              <a:rPr sz="1300" b="1">
                <a:solidFill>
                  <a:srgbClr val="0F172A"/>
                </a:solidFill>
                <a:latin typeface="Arial"/>
              </a:rPr>
              <a:t>M. Cheikh GUEYE</a:t>
            </a:r>
          </a:p>
        </p:txBody>
      </p:sp>
      <p:sp>
        <p:nvSpPr>
          <p:cNvPr id="26" name="TextBox 25"/>
          <p:cNvSpPr txBox="1"/>
          <p:nvPr/>
        </p:nvSpPr>
        <p:spPr>
          <a:xfrm>
            <a:off x="4636008" y="5029200"/>
            <a:ext cx="1883664" cy="228600"/>
          </a:xfrm>
          <a:prstGeom prst="rect">
            <a:avLst/>
          </a:prstGeom>
          <a:noFill/>
        </p:spPr>
        <p:txBody>
          <a:bodyPr wrap="square" lIns="0" rIns="0" tIns="0" bIns="0" anchor="t">
            <a:spAutoFit/>
          </a:bodyPr>
          <a:lstStyle/>
          <a:p>
            <a:pPr algn="l"/>
            <a:r>
              <a:rPr sz="1000" b="1">
                <a:solidFill>
                  <a:srgbClr val="94A3B8"/>
                </a:solidFill>
                <a:latin typeface="Arial"/>
              </a:rPr>
              <a:t>MODULE</a:t>
            </a:r>
          </a:p>
        </p:txBody>
      </p:sp>
      <p:sp>
        <p:nvSpPr>
          <p:cNvPr id="27" name="TextBox 26"/>
          <p:cNvSpPr txBox="1"/>
          <p:nvPr/>
        </p:nvSpPr>
        <p:spPr>
          <a:xfrm>
            <a:off x="4636008" y="5285232"/>
            <a:ext cx="1883664" cy="457200"/>
          </a:xfrm>
          <a:prstGeom prst="rect">
            <a:avLst/>
          </a:prstGeom>
          <a:noFill/>
        </p:spPr>
        <p:txBody>
          <a:bodyPr wrap="square" lIns="0" rIns="0" tIns="0" bIns="0" anchor="t">
            <a:spAutoFit/>
          </a:bodyPr>
          <a:lstStyle/>
          <a:p>
            <a:pPr algn="l"/>
            <a:r>
              <a:rPr sz="1300" b="1">
                <a:solidFill>
                  <a:srgbClr val="0F172A"/>
                </a:solidFill>
                <a:latin typeface="Arial"/>
              </a:rPr>
              <a:t>Master BDA/IA, UN-CHK</a:t>
            </a:r>
          </a:p>
        </p:txBody>
      </p:sp>
      <p:sp>
        <p:nvSpPr>
          <p:cNvPr id="28" name="TextBox 27"/>
          <p:cNvSpPr txBox="1"/>
          <p:nvPr/>
        </p:nvSpPr>
        <p:spPr>
          <a:xfrm>
            <a:off x="6611112" y="5029200"/>
            <a:ext cx="1883664" cy="228600"/>
          </a:xfrm>
          <a:prstGeom prst="rect">
            <a:avLst/>
          </a:prstGeom>
          <a:noFill/>
        </p:spPr>
        <p:txBody>
          <a:bodyPr wrap="square" lIns="0" rIns="0" tIns="0" bIns="0" anchor="t">
            <a:spAutoFit/>
          </a:bodyPr>
          <a:lstStyle/>
          <a:p>
            <a:pPr algn="l"/>
            <a:r>
              <a:rPr sz="1000" b="1">
                <a:solidFill>
                  <a:srgbClr val="94A3B8"/>
                </a:solidFill>
                <a:latin typeface="Arial"/>
              </a:rPr>
              <a:t>DONNÉES</a:t>
            </a:r>
          </a:p>
        </p:txBody>
      </p:sp>
      <p:sp>
        <p:nvSpPr>
          <p:cNvPr id="29" name="TextBox 28"/>
          <p:cNvSpPr txBox="1"/>
          <p:nvPr/>
        </p:nvSpPr>
        <p:spPr>
          <a:xfrm>
            <a:off x="6611112" y="5285232"/>
            <a:ext cx="1883664" cy="457200"/>
          </a:xfrm>
          <a:prstGeom prst="rect">
            <a:avLst/>
          </a:prstGeom>
          <a:noFill/>
        </p:spPr>
        <p:txBody>
          <a:bodyPr wrap="square" lIns="0" rIns="0" tIns="0" bIns="0" anchor="t">
            <a:spAutoFit/>
          </a:bodyPr>
          <a:lstStyle/>
          <a:p>
            <a:pPr algn="l"/>
            <a:r>
              <a:rPr sz="1300" b="1">
                <a:solidFill>
                  <a:srgbClr val="0F172A"/>
                </a:solidFill>
                <a:latin typeface="Arial"/>
              </a:rPr>
              <a:t>Bank Marketing (UCI)</a:t>
            </a:r>
          </a:p>
        </p:txBody>
      </p:sp>
      <p:sp>
        <p:nvSpPr>
          <p:cNvPr id="30" name="TextBox 29"/>
          <p:cNvSpPr txBox="1"/>
          <p:nvPr/>
        </p:nvSpPr>
        <p:spPr>
          <a:xfrm>
            <a:off x="8586216" y="5029200"/>
            <a:ext cx="1883664" cy="228600"/>
          </a:xfrm>
          <a:prstGeom prst="rect">
            <a:avLst/>
          </a:prstGeom>
          <a:noFill/>
        </p:spPr>
        <p:txBody>
          <a:bodyPr wrap="square" lIns="0" rIns="0" tIns="0" bIns="0" anchor="t">
            <a:spAutoFit/>
          </a:bodyPr>
          <a:lstStyle/>
          <a:p>
            <a:pPr algn="l"/>
            <a:r>
              <a:rPr sz="1000" b="1">
                <a:solidFill>
                  <a:srgbClr val="94A3B8"/>
                </a:solidFill>
                <a:latin typeface="Arial"/>
              </a:rPr>
              <a:t>DATE</a:t>
            </a:r>
          </a:p>
        </p:txBody>
      </p:sp>
      <p:sp>
        <p:nvSpPr>
          <p:cNvPr id="31" name="TextBox 30"/>
          <p:cNvSpPr txBox="1"/>
          <p:nvPr/>
        </p:nvSpPr>
        <p:spPr>
          <a:xfrm>
            <a:off x="8586216" y="5285232"/>
            <a:ext cx="1883664" cy="457200"/>
          </a:xfrm>
          <a:prstGeom prst="rect">
            <a:avLst/>
          </a:prstGeom>
          <a:noFill/>
        </p:spPr>
        <p:txBody>
          <a:bodyPr wrap="square" lIns="0" rIns="0" tIns="0" bIns="0" anchor="t">
            <a:spAutoFit/>
          </a:bodyPr>
          <a:lstStyle/>
          <a:p>
            <a:pPr algn="l"/>
            <a:r>
              <a:rPr sz="1300" b="1">
                <a:solidFill>
                  <a:srgbClr val="0F172A"/>
                </a:solidFill>
                <a:latin typeface="Arial"/>
              </a:rPr>
              <a:t>Octobre 2026</a:t>
            </a:r>
          </a:p>
        </p:txBody>
      </p:sp>
      <p:sp>
        <p:nvSpPr>
          <p:cNvPr id="32" name="TextBox 32"/>
          <p:cNvSpPr txBox="1"/>
          <p:nvPr/>
        </p:nvSpPr>
        <p:spPr>
          <a:xfrm>
            <a:off x="685800" y="5897880"/>
            <a:ext cx="8000000" cy="228600"/>
          </a:xfrm>
          <a:prstGeom prst="rect">
            <a:avLst/>
          </a:prstGeom>
          <a:noFill/>
        </p:spPr>
        <p:txBody>
          <a:bodyPr wrap="square" lIns="0" rIns="0" tIns="0" bIns="0" anchor="t">
            <a:spAutoFit/>
          </a:bodyPr>
          <a:lstStyle/>
          <a:p>
            <a:pPr algn="l"/>
            <a:r>
              <a:rPr sz="1000" b="1">
                <a:solidFill>
                  <a:srgbClr val="94A3B8"/>
                </a:solidFill>
                <a:latin typeface="Arial"/>
              </a:rPr>
              <a:t>CODE SOURCE</a:t>
            </a:r>
          </a:p>
        </p:txBody>
      </p:sp>
      <p:sp>
        <p:nvSpPr>
          <p:cNvPr id="33" name="TextBox 33"/>
          <p:cNvSpPr txBox="1"/>
          <p:nvPr/>
        </p:nvSpPr>
        <p:spPr>
          <a:xfrm>
            <a:off x="685800" y="6153912"/>
            <a:ext cx="8000000" cy="457200"/>
          </a:xfrm>
          <a:prstGeom prst="rect">
            <a:avLst/>
          </a:prstGeom>
          <a:noFill/>
        </p:spPr>
        <p:txBody>
          <a:bodyPr wrap="square" lIns="0" rIns="0" tIns="0" bIns="0" anchor="t">
            <a:spAutoFit/>
          </a:bodyPr>
          <a:lstStyle/>
          <a:p>
            <a:pPr algn="l"/>
            <a:r>
              <a:rPr sz="1300" b="1">
                <a:solidFill>
                  <a:srgbClr val="0F172A"/>
                </a:solidFill>
                <a:latin typeface="Arial"/>
                <a:hlinkClick r:id="rId3"/>
              </a:rPr>
              <a:t>github.com/Nokho11/segmentation-bancaire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01  ·  PROBLÈME ET DÉMARCHE</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Neuf appels sur dix n'aboutissent pas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75846"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02 / 13</a:t>
            </a:r>
          </a:p>
        </p:txBody>
      </p:sp>
      <p:sp>
        <p:nvSpPr>
          <p:cNvPr id="9" name="Rounded Rectangle 8"/>
          <p:cNvSpPr/>
          <p:nvPr/>
        </p:nvSpPr>
        <p:spPr>
          <a:xfrm>
            <a:off x="502920" y="1463040"/>
            <a:ext cx="3291840" cy="187451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77240" y="1645920"/>
            <a:ext cx="2926080" cy="914400"/>
          </a:xfrm>
          <a:prstGeom prst="rect">
            <a:avLst/>
          </a:prstGeom>
          <a:noFill/>
        </p:spPr>
        <p:txBody>
          <a:bodyPr wrap="square" lIns="0" rIns="0" tIns="0" bIns="0" anchor="t">
            <a:spAutoFit/>
          </a:bodyPr>
          <a:lstStyle/>
          <a:p>
            <a:pPr algn="l"/>
            <a:r>
              <a:rPr sz="5400" b="1">
                <a:solidFill>
                  <a:srgbClr val="0891B2"/>
                </a:solidFill>
                <a:latin typeface="Arial"/>
              </a:rPr>
              <a:t>11,3 %</a:t>
            </a:r>
          </a:p>
        </p:txBody>
      </p:sp>
      <p:sp>
        <p:nvSpPr>
          <p:cNvPr id="11" name="TextBox 10"/>
          <p:cNvSpPr txBox="1"/>
          <p:nvPr/>
        </p:nvSpPr>
        <p:spPr>
          <a:xfrm>
            <a:off x="777240" y="2606040"/>
            <a:ext cx="2834640" cy="640080"/>
          </a:xfrm>
          <a:prstGeom prst="rect">
            <a:avLst/>
          </a:prstGeom>
          <a:noFill/>
        </p:spPr>
        <p:txBody>
          <a:bodyPr wrap="square" lIns="0" rIns="0" tIns="0" bIns="0" anchor="t">
            <a:spAutoFit/>
          </a:bodyPr>
          <a:lstStyle/>
          <a:p>
            <a:pPr algn="l"/>
            <a:r>
              <a:rPr sz="1300" b="0">
                <a:solidFill>
                  <a:srgbClr val="475569"/>
                </a:solidFill>
                <a:latin typeface="Arial"/>
              </a:rPr>
              <a:t>des contacts se terminent par la souscription d'un dépôt à terme</a:t>
            </a:r>
          </a:p>
        </p:txBody>
      </p:sp>
      <p:sp>
        <p:nvSpPr>
          <p:cNvPr id="12" name="Rounded Rectangle 11"/>
          <p:cNvSpPr/>
          <p:nvPr/>
        </p:nvSpPr>
        <p:spPr>
          <a:xfrm>
            <a:off x="4023360" y="1463040"/>
            <a:ext cx="7665720" cy="187451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422452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370832" y="1645920"/>
            <a:ext cx="7117080" cy="274320"/>
          </a:xfrm>
          <a:prstGeom prst="rect">
            <a:avLst/>
          </a:prstGeom>
          <a:noFill/>
        </p:spPr>
        <p:txBody>
          <a:bodyPr wrap="square" lIns="0" rIns="0" tIns="0" bIns="0" anchor="t">
            <a:spAutoFit/>
          </a:bodyPr>
          <a:lstStyle/>
          <a:p>
            <a:pPr algn="l"/>
            <a:r>
              <a:rPr sz="1100" b="1">
                <a:solidFill>
                  <a:srgbClr val="475569"/>
                </a:solidFill>
                <a:latin typeface="Arial"/>
              </a:rPr>
              <a:t>MISSION</a:t>
            </a:r>
          </a:p>
        </p:txBody>
      </p:sp>
      <p:sp>
        <p:nvSpPr>
          <p:cNvPr id="15" name="TextBox 14"/>
          <p:cNvSpPr txBox="1"/>
          <p:nvPr/>
        </p:nvSpPr>
        <p:spPr>
          <a:xfrm>
            <a:off x="4370832" y="2011680"/>
            <a:ext cx="7025640" cy="548640"/>
          </a:xfrm>
          <a:prstGeom prst="rect">
            <a:avLst/>
          </a:prstGeom>
          <a:noFill/>
        </p:spPr>
        <p:txBody>
          <a:bodyPr wrap="square" lIns="0" rIns="0" tIns="0" bIns="0" anchor="t">
            <a:spAutoFit/>
          </a:bodyPr>
          <a:lstStyle/>
          <a:p>
            <a:pPr algn="l"/>
            <a:r>
              <a:rPr sz="1500" b="1">
                <a:solidFill>
                  <a:srgbClr val="0F172A"/>
                </a:solidFill>
                <a:latin typeface="Arial"/>
              </a:rPr>
              <a:t>Découvrir des groupes de clients homogènes à partir de données mixtes, sans utiliser la variable de souscription y.</a:t>
            </a:r>
          </a:p>
        </p:txBody>
      </p:sp>
      <p:sp>
        <p:nvSpPr>
          <p:cNvPr id="16" name="TextBox 15"/>
          <p:cNvSpPr txBox="1"/>
          <p:nvPr/>
        </p:nvSpPr>
        <p:spPr>
          <a:xfrm>
            <a:off x="4370832" y="2651760"/>
            <a:ext cx="457200" cy="365760"/>
          </a:xfrm>
          <a:prstGeom prst="rect">
            <a:avLst/>
          </a:prstGeom>
          <a:noFill/>
        </p:spPr>
        <p:txBody>
          <a:bodyPr wrap="square" lIns="0" rIns="0" tIns="0" bIns="0" anchor="t">
            <a:spAutoFit/>
          </a:bodyPr>
          <a:lstStyle/>
          <a:p>
            <a:pPr algn="l"/>
            <a:r>
              <a:rPr sz="1500" b="1">
                <a:solidFill>
                  <a:srgbClr val="2563EB"/>
                </a:solidFill>
                <a:latin typeface="Arial"/>
              </a:rPr>
              <a:t>Q1</a:t>
            </a:r>
          </a:p>
        </p:txBody>
      </p:sp>
      <p:sp>
        <p:nvSpPr>
          <p:cNvPr id="17" name="TextBox 16"/>
          <p:cNvSpPr txBox="1"/>
          <p:nvPr/>
        </p:nvSpPr>
        <p:spPr>
          <a:xfrm>
            <a:off x="480974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Comment mesurer la ressemblance entre clients aux données mixtes ?</a:t>
            </a:r>
          </a:p>
        </p:txBody>
      </p:sp>
      <p:sp>
        <p:nvSpPr>
          <p:cNvPr id="18" name="TextBox 17"/>
          <p:cNvSpPr txBox="1"/>
          <p:nvPr/>
        </p:nvSpPr>
        <p:spPr>
          <a:xfrm>
            <a:off x="6773672" y="2651760"/>
            <a:ext cx="457200" cy="365760"/>
          </a:xfrm>
          <a:prstGeom prst="rect">
            <a:avLst/>
          </a:prstGeom>
          <a:noFill/>
        </p:spPr>
        <p:txBody>
          <a:bodyPr wrap="square" lIns="0" rIns="0" tIns="0" bIns="0" anchor="t">
            <a:spAutoFit/>
          </a:bodyPr>
          <a:lstStyle/>
          <a:p>
            <a:pPr algn="l"/>
            <a:r>
              <a:rPr sz="1500" b="1">
                <a:solidFill>
                  <a:srgbClr val="059669"/>
                </a:solidFill>
                <a:latin typeface="Arial"/>
              </a:rPr>
              <a:t>Q2</a:t>
            </a:r>
          </a:p>
        </p:txBody>
      </p:sp>
      <p:sp>
        <p:nvSpPr>
          <p:cNvPr id="19" name="TextBox 18"/>
          <p:cNvSpPr txBox="1"/>
          <p:nvPr/>
        </p:nvSpPr>
        <p:spPr>
          <a:xfrm>
            <a:off x="721258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Quelle méthode de clustering, et combien de groupes ?</a:t>
            </a:r>
          </a:p>
        </p:txBody>
      </p:sp>
      <p:sp>
        <p:nvSpPr>
          <p:cNvPr id="20" name="TextBox 19"/>
          <p:cNvSpPr txBox="1"/>
          <p:nvPr/>
        </p:nvSpPr>
        <p:spPr>
          <a:xfrm>
            <a:off x="9176512" y="2651760"/>
            <a:ext cx="457200" cy="365760"/>
          </a:xfrm>
          <a:prstGeom prst="rect">
            <a:avLst/>
          </a:prstGeom>
          <a:noFill/>
        </p:spPr>
        <p:txBody>
          <a:bodyPr wrap="square" lIns="0" rIns="0" tIns="0" bIns="0" anchor="t">
            <a:spAutoFit/>
          </a:bodyPr>
          <a:lstStyle/>
          <a:p>
            <a:pPr algn="l"/>
            <a:r>
              <a:rPr sz="1500" b="1">
                <a:solidFill>
                  <a:srgbClr val="DB2777"/>
                </a:solidFill>
                <a:latin typeface="Arial"/>
              </a:rPr>
              <a:t>Q3</a:t>
            </a:r>
          </a:p>
        </p:txBody>
      </p:sp>
      <p:sp>
        <p:nvSpPr>
          <p:cNvPr id="21" name="TextBox 20"/>
          <p:cNvSpPr txBox="1"/>
          <p:nvPr/>
        </p:nvSpPr>
        <p:spPr>
          <a:xfrm>
            <a:off x="961542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Les segments sont-ils stables, interprétables et utiles ?</a:t>
            </a:r>
          </a:p>
        </p:txBody>
      </p:sp>
      <p:sp>
        <p:nvSpPr>
          <p:cNvPr id="22" name="Rounded Rectangle 21"/>
          <p:cNvSpPr/>
          <p:nvPr/>
        </p:nvSpPr>
        <p:spPr>
          <a:xfrm>
            <a:off x="502920"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02920" y="3566160"/>
            <a:ext cx="205435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730752"/>
            <a:ext cx="548640" cy="365760"/>
          </a:xfrm>
          <a:prstGeom prst="rect">
            <a:avLst/>
          </a:prstGeom>
          <a:noFill/>
        </p:spPr>
        <p:txBody>
          <a:bodyPr wrap="square" lIns="0" rIns="0" tIns="0" bIns="0" anchor="t">
            <a:spAutoFit/>
          </a:bodyPr>
          <a:lstStyle/>
          <a:p>
            <a:pPr algn="l"/>
            <a:r>
              <a:rPr sz="1800" b="1">
                <a:solidFill>
                  <a:srgbClr val="2563EB"/>
                </a:solidFill>
                <a:latin typeface="Arial"/>
              </a:rPr>
              <a:t>J1</a:t>
            </a:r>
          </a:p>
        </p:txBody>
      </p:sp>
      <p:sp>
        <p:nvSpPr>
          <p:cNvPr id="25" name="TextBox 24"/>
          <p:cNvSpPr txBox="1"/>
          <p:nvPr/>
        </p:nvSpPr>
        <p:spPr>
          <a:xfrm>
            <a:off x="1188720" y="3749040"/>
            <a:ext cx="1231392" cy="365760"/>
          </a:xfrm>
          <a:prstGeom prst="rect">
            <a:avLst/>
          </a:prstGeom>
          <a:noFill/>
        </p:spPr>
        <p:txBody>
          <a:bodyPr wrap="square" lIns="0" rIns="0" tIns="0" bIns="0" anchor="t">
            <a:spAutoFit/>
          </a:bodyPr>
          <a:lstStyle/>
          <a:p>
            <a:pPr algn="l"/>
            <a:r>
              <a:rPr sz="1200" b="1">
                <a:solidFill>
                  <a:srgbClr val="0F172A"/>
                </a:solidFill>
                <a:latin typeface="Arial"/>
              </a:rPr>
              <a:t>Préparation</a:t>
            </a:r>
          </a:p>
        </p:txBody>
      </p:sp>
      <p:sp>
        <p:nvSpPr>
          <p:cNvPr id="26" name="TextBox 25"/>
          <p:cNvSpPr txBox="1"/>
          <p:nvPr/>
        </p:nvSpPr>
        <p:spPr>
          <a:xfrm>
            <a:off x="685800" y="4251960"/>
            <a:ext cx="1734312" cy="685800"/>
          </a:xfrm>
          <a:prstGeom prst="rect">
            <a:avLst/>
          </a:prstGeom>
          <a:noFill/>
        </p:spPr>
        <p:txBody>
          <a:bodyPr wrap="square" lIns="0" rIns="0" tIns="0" bIns="0" anchor="t">
            <a:spAutoFit/>
          </a:bodyPr>
          <a:lstStyle/>
          <a:p>
            <a:pPr algn="l"/>
            <a:r>
              <a:rPr sz="1100" b="0">
                <a:solidFill>
                  <a:srgbClr val="475569"/>
                </a:solidFill>
                <a:latin typeface="Arial"/>
              </a:rPr>
              <a:t>Nettoyage, EDA, 2 représentations, PCA / t-SNE / UMAP</a:t>
            </a:r>
          </a:p>
        </p:txBody>
      </p:sp>
      <p:sp>
        <p:nvSpPr>
          <p:cNvPr id="27" name="Rounded Rectangle 26"/>
          <p:cNvSpPr/>
          <p:nvPr/>
        </p:nvSpPr>
        <p:spPr>
          <a:xfrm>
            <a:off x="2785872"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785872" y="3566160"/>
            <a:ext cx="205435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2968752" y="3730752"/>
            <a:ext cx="548640" cy="365760"/>
          </a:xfrm>
          <a:prstGeom prst="rect">
            <a:avLst/>
          </a:prstGeom>
          <a:noFill/>
        </p:spPr>
        <p:txBody>
          <a:bodyPr wrap="square" lIns="0" rIns="0" tIns="0" bIns="0" anchor="t">
            <a:spAutoFit/>
          </a:bodyPr>
          <a:lstStyle/>
          <a:p>
            <a:pPr algn="l"/>
            <a:r>
              <a:rPr sz="1800" b="1">
                <a:solidFill>
                  <a:srgbClr val="059669"/>
                </a:solidFill>
                <a:latin typeface="Arial"/>
              </a:rPr>
              <a:t>J2</a:t>
            </a:r>
          </a:p>
        </p:txBody>
      </p:sp>
      <p:sp>
        <p:nvSpPr>
          <p:cNvPr id="30" name="TextBox 29"/>
          <p:cNvSpPr txBox="1"/>
          <p:nvPr/>
        </p:nvSpPr>
        <p:spPr>
          <a:xfrm>
            <a:off x="3471672" y="3749040"/>
            <a:ext cx="1231392" cy="365760"/>
          </a:xfrm>
          <a:prstGeom prst="rect">
            <a:avLst/>
          </a:prstGeom>
          <a:noFill/>
        </p:spPr>
        <p:txBody>
          <a:bodyPr wrap="square" lIns="0" rIns="0" tIns="0" bIns="0" anchor="t">
            <a:spAutoFit/>
          </a:bodyPr>
          <a:lstStyle/>
          <a:p>
            <a:pPr algn="l"/>
            <a:r>
              <a:rPr sz="1200" b="1">
                <a:solidFill>
                  <a:srgbClr val="0F172A"/>
                </a:solidFill>
                <a:latin typeface="Arial"/>
              </a:rPr>
              <a:t>Distances et partitionnement</a:t>
            </a:r>
          </a:p>
        </p:txBody>
      </p:sp>
      <p:sp>
        <p:nvSpPr>
          <p:cNvPr id="31" name="TextBox 30"/>
          <p:cNvSpPr txBox="1"/>
          <p:nvPr/>
        </p:nvSpPr>
        <p:spPr>
          <a:xfrm>
            <a:off x="2968752" y="4251960"/>
            <a:ext cx="1734312" cy="685800"/>
          </a:xfrm>
          <a:prstGeom prst="rect">
            <a:avLst/>
          </a:prstGeom>
          <a:noFill/>
        </p:spPr>
        <p:txBody>
          <a:bodyPr wrap="square" lIns="0" rIns="0" tIns="0" bIns="0" anchor="t">
            <a:spAutoFit/>
          </a:bodyPr>
          <a:lstStyle/>
          <a:p>
            <a:pPr algn="l"/>
            <a:r>
              <a:rPr sz="1100" b="0">
                <a:solidFill>
                  <a:srgbClr val="475569"/>
                </a:solidFill>
                <a:latin typeface="Arial"/>
              </a:rPr>
              <a:t>Gower, K-means, K-medoids, K-prototypes, GMM</a:t>
            </a:r>
          </a:p>
        </p:txBody>
      </p:sp>
      <p:sp>
        <p:nvSpPr>
          <p:cNvPr id="32" name="Rounded Rectangle 31"/>
          <p:cNvSpPr/>
          <p:nvPr/>
        </p:nvSpPr>
        <p:spPr>
          <a:xfrm>
            <a:off x="5068824"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068824" y="3566160"/>
            <a:ext cx="2054352" cy="6400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251704" y="3730752"/>
            <a:ext cx="548640" cy="365760"/>
          </a:xfrm>
          <a:prstGeom prst="rect">
            <a:avLst/>
          </a:prstGeom>
          <a:noFill/>
        </p:spPr>
        <p:txBody>
          <a:bodyPr wrap="square" lIns="0" rIns="0" tIns="0" bIns="0" anchor="t">
            <a:spAutoFit/>
          </a:bodyPr>
          <a:lstStyle/>
          <a:p>
            <a:pPr algn="l"/>
            <a:r>
              <a:rPr sz="1800" b="1">
                <a:solidFill>
                  <a:srgbClr val="0891B2"/>
                </a:solidFill>
                <a:latin typeface="Arial"/>
              </a:rPr>
              <a:t>J3</a:t>
            </a:r>
          </a:p>
        </p:txBody>
      </p:sp>
      <p:sp>
        <p:nvSpPr>
          <p:cNvPr id="35" name="TextBox 34"/>
          <p:cNvSpPr txBox="1"/>
          <p:nvPr/>
        </p:nvSpPr>
        <p:spPr>
          <a:xfrm>
            <a:off x="5754624" y="3749040"/>
            <a:ext cx="1231392" cy="365760"/>
          </a:xfrm>
          <a:prstGeom prst="rect">
            <a:avLst/>
          </a:prstGeom>
          <a:noFill/>
        </p:spPr>
        <p:txBody>
          <a:bodyPr wrap="square" lIns="0" rIns="0" tIns="0" bIns="0" anchor="t">
            <a:spAutoFit/>
          </a:bodyPr>
          <a:lstStyle/>
          <a:p>
            <a:pPr algn="l"/>
            <a:r>
              <a:rPr sz="1200" b="1">
                <a:solidFill>
                  <a:srgbClr val="0F172A"/>
                </a:solidFill>
                <a:latin typeface="Arial"/>
              </a:rPr>
              <a:t>Hiérarchique et densité</a:t>
            </a:r>
          </a:p>
        </p:txBody>
      </p:sp>
      <p:sp>
        <p:nvSpPr>
          <p:cNvPr id="36" name="TextBox 35"/>
          <p:cNvSpPr txBox="1"/>
          <p:nvPr/>
        </p:nvSpPr>
        <p:spPr>
          <a:xfrm>
            <a:off x="5251704" y="4251960"/>
            <a:ext cx="1734312" cy="685800"/>
          </a:xfrm>
          <a:prstGeom prst="rect">
            <a:avLst/>
          </a:prstGeom>
          <a:noFill/>
        </p:spPr>
        <p:txBody>
          <a:bodyPr wrap="square" lIns="0" rIns="0" tIns="0" bIns="0" anchor="t">
            <a:spAutoFit/>
          </a:bodyPr>
          <a:lstStyle/>
          <a:p>
            <a:pPr algn="l"/>
            <a:r>
              <a:rPr sz="1100" b="0">
                <a:solidFill>
                  <a:srgbClr val="475569"/>
                </a:solidFill>
                <a:latin typeface="Arial"/>
              </a:rPr>
              <a:t>CAH à 4 liens, dendrogrammes, DBSCAN</a:t>
            </a:r>
          </a:p>
        </p:txBody>
      </p:sp>
      <p:sp>
        <p:nvSpPr>
          <p:cNvPr id="37" name="Rounded Rectangle 36"/>
          <p:cNvSpPr/>
          <p:nvPr/>
        </p:nvSpPr>
        <p:spPr>
          <a:xfrm>
            <a:off x="7351776"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51776" y="3566160"/>
            <a:ext cx="205435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534656" y="3730752"/>
            <a:ext cx="548640" cy="365760"/>
          </a:xfrm>
          <a:prstGeom prst="rect">
            <a:avLst/>
          </a:prstGeom>
          <a:noFill/>
        </p:spPr>
        <p:txBody>
          <a:bodyPr wrap="square" lIns="0" rIns="0" tIns="0" bIns="0" anchor="t">
            <a:spAutoFit/>
          </a:bodyPr>
          <a:lstStyle/>
          <a:p>
            <a:pPr algn="l"/>
            <a:r>
              <a:rPr sz="1800" b="1">
                <a:solidFill>
                  <a:srgbClr val="D97706"/>
                </a:solidFill>
                <a:latin typeface="Arial"/>
              </a:rPr>
              <a:t>J4</a:t>
            </a:r>
          </a:p>
        </p:txBody>
      </p:sp>
      <p:sp>
        <p:nvSpPr>
          <p:cNvPr id="40" name="TextBox 39"/>
          <p:cNvSpPr txBox="1"/>
          <p:nvPr/>
        </p:nvSpPr>
        <p:spPr>
          <a:xfrm>
            <a:off x="8037576" y="3749040"/>
            <a:ext cx="1231392" cy="365760"/>
          </a:xfrm>
          <a:prstGeom prst="rect">
            <a:avLst/>
          </a:prstGeom>
          <a:noFill/>
        </p:spPr>
        <p:txBody>
          <a:bodyPr wrap="square" lIns="0" rIns="0" tIns="0" bIns="0" anchor="t">
            <a:spAutoFit/>
          </a:bodyPr>
          <a:lstStyle/>
          <a:p>
            <a:pPr algn="l"/>
            <a:r>
              <a:rPr sz="1200" b="1">
                <a:solidFill>
                  <a:srgbClr val="0F172A"/>
                </a:solidFill>
                <a:latin typeface="Arial"/>
              </a:rPr>
              <a:t>Validation</a:t>
            </a:r>
          </a:p>
        </p:txBody>
      </p:sp>
      <p:sp>
        <p:nvSpPr>
          <p:cNvPr id="41" name="TextBox 40"/>
          <p:cNvSpPr txBox="1"/>
          <p:nvPr/>
        </p:nvSpPr>
        <p:spPr>
          <a:xfrm>
            <a:off x="7534656" y="4251960"/>
            <a:ext cx="1734312" cy="685800"/>
          </a:xfrm>
          <a:prstGeom prst="rect">
            <a:avLst/>
          </a:prstGeom>
          <a:noFill/>
        </p:spPr>
        <p:txBody>
          <a:bodyPr wrap="square" lIns="0" rIns="0" tIns="0" bIns="0" anchor="t">
            <a:spAutoFit/>
          </a:bodyPr>
          <a:lstStyle/>
          <a:p>
            <a:pPr algn="l"/>
            <a:r>
              <a:rPr sz="1100" b="0">
                <a:solidFill>
                  <a:srgbClr val="475569"/>
                </a:solidFill>
                <a:latin typeface="Arial"/>
              </a:rPr>
              <a:t>Indices internes et externes, stabilité, choix</a:t>
            </a:r>
          </a:p>
        </p:txBody>
      </p:sp>
      <p:sp>
        <p:nvSpPr>
          <p:cNvPr id="42" name="Rounded Rectangle 41"/>
          <p:cNvSpPr/>
          <p:nvPr/>
        </p:nvSpPr>
        <p:spPr>
          <a:xfrm>
            <a:off x="9634728"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9634728" y="3566160"/>
            <a:ext cx="2054352" cy="64008"/>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817608" y="3730752"/>
            <a:ext cx="548640" cy="365760"/>
          </a:xfrm>
          <a:prstGeom prst="rect">
            <a:avLst/>
          </a:prstGeom>
          <a:noFill/>
        </p:spPr>
        <p:txBody>
          <a:bodyPr wrap="square" lIns="0" rIns="0" tIns="0" bIns="0" anchor="t">
            <a:spAutoFit/>
          </a:bodyPr>
          <a:lstStyle/>
          <a:p>
            <a:pPr algn="l"/>
            <a:r>
              <a:rPr sz="1800" b="1">
                <a:solidFill>
                  <a:srgbClr val="DB2777"/>
                </a:solidFill>
                <a:latin typeface="Arial"/>
              </a:rPr>
              <a:t>J5</a:t>
            </a:r>
          </a:p>
        </p:txBody>
      </p:sp>
      <p:sp>
        <p:nvSpPr>
          <p:cNvPr id="45" name="TextBox 44"/>
          <p:cNvSpPr txBox="1"/>
          <p:nvPr/>
        </p:nvSpPr>
        <p:spPr>
          <a:xfrm>
            <a:off x="10320528" y="3749040"/>
            <a:ext cx="1231392" cy="365760"/>
          </a:xfrm>
          <a:prstGeom prst="rect">
            <a:avLst/>
          </a:prstGeom>
          <a:noFill/>
        </p:spPr>
        <p:txBody>
          <a:bodyPr wrap="square" lIns="0" rIns="0" tIns="0" bIns="0" anchor="t">
            <a:spAutoFit/>
          </a:bodyPr>
          <a:lstStyle/>
          <a:p>
            <a:pPr algn="l"/>
            <a:r>
              <a:rPr sz="1200" b="1">
                <a:solidFill>
                  <a:srgbClr val="0F172A"/>
                </a:solidFill>
                <a:latin typeface="Arial"/>
              </a:rPr>
              <a:t>Interprétation</a:t>
            </a:r>
          </a:p>
        </p:txBody>
      </p:sp>
      <p:sp>
        <p:nvSpPr>
          <p:cNvPr id="46" name="TextBox 45"/>
          <p:cNvSpPr txBox="1"/>
          <p:nvPr/>
        </p:nvSpPr>
        <p:spPr>
          <a:xfrm>
            <a:off x="9817608" y="4251960"/>
            <a:ext cx="1734312" cy="685800"/>
          </a:xfrm>
          <a:prstGeom prst="rect">
            <a:avLst/>
          </a:prstGeom>
          <a:noFill/>
        </p:spPr>
        <p:txBody>
          <a:bodyPr wrap="square" lIns="0" rIns="0" tIns="0" bIns="0" anchor="t">
            <a:spAutoFit/>
          </a:bodyPr>
          <a:lstStyle/>
          <a:p>
            <a:pPr algn="l"/>
            <a:r>
              <a:rPr sz="1100" b="0">
                <a:solidFill>
                  <a:srgbClr val="475569"/>
                </a:solidFill>
                <a:latin typeface="Arial"/>
              </a:rPr>
              <a:t>Profils, radars, recommandations</a:t>
            </a:r>
          </a:p>
        </p:txBody>
      </p:sp>
      <p:sp>
        <p:nvSpPr>
          <p:cNvPr id="47" name="Rounded Rectangle 46"/>
          <p:cNvSpPr/>
          <p:nvPr/>
        </p:nvSpPr>
        <p:spPr>
          <a:xfrm>
            <a:off x="502920" y="5166360"/>
            <a:ext cx="11186160" cy="54864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77240" y="5166360"/>
            <a:ext cx="10637520" cy="548640"/>
          </a:xfrm>
          <a:prstGeom prst="rect">
            <a:avLst/>
          </a:prstGeom>
          <a:noFill/>
        </p:spPr>
        <p:txBody>
          <a:bodyPr wrap="square" lIns="0" rIns="0" tIns="0" bIns="0" anchor="ctr">
            <a:spAutoFit/>
          </a:bodyPr>
          <a:lstStyle/>
          <a:p>
            <a:pPr algn="l"/>
            <a:r>
              <a:rPr sz="1300" b="1">
                <a:solidFill>
                  <a:srgbClr val="0F172A"/>
                </a:solidFill>
                <a:latin typeface="Arial"/>
              </a:rPr>
              <a:t>RÈGLE  —  y ne sert ni à construire ni à choisir les groupes : elle vérifie le choix (J4) puis décrit les segments (J5).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02  ·  DONNÉES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15 variables actives retenues sur 20</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263769"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03 / 13</a:t>
            </a:r>
          </a:p>
        </p:txBody>
      </p:sp>
      <p:sp>
        <p:nvSpPr>
          <p:cNvPr id="9" name="Rounded Rectangle 8"/>
          <p:cNvSpPr/>
          <p:nvPr/>
        </p:nvSpPr>
        <p:spPr>
          <a:xfrm>
            <a:off x="502920" y="1508760"/>
            <a:ext cx="525780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72821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91640"/>
            <a:ext cx="4709160" cy="274320"/>
          </a:xfrm>
          <a:prstGeom prst="rect">
            <a:avLst/>
          </a:prstGeom>
          <a:noFill/>
        </p:spPr>
        <p:txBody>
          <a:bodyPr wrap="square" lIns="0" rIns="0" tIns="0" bIns="0" anchor="t">
            <a:spAutoFit/>
          </a:bodyPr>
          <a:lstStyle/>
          <a:p>
            <a:pPr algn="l"/>
            <a:r>
              <a:rPr sz="1100" b="1">
                <a:solidFill>
                  <a:srgbClr val="475569"/>
                </a:solidFill>
                <a:latin typeface="Arial"/>
              </a:rPr>
              <a:t>FICHE TECHNIQUE</a:t>
            </a:r>
          </a:p>
        </p:txBody>
      </p:sp>
      <p:graphicFrame>
        <p:nvGraphicFramePr>
          <p:cNvPr id="12" name="Table 11"/>
          <p:cNvGraphicFramePr>
            <a:graphicFrameLocks noGrp="1"/>
          </p:cNvGraphicFramePr>
          <p:nvPr/>
        </p:nvGraphicFramePr>
        <p:xfrm>
          <a:off x="731520" y="2075688"/>
          <a:ext cx="4800599" cy="3200400"/>
        </p:xfrm>
        <a:graphic>
          <a:graphicData uri="http://schemas.openxmlformats.org/drawingml/2006/table">
            <a:tbl>
              <a:tblPr firstRow="0" bandRow="0" firstCol="0" lastRow="0" lastCol="0" bandCol="0"/>
              <a:tblGrid>
                <a:gridCol w="1411941"/>
                <a:gridCol w="3388658"/>
              </a:tblGrid>
              <a:tr h="457200">
                <a:tc>
                  <a:txBody>
                    <a:bodyPr wrap="square"/>
                    <a:lstStyle/>
                    <a:p>
                      <a:pPr algn="l"/>
                      <a:r>
                        <a:rPr sz="1150" b="1">
                          <a:solidFill>
                            <a:srgbClr val="0F172A"/>
                          </a:solidFill>
                          <a:latin typeface="Arial"/>
                        </a:rPr>
                        <a:t>Élément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150" b="1">
                          <a:solidFill>
                            <a:srgbClr val="0F172A"/>
                          </a:solidFill>
                          <a:latin typeface="Arial"/>
                        </a:rPr>
                        <a:t>Valeur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57200">
                <a:tc>
                  <a:txBody>
                    <a:bodyPr wrap="square"/>
                    <a:lstStyle/>
                    <a:p>
                      <a:pPr algn="l"/>
                      <a:r>
                        <a:rPr sz="1150" b="0">
                          <a:solidFill>
                            <a:srgbClr val="0F172A"/>
                          </a:solidFill>
                          <a:latin typeface="Arial"/>
                        </a:rPr>
                        <a:t>Individus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41 188, puis 41 176 après retrait de 12 doublons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Variables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10 numériques + 10 catégorielles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Manquants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 unknown » : mode (5 variables) ; gardé pour default (21 %)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Aberrants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campaign plafonnée au 99e centile ; pdays recodée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Représentations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(a) one-hot standardisé, 37 colonnes ; (b) mixte, 15 colonnes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Échantillon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4 000 clients, aléatoire stratifié</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3" name="Rounded Rectangle 12"/>
          <p:cNvSpPr/>
          <p:nvPr/>
        </p:nvSpPr>
        <p:spPr>
          <a:xfrm>
            <a:off x="6035040" y="1508760"/>
            <a:ext cx="565404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236208" y="172821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82512" y="1691640"/>
            <a:ext cx="5105400" cy="274320"/>
          </a:xfrm>
          <a:prstGeom prst="rect">
            <a:avLst/>
          </a:prstGeom>
          <a:noFill/>
        </p:spPr>
        <p:txBody>
          <a:bodyPr wrap="square" lIns="0" rIns="0" tIns="0" bIns="0" anchor="t">
            <a:spAutoFit/>
          </a:bodyPr>
          <a:lstStyle/>
          <a:p>
            <a:pPr algn="l"/>
            <a:r>
              <a:rPr sz="1100" b="1">
                <a:solidFill>
                  <a:srgbClr val="475569"/>
                </a:solidFill>
                <a:latin typeface="Arial"/>
              </a:rPr>
              <a:t>VARIABLES ÉCARTÉES DU CLUSTERING</a:t>
            </a:r>
          </a:p>
        </p:txBody>
      </p:sp>
      <p:graphicFrame>
        <p:nvGraphicFramePr>
          <p:cNvPr id="16" name="Table 15"/>
          <p:cNvGraphicFramePr>
            <a:graphicFrameLocks noGrp="1"/>
          </p:cNvGraphicFramePr>
          <p:nvPr/>
        </p:nvGraphicFramePr>
        <p:xfrm>
          <a:off x="6263640" y="2075688"/>
          <a:ext cx="5196839" cy="2743200"/>
        </p:xfrm>
        <a:graphic>
          <a:graphicData uri="http://schemas.openxmlformats.org/drawingml/2006/table">
            <a:tbl>
              <a:tblPr firstRow="0" bandRow="0" firstCol="0" lastRow="0" lastCol="0" bandCol="0"/>
              <a:tblGrid>
                <a:gridCol w="2106827"/>
                <a:gridCol w="3090012"/>
              </a:tblGrid>
              <a:tr h="457200">
                <a:tc>
                  <a:txBody>
                    <a:bodyPr wrap="square"/>
                    <a:lstStyle/>
                    <a:p>
                      <a:pPr algn="l"/>
                      <a:r>
                        <a:rPr sz="1150" b="1">
                          <a:solidFill>
                            <a:srgbClr val="0F172A"/>
                          </a:solidFill>
                          <a:latin typeface="Arial"/>
                        </a:rPr>
                        <a:t>Variable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150" b="1">
                          <a:solidFill>
                            <a:srgbClr val="0F172A"/>
                          </a:solidFill>
                          <a:latin typeface="Arial"/>
                        </a:rPr>
                        <a:t>Raison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57200">
                <a:tc>
                  <a:txBody>
                    <a:bodyPr wrap="square"/>
                    <a:lstStyle/>
                    <a:p>
                      <a:pPr algn="l"/>
                      <a:r>
                        <a:rPr sz="1150" b="0">
                          <a:solidFill>
                            <a:srgbClr val="0F172A"/>
                          </a:solidFill>
                          <a:latin typeface="Arial"/>
                        </a:rPr>
                        <a:t>duration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Connue seulement après l'appel</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emp.var.rate, nr.employed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Corrélées à plus de 0,90 avec euribor3m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month, day_of_week</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Calendrier de campagne, pas le client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pdays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Recodée en contacted_before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y</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Vérité terrain, interdite à l'entraînement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7" name="TextBox 16"/>
          <p:cNvSpPr txBox="1"/>
          <p:nvPr/>
        </p:nvSpPr>
        <p:spPr>
          <a:xfrm>
            <a:off x="6309360" y="5001768"/>
            <a:ext cx="5196840" cy="365760"/>
          </a:xfrm>
          <a:prstGeom prst="rect">
            <a:avLst/>
          </a:prstGeom>
          <a:noFill/>
        </p:spPr>
        <p:txBody>
          <a:bodyPr wrap="square" lIns="0" rIns="0" tIns="0" bIns="0" anchor="t">
            <a:spAutoFit/>
          </a:bodyPr>
          <a:lstStyle/>
          <a:p>
            <a:pPr algn="l"/>
            <a:r>
              <a:rPr sz="1200" b="0">
                <a:solidFill>
                  <a:srgbClr val="475569"/>
                </a:solidFill>
                <a:latin typeface="Arial"/>
              </a:rPr>
              <a:t>Ces variables restent utilisées pour décrire les segments.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03  ·  DISTANCES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Sans standardisation, l'âge pèse 77 % de la distance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351692"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04 / 13</a:t>
            </a:r>
          </a:p>
        </p:txBody>
      </p:sp>
      <p:sp>
        <p:nvSpPr>
          <p:cNvPr id="9" name="Rounded Rectangle 8"/>
          <p:cNvSpPr/>
          <p:nvPr/>
        </p:nvSpPr>
        <p:spPr>
          <a:xfrm>
            <a:off x="502920" y="1508760"/>
            <a:ext cx="603504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72821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91640"/>
            <a:ext cx="5486400" cy="274320"/>
          </a:xfrm>
          <a:prstGeom prst="rect">
            <a:avLst/>
          </a:prstGeom>
          <a:noFill/>
        </p:spPr>
        <p:txBody>
          <a:bodyPr wrap="square" lIns="0" rIns="0" tIns="0" bIns="0" anchor="t">
            <a:spAutoFit/>
          </a:bodyPr>
          <a:lstStyle/>
          <a:p>
            <a:pPr algn="l"/>
            <a:r>
              <a:rPr sz="1100" b="1">
                <a:solidFill>
                  <a:srgbClr val="475569"/>
                </a:solidFill>
                <a:latin typeface="Arial"/>
              </a:rPr>
              <a:t>PART DE CHAQUE VARIABLE DANS LA DISTANCE EUCLIDIENNE (%)</a:t>
            </a:r>
          </a:p>
        </p:txBody>
      </p:sp>
      <p:graphicFrame>
        <p:nvGraphicFramePr>
          <p:cNvPr id="12" name="Chart 11"/>
          <p:cNvGraphicFramePr>
            <a:graphicFrameLocks noGrp="1"/>
          </p:cNvGraphicFramePr>
          <p:nvPr/>
        </p:nvGraphicFramePr>
        <p:xfrm>
          <a:off x="640080" y="2011680"/>
          <a:ext cx="5760720" cy="3383280"/>
        </p:xfrm>
        <a:graphic>
          <a:graphicData uri="http://schemas.openxmlformats.org/drawingml/2006/chart">
            <c:chart xmlns:c="http://schemas.openxmlformats.org/drawingml/2006/chart" r:id="rId2"/>
          </a:graphicData>
        </a:graphic>
      </p:graphicFrame>
      <p:sp>
        <p:nvSpPr>
          <p:cNvPr id="13" name="Rounded Rectangle 12"/>
          <p:cNvSpPr/>
          <p:nvPr/>
        </p:nvSpPr>
        <p:spPr>
          <a:xfrm>
            <a:off x="6812280" y="1508760"/>
            <a:ext cx="4876800" cy="12344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812280" y="1508760"/>
            <a:ext cx="64008" cy="12344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068312" y="1655064"/>
            <a:ext cx="4511040" cy="685800"/>
          </a:xfrm>
          <a:prstGeom prst="rect">
            <a:avLst/>
          </a:prstGeom>
          <a:noFill/>
        </p:spPr>
        <p:txBody>
          <a:bodyPr wrap="square" lIns="0" rIns="0" tIns="0" bIns="0" anchor="t">
            <a:spAutoFit/>
          </a:bodyPr>
          <a:lstStyle/>
          <a:p>
            <a:pPr algn="l"/>
            <a:r>
              <a:rPr sz="3400" b="1">
                <a:solidFill>
                  <a:srgbClr val="0891B2"/>
                </a:solidFill>
                <a:latin typeface="Arial"/>
              </a:rPr>
              <a:t>23 %</a:t>
            </a:r>
          </a:p>
        </p:txBody>
      </p:sp>
      <p:sp>
        <p:nvSpPr>
          <p:cNvPr id="16" name="TextBox 15"/>
          <p:cNvSpPr txBox="1"/>
          <p:nvPr/>
        </p:nvSpPr>
        <p:spPr>
          <a:xfrm>
            <a:off x="7068312" y="2176272"/>
            <a:ext cx="4465320" cy="457200"/>
          </a:xfrm>
          <a:prstGeom prst="rect">
            <a:avLst/>
          </a:prstGeom>
          <a:noFill/>
        </p:spPr>
        <p:txBody>
          <a:bodyPr wrap="square" lIns="0" rIns="0" tIns="0" bIns="0" anchor="t">
            <a:spAutoFit/>
          </a:bodyPr>
          <a:lstStyle/>
          <a:p>
            <a:pPr algn="l"/>
            <a:r>
              <a:rPr sz="1150" b="0">
                <a:solidFill>
                  <a:srgbClr val="475569"/>
                </a:solidFill>
                <a:latin typeface="Arial"/>
              </a:rPr>
              <a:t>des 10 plus proches voisins restent les mêmes après standardisation</a:t>
            </a:r>
          </a:p>
        </p:txBody>
      </p:sp>
      <p:sp>
        <p:nvSpPr>
          <p:cNvPr id="17" name="Rounded Rectangle 16"/>
          <p:cNvSpPr/>
          <p:nvPr/>
        </p:nvSpPr>
        <p:spPr>
          <a:xfrm>
            <a:off x="6812280" y="2926080"/>
            <a:ext cx="4876800" cy="2560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01344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59752" y="3108960"/>
            <a:ext cx="4328160" cy="274320"/>
          </a:xfrm>
          <a:prstGeom prst="rect">
            <a:avLst/>
          </a:prstGeom>
          <a:noFill/>
        </p:spPr>
        <p:txBody>
          <a:bodyPr wrap="square" lIns="0" rIns="0" tIns="0" bIns="0" anchor="t">
            <a:spAutoFit/>
          </a:bodyPr>
          <a:lstStyle/>
          <a:p>
            <a:pPr algn="l"/>
            <a:r>
              <a:rPr sz="1100" b="1">
                <a:solidFill>
                  <a:srgbClr val="475569"/>
                </a:solidFill>
                <a:latin typeface="Arial"/>
              </a:rPr>
              <a:t>DISTANCE RETENUE PAR MÉTHODE</a:t>
            </a:r>
          </a:p>
        </p:txBody>
      </p:sp>
      <p:graphicFrame>
        <p:nvGraphicFramePr>
          <p:cNvPr id="20" name="Table 19"/>
          <p:cNvGraphicFramePr>
            <a:graphicFrameLocks noGrp="1"/>
          </p:cNvGraphicFramePr>
          <p:nvPr/>
        </p:nvGraphicFramePr>
        <p:xfrm>
          <a:off x="6995160" y="3429000"/>
          <a:ext cx="4511040" cy="1920240"/>
        </p:xfrm>
        <a:graphic>
          <a:graphicData uri="http://schemas.openxmlformats.org/drawingml/2006/table">
            <a:tbl>
              <a:tblPr firstRow="0" bandRow="0" firstCol="0" lastRow="0" lastCol="0" bandCol="0"/>
              <a:tblGrid>
                <a:gridCol w="2255520"/>
                <a:gridCol w="2255520"/>
              </a:tblGrid>
              <a:tr h="384048">
                <a:tc>
                  <a:txBody>
                    <a:bodyPr wrap="square"/>
                    <a:lstStyle/>
                    <a:p>
                      <a:pPr algn="l"/>
                      <a:r>
                        <a:rPr sz="1050" b="1">
                          <a:solidFill>
                            <a:srgbClr val="0F172A"/>
                          </a:solidFill>
                          <a:latin typeface="Arial"/>
                        </a:rPr>
                        <a:t>Méthodes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050" b="1">
                          <a:solidFill>
                            <a:srgbClr val="0F172A"/>
                          </a:solidFill>
                          <a:latin typeface="Arial"/>
                        </a:rPr>
                        <a:t>Distance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84048">
                <a:tc>
                  <a:txBody>
                    <a:bodyPr wrap="square"/>
                    <a:lstStyle/>
                    <a:p>
                      <a:pPr algn="l"/>
                      <a:r>
                        <a:rPr sz="1050" b="0">
                          <a:solidFill>
                            <a:srgbClr val="0F172A"/>
                          </a:solidFill>
                          <a:latin typeface="Arial"/>
                        </a:rPr>
                        <a:t>K-means, GMM, Ward, DBSCAN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Euclidienne standardisée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K-medoids, CAH lien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Euclidienne + désaccords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Variables binaires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Jaccard si « oui » rare, Hamming sinon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04  ·  MÉTHODES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Neuf méthodes sur le banc d'essai</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439615"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05 / 13</a:t>
            </a:r>
          </a:p>
        </p:txBody>
      </p:sp>
      <p:graphicFrame>
        <p:nvGraphicFramePr>
          <p:cNvPr id="9" name="Table 8"/>
          <p:cNvGraphicFramePr>
            <a:graphicFrameLocks noGrp="1"/>
          </p:cNvGraphicFramePr>
          <p:nvPr/>
        </p:nvGraphicFramePr>
        <p:xfrm>
          <a:off x="502920" y="1554480"/>
          <a:ext cx="11186157" cy="3511296"/>
        </p:xfrm>
        <a:graphic>
          <a:graphicData uri="http://schemas.openxmlformats.org/drawingml/2006/table">
            <a:tbl>
              <a:tblPr firstRow="0" bandRow="0" firstCol="0" lastRow="0" lastCol="0" bandCol="0"/>
              <a:tblGrid>
                <a:gridCol w="1885307"/>
                <a:gridCol w="3267866"/>
                <a:gridCol w="3016492"/>
                <a:gridCol w="3016492"/>
              </a:tblGrid>
              <a:tr h="438912">
                <a:tc>
                  <a:txBody>
                    <a:bodyPr wrap="square"/>
                    <a:lstStyle/>
                    <a:p>
                      <a:pPr algn="l"/>
                      <a:r>
                        <a:rPr sz="1300" b="1">
                          <a:solidFill>
                            <a:srgbClr val="0F172A"/>
                          </a:solidFill>
                          <a:latin typeface="Arial"/>
                        </a:rPr>
                        <a:t>Famille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Méthode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Données et distance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Réglage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 one-hot standardisé, euclidienne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Coude, k de 2 à 10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K-medoids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Matrice de 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Coût et silhouette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(b) données mixtes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Coude sur le coût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D97706"/>
                          </a:solidFill>
                          <a:latin typeface="Arial"/>
                        </a:rPr>
                        <a:t>Modèle probabiliste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Mélange gaussien (GMM)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10 axes de la PCA</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BIC et AIC</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059669"/>
                          </a:solidFill>
                          <a:latin typeface="Arial"/>
                        </a:rPr>
                        <a:t>Hiérarchique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CAH : single, complete, average,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 euclidienne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Dendrogramme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059669"/>
                          </a:solidFill>
                          <a:latin typeface="Arial"/>
                        </a:rPr>
                        <a:t>Hiérarchique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CAH à lien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Matrice de 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Dendrogramme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DB2777"/>
                          </a:solidFill>
                          <a:latin typeface="Arial"/>
                        </a:rPr>
                        <a:t>Densité</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DBSCAN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5 axes de la PCA</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ε par k-distances, min_samples = 10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Rounded Rectangle 9"/>
          <p:cNvSpPr/>
          <p:nvPr/>
        </p:nvSpPr>
        <p:spPr>
          <a:xfrm>
            <a:off x="502920" y="5212080"/>
            <a:ext cx="11186160" cy="85000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212080"/>
            <a:ext cx="10637520" cy="850000"/>
          </a:xfrm>
          <a:prstGeom prst="rect">
            <a:avLst/>
          </a:prstGeom>
          <a:noFill/>
        </p:spPr>
        <p:txBody>
          <a:bodyPr wrap="square" lIns="0" rIns="0" tIns="0" bIns="0" anchor="ctr">
            <a:spAutoFit/>
          </a:bodyPr>
          <a:lstStyle/>
          <a:p>
            <a:pPr algn="l"/>
            <a:r>
              <a:rPr sz="1300" b="1">
                <a:solidFill>
                  <a:srgbClr val="0F172A"/>
                </a:solidFill>
                <a:latin typeface="Arial"/>
              </a:rPr>
              <a:t>K-medoids et indice de Dunn : implémentations personnelles.</a:t>
            </a:r>
          </a:p>
          <a:p>
            <a:pPr algn="l">
              <a:spcBef>
                <a:spcPts val="300"/>
              </a:spcBef>
            </a:pPr>
            <a:r>
              <a:rPr sz="1150" b="0">
                <a:solidFill>
                  <a:srgbClr val="475569"/>
                </a:solidFill>
                <a:latin typeface="Arial"/>
              </a:rPr>
              <a:t>scikit-learn-extra (cité dans le sujet) n'existe que pour NumPy 1 et Python ≤ 3.11, sans mise à jour depuis 2023 ; le projet tourne sous Python 3.13 et NumPy 2. Même algorithme : initialisation k-medoids++, affectation puis mise à jour des médoïdes.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05  ·  PARTITIONNEMENT</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La structure la plus nette est à deux groupes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527538"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06 / 13</a:t>
            </a:r>
          </a:p>
        </p:txBody>
      </p:sp>
      <p:sp>
        <p:nvSpPr>
          <p:cNvPr id="9" name="Rounded Rectangle 8"/>
          <p:cNvSpPr/>
          <p:nvPr/>
        </p:nvSpPr>
        <p:spPr>
          <a:xfrm>
            <a:off x="50292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02920" y="1508760"/>
            <a:ext cx="64008" cy="1188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8952" y="1655064"/>
            <a:ext cx="3210560" cy="685800"/>
          </a:xfrm>
          <a:prstGeom prst="rect">
            <a:avLst/>
          </a:prstGeom>
          <a:noFill/>
        </p:spPr>
        <p:txBody>
          <a:bodyPr wrap="square" lIns="0" rIns="0" tIns="0" bIns="0" anchor="t">
            <a:spAutoFit/>
          </a:bodyPr>
          <a:lstStyle/>
          <a:p>
            <a:pPr algn="l"/>
            <a:r>
              <a:rPr sz="3200" b="1">
                <a:solidFill>
                  <a:srgbClr val="0891B2"/>
                </a:solidFill>
                <a:latin typeface="Arial"/>
              </a:rPr>
              <a:t>0,24</a:t>
            </a:r>
          </a:p>
        </p:txBody>
      </p:sp>
      <p:sp>
        <p:nvSpPr>
          <p:cNvPr id="12" name="TextBox 11"/>
          <p:cNvSpPr txBox="1"/>
          <p:nvPr/>
        </p:nvSpPr>
        <p:spPr>
          <a:xfrm>
            <a:off x="75895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silhouette maximale, obtenue pour k = 2</a:t>
            </a:r>
          </a:p>
        </p:txBody>
      </p:sp>
      <p:sp>
        <p:nvSpPr>
          <p:cNvPr id="13" name="Rounded Rectangle 12"/>
          <p:cNvSpPr/>
          <p:nvPr/>
        </p:nvSpPr>
        <p:spPr>
          <a:xfrm>
            <a:off x="430784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07840" y="1508760"/>
            <a:ext cx="64008" cy="11887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63872" y="1655064"/>
            <a:ext cx="3210560" cy="685800"/>
          </a:xfrm>
          <a:prstGeom prst="rect">
            <a:avLst/>
          </a:prstGeom>
          <a:noFill/>
        </p:spPr>
        <p:txBody>
          <a:bodyPr wrap="square" lIns="0" rIns="0" tIns="0" bIns="0" anchor="t">
            <a:spAutoFit/>
          </a:bodyPr>
          <a:lstStyle/>
          <a:p>
            <a:pPr algn="l"/>
            <a:r>
              <a:rPr sz="3200" b="1">
                <a:solidFill>
                  <a:srgbClr val="059669"/>
                </a:solidFill>
                <a:latin typeface="Arial"/>
              </a:rPr>
              <a:t>0,97 à 0,99</a:t>
            </a:r>
          </a:p>
        </p:txBody>
      </p:sp>
      <p:sp>
        <p:nvSpPr>
          <p:cNvPr id="16" name="TextBox 15"/>
          <p:cNvSpPr txBox="1"/>
          <p:nvPr/>
        </p:nvSpPr>
        <p:spPr>
          <a:xfrm>
            <a:off x="456387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ARI entre K-means, K-prototypes et GMM à k = 2</a:t>
            </a:r>
          </a:p>
        </p:txBody>
      </p:sp>
      <p:sp>
        <p:nvSpPr>
          <p:cNvPr id="17" name="Rounded Rectangle 16"/>
          <p:cNvSpPr/>
          <p:nvPr/>
        </p:nvSpPr>
        <p:spPr>
          <a:xfrm>
            <a:off x="811276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12760" y="1508760"/>
            <a:ext cx="64008" cy="11887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68792" y="1655064"/>
            <a:ext cx="3210560" cy="685800"/>
          </a:xfrm>
          <a:prstGeom prst="rect">
            <a:avLst/>
          </a:prstGeom>
          <a:noFill/>
        </p:spPr>
        <p:txBody>
          <a:bodyPr wrap="square" lIns="0" rIns="0" tIns="0" bIns="0" anchor="t">
            <a:spAutoFit/>
          </a:bodyPr>
          <a:lstStyle/>
          <a:p>
            <a:pPr algn="l"/>
            <a:r>
              <a:rPr sz="3200" b="1">
                <a:solidFill>
                  <a:srgbClr val="D97706"/>
                </a:solidFill>
                <a:latin typeface="Arial"/>
              </a:rPr>
              <a:t>k ≈ 6</a:t>
            </a:r>
          </a:p>
        </p:txBody>
      </p:sp>
      <p:sp>
        <p:nvSpPr>
          <p:cNvPr id="20" name="TextBox 19"/>
          <p:cNvSpPr txBox="1"/>
          <p:nvPr/>
        </p:nvSpPr>
        <p:spPr>
          <a:xfrm>
            <a:off x="836879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coude de l'inertie : borne haute pour k</a:t>
            </a:r>
          </a:p>
        </p:txBody>
      </p:sp>
      <p:sp>
        <p:nvSpPr>
          <p:cNvPr id="21" name="Rounded Rectangle 20"/>
          <p:cNvSpPr/>
          <p:nvPr/>
        </p:nvSpPr>
        <p:spPr>
          <a:xfrm>
            <a:off x="502920" y="2926080"/>
            <a:ext cx="5455920" cy="2606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0408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0392" y="3108960"/>
            <a:ext cx="4907280" cy="274320"/>
          </a:xfrm>
          <a:prstGeom prst="rect">
            <a:avLst/>
          </a:prstGeom>
          <a:noFill/>
        </p:spPr>
        <p:txBody>
          <a:bodyPr wrap="square" lIns="0" rIns="0" tIns="0" bIns="0" anchor="t">
            <a:spAutoFit/>
          </a:bodyPr>
          <a:lstStyle/>
          <a:p>
            <a:pPr algn="l"/>
            <a:r>
              <a:rPr sz="1100" b="1">
                <a:solidFill>
                  <a:srgbClr val="475569"/>
                </a:solidFill>
                <a:latin typeface="Arial"/>
              </a:rPr>
              <a:t>K-MEANS : INERTIE SELON K</a:t>
            </a:r>
          </a:p>
        </p:txBody>
      </p:sp>
      <p:graphicFrame>
        <p:nvGraphicFramePr>
          <p:cNvPr id="24" name="Chart 23"/>
          <p:cNvGraphicFramePr>
            <a:graphicFrameLocks noGrp="1"/>
          </p:cNvGraphicFramePr>
          <p:nvPr/>
        </p:nvGraphicFramePr>
        <p:xfrm>
          <a:off x="640080" y="3383280"/>
          <a:ext cx="5181600" cy="2057400"/>
        </p:xfrm>
        <a:graphic>
          <a:graphicData uri="http://schemas.openxmlformats.org/drawingml/2006/chart">
            <c:chart xmlns:c="http://schemas.openxmlformats.org/drawingml/2006/chart" r:id="rId2"/>
          </a:graphicData>
        </a:graphic>
      </p:graphicFrame>
      <p:sp>
        <p:nvSpPr>
          <p:cNvPr id="25" name="Rounded Rectangle 24"/>
          <p:cNvSpPr/>
          <p:nvPr/>
        </p:nvSpPr>
        <p:spPr>
          <a:xfrm>
            <a:off x="6233160" y="2926080"/>
            <a:ext cx="5455920" cy="2606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32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80632" y="3108960"/>
            <a:ext cx="4907280" cy="274320"/>
          </a:xfrm>
          <a:prstGeom prst="rect">
            <a:avLst/>
          </a:prstGeom>
          <a:noFill/>
        </p:spPr>
        <p:txBody>
          <a:bodyPr wrap="square" lIns="0" rIns="0" tIns="0" bIns="0" anchor="t">
            <a:spAutoFit/>
          </a:bodyPr>
          <a:lstStyle/>
          <a:p>
            <a:pPr algn="l"/>
            <a:r>
              <a:rPr sz="1100" b="1">
                <a:solidFill>
                  <a:srgbClr val="475569"/>
                </a:solidFill>
                <a:latin typeface="Arial"/>
              </a:rPr>
              <a:t>K-MEANS : SILHOUETTE SELON K</a:t>
            </a:r>
          </a:p>
        </p:txBody>
      </p:sp>
      <p:graphicFrame>
        <p:nvGraphicFramePr>
          <p:cNvPr id="28" name="Chart 27"/>
          <p:cNvGraphicFramePr>
            <a:graphicFrameLocks noGrp="1"/>
          </p:cNvGraphicFramePr>
          <p:nvPr/>
        </p:nvGraphicFramePr>
        <p:xfrm>
          <a:off x="6370320" y="3383280"/>
          <a:ext cx="5181600" cy="205740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06  ·  HIÉRARCHIQUE ET DENSITÉ</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 indice ne se lit jamais sans la taille des clusters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615461"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07 / 13</a:t>
            </a:r>
          </a:p>
        </p:txBody>
      </p:sp>
      <p:sp>
        <p:nvSpPr>
          <p:cNvPr id="9" name="Rounded Rectangle 8"/>
          <p:cNvSpPr/>
          <p:nvPr/>
        </p:nvSpPr>
        <p:spPr>
          <a:xfrm>
            <a:off x="502920" y="1463040"/>
            <a:ext cx="54559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4907280" cy="274320"/>
          </a:xfrm>
          <a:prstGeom prst="rect">
            <a:avLst/>
          </a:prstGeom>
          <a:noFill/>
        </p:spPr>
        <p:txBody>
          <a:bodyPr wrap="square" lIns="0" rIns="0" tIns="0" bIns="0" anchor="t">
            <a:spAutoFit/>
          </a:bodyPr>
          <a:lstStyle/>
          <a:p>
            <a:pPr algn="l"/>
            <a:r>
              <a:rPr sz="1100" b="1">
                <a:solidFill>
                  <a:srgbClr val="475569"/>
                </a:solidFill>
                <a:latin typeface="Arial"/>
              </a:rPr>
              <a:t>CAH : COUPURE À 3 CLUSTERS SELON LE LIEN</a:t>
            </a:r>
          </a:p>
        </p:txBody>
      </p:sp>
      <p:graphicFrame>
        <p:nvGraphicFramePr>
          <p:cNvPr id="12" name="Table 11"/>
          <p:cNvGraphicFramePr>
            <a:graphicFrameLocks noGrp="1"/>
          </p:cNvGraphicFramePr>
          <p:nvPr/>
        </p:nvGraphicFramePr>
        <p:xfrm>
          <a:off x="731520" y="2029968"/>
          <a:ext cx="4998719" cy="1828800"/>
        </p:xfrm>
        <a:graphic>
          <a:graphicData uri="http://schemas.openxmlformats.org/drawingml/2006/table">
            <a:tbl>
              <a:tblPr firstRow="0" bandRow="0" firstCol="0" lastRow="0" lastCol="0" bandCol="0"/>
              <a:tblGrid>
                <a:gridCol w="1409895"/>
                <a:gridCol w="2178929"/>
                <a:gridCol w="1409895"/>
              </a:tblGrid>
              <a:tr h="365760">
                <a:tc>
                  <a:txBody>
                    <a:bodyPr wrap="square"/>
                    <a:lstStyle/>
                    <a:p>
                      <a:pPr algn="l"/>
                      <a:r>
                        <a:rPr sz="1250" b="1">
                          <a:solidFill>
                            <a:srgbClr val="0F172A"/>
                          </a:solidFill>
                          <a:latin typeface="Arial"/>
                        </a:rPr>
                        <a:t>Lien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50" b="1">
                          <a:solidFill>
                            <a:srgbClr val="0F172A"/>
                          </a:solidFill>
                          <a:latin typeface="Arial"/>
                        </a:rPr>
                        <a:t>Tailles (k = 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50" b="1">
                          <a:solidFill>
                            <a:srgbClr val="0F172A"/>
                          </a:solidFill>
                          <a:latin typeface="Arial"/>
                        </a:rPr>
                        <a:t>Silhouette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50" b="0">
                          <a:solidFill>
                            <a:srgbClr val="0F172A"/>
                          </a:solidFill>
                          <a:latin typeface="Arial"/>
                        </a:rPr>
                        <a:t>Single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3 998 / 1 / 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0,423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0">
                          <a:solidFill>
                            <a:srgbClr val="0F172A"/>
                          </a:solidFill>
                          <a:latin typeface="Arial"/>
                        </a:rPr>
                        <a:t>Complete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3 879 / 66 / 55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0,316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0">
                          <a:solidFill>
                            <a:srgbClr val="0F172A"/>
                          </a:solidFill>
                          <a:latin typeface="Arial"/>
                        </a:rPr>
                        <a:t>Average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3 964 / 35 / 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0,489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1">
                          <a:solidFill>
                            <a:srgbClr val="0F172A"/>
                          </a:solidFill>
                          <a:latin typeface="Arial"/>
                        </a:rPr>
                        <a:t>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l"/>
                      <a:r>
                        <a:rPr sz="1250" b="1">
                          <a:solidFill>
                            <a:srgbClr val="0F172A"/>
                          </a:solidFill>
                          <a:latin typeface="Arial"/>
                        </a:rPr>
                        <a:t>2 617 / 756 / 627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50" b="1">
                          <a:solidFill>
                            <a:srgbClr val="0F172A"/>
                          </a:solidFill>
                          <a:latin typeface="Arial"/>
                        </a:rPr>
                        <a:t>0,193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bl>
          </a:graphicData>
        </a:graphic>
      </p:graphicFrame>
      <p:sp>
        <p:nvSpPr>
          <p:cNvPr id="13" name="TextBox 12"/>
          <p:cNvSpPr txBox="1"/>
          <p:nvPr/>
        </p:nvSpPr>
        <p:spPr>
          <a:xfrm>
            <a:off x="777240" y="4069080"/>
            <a:ext cx="4907280" cy="1280160"/>
          </a:xfrm>
          <a:prstGeom prst="rect">
            <a:avLst/>
          </a:prstGeom>
          <a:noFill/>
        </p:spPr>
        <p:txBody>
          <a:bodyPr wrap="square" lIns="0" rIns="0" tIns="0" bIns="0" anchor="t">
            <a:spAutoFit/>
          </a:bodyPr>
          <a:lstStyle/>
          <a:p>
            <a:pPr algn="l">
              <a:spcAft>
                <a:spcPts val="800"/>
              </a:spcAft>
            </a:pPr>
            <a:r>
              <a:rPr sz="1250" b="0">
                <a:solidFill>
                  <a:srgbClr val="0F172A"/>
                </a:solidFill>
                <a:latin typeface="Arial"/>
              </a:rPr>
              <a:t>Les liens inutilisables (un cluster géant et des singletons) ont les meilleures silhouettes.</a:t>
            </a:r>
          </a:p>
          <a:p>
            <a:pPr algn="l">
              <a:spcAft>
                <a:spcPts val="800"/>
              </a:spcAft>
            </a:pPr>
            <a:r>
              <a:rPr sz="1250" b="0">
                <a:solidFill>
                  <a:srgbClr val="0F172A"/>
                </a:solidFill>
                <a:latin typeface="Arial"/>
              </a:rPr>
              <a:t>Seul Ward donne des groupes équilibrés ; dendrogramme : coupures naturelles à 2 et 5.</a:t>
            </a:r>
          </a:p>
        </p:txBody>
      </p:sp>
      <p:sp>
        <p:nvSpPr>
          <p:cNvPr id="14" name="Rounded Rectangle 13"/>
          <p:cNvSpPr/>
          <p:nvPr/>
        </p:nvSpPr>
        <p:spPr>
          <a:xfrm>
            <a:off x="6233160" y="1463040"/>
            <a:ext cx="54559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34328" y="168249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80632" y="1645920"/>
            <a:ext cx="4907280" cy="274320"/>
          </a:xfrm>
          <a:prstGeom prst="rect">
            <a:avLst/>
          </a:prstGeom>
          <a:noFill/>
        </p:spPr>
        <p:txBody>
          <a:bodyPr wrap="square" lIns="0" rIns="0" tIns="0" bIns="0" anchor="t">
            <a:spAutoFit/>
          </a:bodyPr>
          <a:lstStyle/>
          <a:p>
            <a:pPr algn="l"/>
            <a:r>
              <a:rPr sz="1100" b="1">
                <a:solidFill>
                  <a:srgbClr val="475569"/>
                </a:solidFill>
                <a:latin typeface="Arial"/>
              </a:rPr>
              <a:t>DBSCAN (Ε ≈ 1,0 ; MIN_SAMPLES = 10)</a:t>
            </a:r>
          </a:p>
        </p:txBody>
      </p:sp>
      <p:sp>
        <p:nvSpPr>
          <p:cNvPr id="17" name="Rounded Rectangle 16"/>
          <p:cNvSpPr/>
          <p:nvPr/>
        </p:nvSpPr>
        <p:spPr>
          <a:xfrm>
            <a:off x="646176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98920" y="2084832"/>
            <a:ext cx="1391920" cy="502920"/>
          </a:xfrm>
          <a:prstGeom prst="rect">
            <a:avLst/>
          </a:prstGeom>
          <a:noFill/>
        </p:spPr>
        <p:txBody>
          <a:bodyPr wrap="square" lIns="0" rIns="0" tIns="0" bIns="0" anchor="t">
            <a:spAutoFit/>
          </a:bodyPr>
          <a:lstStyle/>
          <a:p>
            <a:pPr algn="l"/>
            <a:r>
              <a:rPr sz="2400" b="1">
                <a:solidFill>
                  <a:srgbClr val="059669"/>
                </a:solidFill>
                <a:latin typeface="Arial"/>
              </a:rPr>
              <a:t>8</a:t>
            </a:r>
          </a:p>
        </p:txBody>
      </p:sp>
      <p:sp>
        <p:nvSpPr>
          <p:cNvPr id="19" name="TextBox 18"/>
          <p:cNvSpPr txBox="1"/>
          <p:nvPr/>
        </p:nvSpPr>
        <p:spPr>
          <a:xfrm>
            <a:off x="659892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clusters</a:t>
            </a:r>
          </a:p>
        </p:txBody>
      </p:sp>
      <p:sp>
        <p:nvSpPr>
          <p:cNvPr id="20" name="Rounded Rectangle 19"/>
          <p:cNvSpPr/>
          <p:nvPr/>
        </p:nvSpPr>
        <p:spPr>
          <a:xfrm>
            <a:off x="817372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10880" y="2084832"/>
            <a:ext cx="1391920" cy="502920"/>
          </a:xfrm>
          <a:prstGeom prst="rect">
            <a:avLst/>
          </a:prstGeom>
          <a:noFill/>
        </p:spPr>
        <p:txBody>
          <a:bodyPr wrap="square" lIns="0" rIns="0" tIns="0" bIns="0" anchor="t">
            <a:spAutoFit/>
          </a:bodyPr>
          <a:lstStyle/>
          <a:p>
            <a:pPr algn="l"/>
            <a:r>
              <a:rPr sz="2400" b="1">
                <a:solidFill>
                  <a:srgbClr val="2563EB"/>
                </a:solidFill>
                <a:latin typeface="Arial"/>
              </a:rPr>
              <a:t>82 %</a:t>
            </a:r>
          </a:p>
        </p:txBody>
      </p:sp>
      <p:sp>
        <p:nvSpPr>
          <p:cNvPr id="22" name="TextBox 21"/>
          <p:cNvSpPr txBox="1"/>
          <p:nvPr/>
        </p:nvSpPr>
        <p:spPr>
          <a:xfrm>
            <a:off x="831088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dans un seul</a:t>
            </a:r>
          </a:p>
        </p:txBody>
      </p:sp>
      <p:sp>
        <p:nvSpPr>
          <p:cNvPr id="23" name="Rounded Rectangle 22"/>
          <p:cNvSpPr/>
          <p:nvPr/>
        </p:nvSpPr>
        <p:spPr>
          <a:xfrm>
            <a:off x="988568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022840" y="2084832"/>
            <a:ext cx="1391920" cy="502920"/>
          </a:xfrm>
          <a:prstGeom prst="rect">
            <a:avLst/>
          </a:prstGeom>
          <a:noFill/>
        </p:spPr>
        <p:txBody>
          <a:bodyPr wrap="square" lIns="0" rIns="0" tIns="0" bIns="0" anchor="t">
            <a:spAutoFit/>
          </a:bodyPr>
          <a:lstStyle/>
          <a:p>
            <a:pPr algn="l"/>
            <a:r>
              <a:rPr sz="2400" b="1">
                <a:solidFill>
                  <a:srgbClr val="DB2777"/>
                </a:solidFill>
                <a:latin typeface="Arial"/>
              </a:rPr>
              <a:t>3,8 %</a:t>
            </a:r>
          </a:p>
        </p:txBody>
      </p:sp>
      <p:sp>
        <p:nvSpPr>
          <p:cNvPr id="25" name="TextBox 24"/>
          <p:cNvSpPr txBox="1"/>
          <p:nvPr/>
        </p:nvSpPr>
        <p:spPr>
          <a:xfrm>
            <a:off x="1002284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de bruit</a:t>
            </a:r>
          </a:p>
        </p:txBody>
      </p:sp>
      <p:graphicFrame>
        <p:nvGraphicFramePr>
          <p:cNvPr id="26" name="Table 25"/>
          <p:cNvGraphicFramePr>
            <a:graphicFrameLocks noGrp="1"/>
          </p:cNvGraphicFramePr>
          <p:nvPr/>
        </p:nvGraphicFramePr>
        <p:xfrm>
          <a:off x="6461760" y="3154680"/>
          <a:ext cx="4998719" cy="1828800"/>
        </p:xfrm>
        <a:graphic>
          <a:graphicData uri="http://schemas.openxmlformats.org/drawingml/2006/table">
            <a:tbl>
              <a:tblPr firstRow="0" bandRow="0" firstCol="0" lastRow="0" lastCol="0" bandCol="0"/>
              <a:tblGrid>
                <a:gridCol w="2673733"/>
                <a:gridCol w="1162493"/>
                <a:gridCol w="1162493"/>
              </a:tblGrid>
              <a:tr h="365760">
                <a:tc>
                  <a:txBody>
                    <a:bodyPr wrap="square"/>
                    <a:lstStyle/>
                    <a:p>
                      <a:pPr algn="l"/>
                      <a:r>
                        <a:rPr sz="1200" b="1">
                          <a:solidFill>
                            <a:srgbClr val="0F172A"/>
                          </a:solidFill>
                          <a:latin typeface="Arial"/>
                        </a:rPr>
                        <a:t>Profil</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B2777"/>
                          </a:solidFill>
                          <a:latin typeface="Arial"/>
                        </a:rPr>
                        <a:t>Bruit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Autres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00" b="0">
                          <a:solidFill>
                            <a:srgbClr val="0F172A"/>
                          </a:solidFill>
                          <a:latin typeface="Arial"/>
                        </a:rPr>
                        <a:t>Âge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49 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40 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42 %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Retraités ou étudiants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Distance au centre 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27" name="TextBox 26"/>
          <p:cNvSpPr txBox="1"/>
          <p:nvPr/>
        </p:nvSpPr>
        <p:spPr>
          <a:xfrm>
            <a:off x="6507480" y="5074920"/>
            <a:ext cx="4907280" cy="365760"/>
          </a:xfrm>
          <a:prstGeom prst="rect">
            <a:avLst/>
          </a:prstGeom>
          <a:noFill/>
        </p:spPr>
        <p:txBody>
          <a:bodyPr wrap="square" lIns="0" rIns="0" tIns="0" bIns="0" anchor="t">
            <a:spAutoFit/>
          </a:bodyPr>
          <a:lstStyle/>
          <a:p>
            <a:pPr algn="l"/>
            <a:r>
              <a:rPr sz="1200" b="0">
                <a:solidFill>
                  <a:srgbClr val="475569"/>
                </a:solidFill>
                <a:latin typeface="Arial"/>
              </a:rPr>
              <a:t>Masse continue : DBSCAN repère les atypiques, il ne segmente pas.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07  ·  VALIDATION ET DÉCISION</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Solution retenue : CAH de Ward à quatre segments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703384"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08 / 13</a:t>
            </a:r>
          </a:p>
        </p:txBody>
      </p:sp>
      <p:graphicFrame>
        <p:nvGraphicFramePr>
          <p:cNvPr id="9" name="Table 8"/>
          <p:cNvGraphicFramePr>
            <a:graphicFrameLocks noGrp="1"/>
          </p:cNvGraphicFramePr>
          <p:nvPr/>
        </p:nvGraphicFramePr>
        <p:xfrm>
          <a:off x="502920" y="1463040"/>
          <a:ext cx="5760716" cy="3291840"/>
        </p:xfrm>
        <a:graphic>
          <a:graphicData uri="http://schemas.openxmlformats.org/drawingml/2006/table">
            <a:tbl>
              <a:tblPr firstRow="0" bandRow="0" firstCol="0" lastRow="0" lastCol="0" bandCol="0"/>
              <a:tblGrid>
                <a:gridCol w="1515978"/>
                <a:gridCol w="454793"/>
                <a:gridCol w="757989"/>
                <a:gridCol w="757989"/>
                <a:gridCol w="757989"/>
                <a:gridCol w="757989"/>
                <a:gridCol w="757989"/>
              </a:tblGrid>
              <a:tr h="365760">
                <a:tc>
                  <a:txBody>
                    <a:bodyPr wrap="square"/>
                    <a:lstStyle/>
                    <a:p>
                      <a:pPr algn="l"/>
                      <a:r>
                        <a:rPr sz="1200" b="1">
                          <a:solidFill>
                            <a:srgbClr val="0F172A"/>
                          </a:solidFill>
                          <a:latin typeface="Arial"/>
                        </a:rPr>
                        <a:t>Méthode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k</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Silh.</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D.-B.</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Dunn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891B2"/>
                          </a:solidFill>
                          <a:latin typeface="Arial"/>
                        </a:rPr>
                        <a:t>Rang</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94A3B8"/>
                          </a:solidFill>
                          <a:latin typeface="Arial"/>
                        </a:rPr>
                        <a:t>ARI*</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00" b="1">
                          <a:solidFill>
                            <a:srgbClr val="0F172A"/>
                          </a:solidFill>
                          <a:latin typeface="Arial"/>
                        </a:rPr>
                        <a:t>CAH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0,213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1,73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0,112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1,50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0,151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r h="365760">
                <a:tc>
                  <a:txBody>
                    <a:bodyPr wrap="square"/>
                    <a:lstStyle/>
                    <a:p>
                      <a:pPr algn="l"/>
                      <a:r>
                        <a:rPr sz="12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0,083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0,065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CAH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0,193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0,139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1,84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0,033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0,057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GMM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0,081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2,70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0,072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6,25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0,053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0,126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2,26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0,006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0,048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K-medoids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0,039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3,73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0,020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8,75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0,015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TextBox 9"/>
          <p:cNvSpPr txBox="1"/>
          <p:nvPr/>
        </p:nvSpPr>
        <p:spPr>
          <a:xfrm>
            <a:off x="502920" y="4892040"/>
            <a:ext cx="5760720" cy="594360"/>
          </a:xfrm>
          <a:prstGeom prst="rect">
            <a:avLst/>
          </a:prstGeom>
          <a:noFill/>
        </p:spPr>
        <p:txBody>
          <a:bodyPr wrap="square" lIns="0" rIns="0" tIns="0" bIns="0" anchor="t">
            <a:spAutoFit/>
          </a:bodyPr>
          <a:lstStyle/>
          <a:p>
            <a:pPr algn="l"/>
            <a:r>
              <a:rPr sz="1150" b="0">
                <a:solidFill>
                  <a:srgbClr val="475569"/>
                </a:solidFill>
                <a:latin typeface="Arial"/>
              </a:rPr>
              <a:t>Filtre : k = 3 ou 4, segments ≥ 5 %.  Rang moyen sur les 4 indices internes (1 = meilleur).</a:t>
            </a:r>
          </a:p>
          <a:p>
            <a:pPr algn="l"/>
            <a:r>
              <a:rPr sz="1150" b="0">
                <a:solidFill>
                  <a:srgbClr val="475569"/>
                </a:solidFill>
                <a:latin typeface="Arial"/>
              </a:rPr>
              <a:t>* ARI, calculé avec y : contrôle a posteriori, hors rang.</a:t>
            </a:r>
          </a:p>
        </p:txBody>
      </p:sp>
      <p:sp>
        <p:nvSpPr>
          <p:cNvPr id="11" name="Rounded Rectangle 10"/>
          <p:cNvSpPr/>
          <p:nvPr/>
        </p:nvSpPr>
        <p:spPr>
          <a:xfrm>
            <a:off x="6537960" y="1463040"/>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37960" y="1463040"/>
            <a:ext cx="64008" cy="1143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93992" y="1609344"/>
            <a:ext cx="2118360" cy="685800"/>
          </a:xfrm>
          <a:prstGeom prst="rect">
            <a:avLst/>
          </a:prstGeom>
          <a:noFill/>
        </p:spPr>
        <p:txBody>
          <a:bodyPr wrap="square" lIns="0" rIns="0" tIns="0" bIns="0" anchor="t">
            <a:spAutoFit/>
          </a:bodyPr>
          <a:lstStyle/>
          <a:p>
            <a:pPr algn="l"/>
            <a:r>
              <a:rPr sz="3000" b="1">
                <a:solidFill>
                  <a:srgbClr val="0891B2"/>
                </a:solidFill>
                <a:latin typeface="Arial"/>
              </a:rPr>
              <a:t>0,21</a:t>
            </a:r>
          </a:p>
        </p:txBody>
      </p:sp>
      <p:sp>
        <p:nvSpPr>
          <p:cNvPr id="14" name="TextBox 13"/>
          <p:cNvSpPr txBox="1"/>
          <p:nvPr/>
        </p:nvSpPr>
        <p:spPr>
          <a:xfrm>
            <a:off x="6793992" y="2039112"/>
            <a:ext cx="2072640" cy="457200"/>
          </a:xfrm>
          <a:prstGeom prst="rect">
            <a:avLst/>
          </a:prstGeom>
          <a:noFill/>
        </p:spPr>
        <p:txBody>
          <a:bodyPr wrap="square" lIns="0" rIns="0" tIns="0" bIns="0" anchor="t">
            <a:spAutoFit/>
          </a:bodyPr>
          <a:lstStyle/>
          <a:p>
            <a:pPr algn="l"/>
            <a:r>
              <a:rPr sz="1150" b="0">
                <a:solidFill>
                  <a:srgbClr val="475569"/>
                </a:solidFill>
                <a:latin typeface="Arial"/>
              </a:rPr>
              <a:t>silhouette (maximum : 0,24 à k = 2)</a:t>
            </a:r>
          </a:p>
        </p:txBody>
      </p:sp>
      <p:sp>
        <p:nvSpPr>
          <p:cNvPr id="15" name="Rounded Rectangle 14"/>
          <p:cNvSpPr/>
          <p:nvPr/>
        </p:nvSpPr>
        <p:spPr>
          <a:xfrm>
            <a:off x="9204960" y="1463040"/>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4960" y="1463040"/>
            <a:ext cx="64008"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460992" y="1609344"/>
            <a:ext cx="2118360" cy="685800"/>
          </a:xfrm>
          <a:prstGeom prst="rect">
            <a:avLst/>
          </a:prstGeom>
          <a:noFill/>
        </p:spPr>
        <p:txBody>
          <a:bodyPr wrap="square" lIns="0" rIns="0" tIns="0" bIns="0" anchor="t">
            <a:spAutoFit/>
          </a:bodyPr>
          <a:lstStyle/>
          <a:p>
            <a:pPr algn="l"/>
            <a:r>
              <a:rPr sz="3000" b="1">
                <a:solidFill>
                  <a:srgbClr val="2563EB"/>
                </a:solidFill>
                <a:latin typeface="Arial"/>
              </a:rPr>
              <a:t>1,73</a:t>
            </a:r>
          </a:p>
        </p:txBody>
      </p:sp>
      <p:sp>
        <p:nvSpPr>
          <p:cNvPr id="18" name="TextBox 17"/>
          <p:cNvSpPr txBox="1"/>
          <p:nvPr/>
        </p:nvSpPr>
        <p:spPr>
          <a:xfrm>
            <a:off x="9460992" y="2039112"/>
            <a:ext cx="2072640" cy="457200"/>
          </a:xfrm>
          <a:prstGeom prst="rect">
            <a:avLst/>
          </a:prstGeom>
          <a:noFill/>
        </p:spPr>
        <p:txBody>
          <a:bodyPr wrap="square" lIns="0" rIns="0" tIns="0" bIns="0" anchor="t">
            <a:spAutoFit/>
          </a:bodyPr>
          <a:lstStyle/>
          <a:p>
            <a:pPr algn="l"/>
            <a:r>
              <a:rPr sz="1150" b="0">
                <a:solidFill>
                  <a:srgbClr val="475569"/>
                </a:solidFill>
                <a:latin typeface="Arial"/>
              </a:rPr>
              <a:t>Davies-Bouldin, le plus bas</a:t>
            </a:r>
          </a:p>
        </p:txBody>
      </p:sp>
      <p:sp>
        <p:nvSpPr>
          <p:cNvPr id="19" name="Rounded Rectangle 18"/>
          <p:cNvSpPr/>
          <p:nvPr/>
        </p:nvSpPr>
        <p:spPr>
          <a:xfrm>
            <a:off x="6537960" y="2770632"/>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37960" y="2770632"/>
            <a:ext cx="64008"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93992" y="2916936"/>
            <a:ext cx="2118360" cy="685800"/>
          </a:xfrm>
          <a:prstGeom prst="rect">
            <a:avLst/>
          </a:prstGeom>
          <a:noFill/>
        </p:spPr>
        <p:txBody>
          <a:bodyPr wrap="square" lIns="0" rIns="0" tIns="0" bIns="0" anchor="t">
            <a:spAutoFit/>
          </a:bodyPr>
          <a:lstStyle/>
          <a:p>
            <a:pPr algn="l"/>
            <a:r>
              <a:rPr sz="3000" b="1">
                <a:solidFill>
                  <a:srgbClr val="059669"/>
                </a:solidFill>
                <a:latin typeface="Arial"/>
              </a:rPr>
              <a:t>0,93</a:t>
            </a:r>
          </a:p>
        </p:txBody>
      </p:sp>
      <p:sp>
        <p:nvSpPr>
          <p:cNvPr id="22" name="TextBox 21"/>
          <p:cNvSpPr txBox="1"/>
          <p:nvPr/>
        </p:nvSpPr>
        <p:spPr>
          <a:xfrm>
            <a:off x="6793992" y="3346704"/>
            <a:ext cx="2072640" cy="457200"/>
          </a:xfrm>
          <a:prstGeom prst="rect">
            <a:avLst/>
          </a:prstGeom>
          <a:noFill/>
        </p:spPr>
        <p:txBody>
          <a:bodyPr wrap="square" lIns="0" rIns="0" tIns="0" bIns="0" anchor="t">
            <a:spAutoFit/>
          </a:bodyPr>
          <a:lstStyle/>
          <a:p>
            <a:pPr algn="l"/>
            <a:r>
              <a:rPr sz="1150" b="0">
                <a:solidFill>
                  <a:srgbClr val="475569"/>
                </a:solidFill>
                <a:latin typeface="Arial"/>
              </a:rPr>
              <a:t>ARI bootstrap (K-means : 0,72)</a:t>
            </a:r>
          </a:p>
        </p:txBody>
      </p:sp>
      <p:sp>
        <p:nvSpPr>
          <p:cNvPr id="23" name="Rounded Rectangle 22"/>
          <p:cNvSpPr/>
          <p:nvPr/>
        </p:nvSpPr>
        <p:spPr>
          <a:xfrm>
            <a:off x="9204960" y="2770632"/>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204960" y="2770632"/>
            <a:ext cx="64008" cy="1143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460992" y="2916936"/>
            <a:ext cx="2118360" cy="685800"/>
          </a:xfrm>
          <a:prstGeom prst="rect">
            <a:avLst/>
          </a:prstGeom>
          <a:noFill/>
        </p:spPr>
        <p:txBody>
          <a:bodyPr wrap="square" lIns="0" rIns="0" tIns="0" bIns="0" anchor="t">
            <a:spAutoFit/>
          </a:bodyPr>
          <a:lstStyle/>
          <a:p>
            <a:pPr algn="l"/>
            <a:r>
              <a:rPr sz="3000" b="1">
                <a:solidFill>
                  <a:srgbClr val="D97706"/>
                </a:solidFill>
                <a:latin typeface="Arial"/>
              </a:rPr>
              <a:t>98 %</a:t>
            </a:r>
          </a:p>
        </p:txBody>
      </p:sp>
      <p:sp>
        <p:nvSpPr>
          <p:cNvPr id="26" name="TextBox 25"/>
          <p:cNvSpPr txBox="1"/>
          <p:nvPr/>
        </p:nvSpPr>
        <p:spPr>
          <a:xfrm>
            <a:off x="9460992" y="3346704"/>
            <a:ext cx="2072640" cy="457200"/>
          </a:xfrm>
          <a:prstGeom prst="rect">
            <a:avLst/>
          </a:prstGeom>
          <a:noFill/>
        </p:spPr>
        <p:txBody>
          <a:bodyPr wrap="square" lIns="0" rIns="0" tIns="0" bIns="0" anchor="t">
            <a:spAutoFit/>
          </a:bodyPr>
          <a:lstStyle/>
          <a:p>
            <a:pPr algn="l"/>
            <a:r>
              <a:rPr sz="1150" b="0">
                <a:solidFill>
                  <a:srgbClr val="475569"/>
                </a:solidFill>
                <a:latin typeface="Arial"/>
              </a:rPr>
              <a:t>reclassés à l'identique par le centre le plus proche</a:t>
            </a:r>
          </a:p>
        </p:txBody>
      </p:sp>
      <p:sp>
        <p:nvSpPr>
          <p:cNvPr id="27" name="Rounded Rectangle 26"/>
          <p:cNvSpPr/>
          <p:nvPr/>
        </p:nvSpPr>
        <p:spPr>
          <a:xfrm>
            <a:off x="6537960" y="4078224"/>
            <a:ext cx="5151120" cy="1408176"/>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39128" y="4297680"/>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85432" y="4261104"/>
            <a:ext cx="4602480" cy="274320"/>
          </a:xfrm>
          <a:prstGeom prst="rect">
            <a:avLst/>
          </a:prstGeom>
          <a:noFill/>
        </p:spPr>
        <p:txBody>
          <a:bodyPr wrap="square" lIns="0" rIns="0" tIns="0" bIns="0" anchor="t">
            <a:spAutoFit/>
          </a:bodyPr>
          <a:lstStyle/>
          <a:p>
            <a:pPr algn="l"/>
            <a:r>
              <a:rPr sz="1100" b="1">
                <a:solidFill>
                  <a:srgbClr val="475569"/>
                </a:solidFill>
                <a:latin typeface="Arial"/>
              </a:rPr>
              <a:t>CE QUE CE CHOIX IMPLIQUE</a:t>
            </a:r>
          </a:p>
        </p:txBody>
      </p:sp>
      <p:sp>
        <p:nvSpPr>
          <p:cNvPr id="30" name="TextBox 29"/>
          <p:cNvSpPr txBox="1"/>
          <p:nvPr/>
        </p:nvSpPr>
        <p:spPr>
          <a:xfrm>
            <a:off x="6812280" y="4581144"/>
            <a:ext cx="4693920" cy="1188720"/>
          </a:xfrm>
          <a:prstGeom prst="rect">
            <a:avLst/>
          </a:prstGeom>
          <a:noFill/>
        </p:spPr>
        <p:txBody>
          <a:bodyPr wrap="square" lIns="0" rIns="0" tIns="0" bIns="0">
            <a:spAutoFit/>
          </a:bodyPr>
          <a:lstStyle/>
          <a:p>
            <a:pPr>
              <a:spcAft>
                <a:spcPts val="600"/>
              </a:spcAft>
            </a:pPr>
            <a:r>
              <a:rPr sz="800">
                <a:solidFill>
                  <a:srgbClr val="0891B2"/>
                </a:solidFill>
                <a:latin typeface="Arial"/>
              </a:rPr>
              <a:t>■  </a:t>
            </a:r>
            <a:r>
              <a:rPr sz="1200">
                <a:solidFill>
                  <a:srgbClr val="0F172A"/>
                </a:solidFill>
                <a:latin typeface="Arial"/>
              </a:rPr>
              <a:t>k = 4 répond au besoin métier ; la structure la plus nette reste k = 2.</a:t>
            </a:r>
          </a:p>
          <a:p>
            <a:pPr>
              <a:spcAft>
                <a:spcPts val="600"/>
              </a:spcAft>
            </a:pPr>
            <a:r>
              <a:rPr sz="800">
                <a:solidFill>
                  <a:srgbClr val="0891B2"/>
                </a:solidFill>
                <a:latin typeface="Arial"/>
              </a:rPr>
              <a:t>■  </a:t>
            </a:r>
            <a:r>
              <a:rPr sz="1200">
                <a:solidFill>
                  <a:srgbClr val="0F172A"/>
                </a:solidFill>
                <a:latin typeface="Arial"/>
              </a:rPr>
              <a:t>Construit sur 4 000 clients, étendu aux 41 176 par le centre le plus proche.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08  ·  SEGMENTS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Le taux de souscription va de 5 % à 41 %</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791307"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09 / 13</a:t>
            </a:r>
          </a:p>
        </p:txBody>
      </p:sp>
      <p:sp>
        <p:nvSpPr>
          <p:cNvPr id="9" name="Rounded Rectangle 8"/>
          <p:cNvSpPr/>
          <p:nvPr/>
        </p:nvSpPr>
        <p:spPr>
          <a:xfrm>
            <a:off x="502920" y="1463040"/>
            <a:ext cx="420624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3657600" cy="274320"/>
          </a:xfrm>
          <a:prstGeom prst="rect">
            <a:avLst/>
          </a:prstGeom>
          <a:noFill/>
        </p:spPr>
        <p:txBody>
          <a:bodyPr wrap="square" lIns="0" rIns="0" tIns="0" bIns="0" anchor="t">
            <a:spAutoFit/>
          </a:bodyPr>
          <a:lstStyle/>
          <a:p>
            <a:pPr algn="l"/>
            <a:r>
              <a:rPr sz="1100" b="1">
                <a:solidFill>
                  <a:srgbClr val="475569"/>
                </a:solidFill>
                <a:latin typeface="Arial"/>
              </a:rPr>
              <a:t>TAUX DE SOUSCRIPTION PAR SEGMENT (%)</a:t>
            </a:r>
          </a:p>
        </p:txBody>
      </p:sp>
      <p:graphicFrame>
        <p:nvGraphicFramePr>
          <p:cNvPr id="12" name="Chart 11"/>
          <p:cNvGraphicFramePr>
            <a:graphicFrameLocks noGrp="1"/>
          </p:cNvGraphicFramePr>
          <p:nvPr/>
        </p:nvGraphicFramePr>
        <p:xfrm>
          <a:off x="640080" y="1965960"/>
          <a:ext cx="3931920" cy="3017520"/>
        </p:xfrm>
        <a:graphic>
          <a:graphicData uri="http://schemas.openxmlformats.org/drawingml/2006/chart">
            <c:chart xmlns:c="http://schemas.openxmlformats.org/drawingml/2006/chart" r:id="rId2"/>
          </a:graphicData>
        </a:graphic>
      </p:graphicFrame>
      <p:sp>
        <p:nvSpPr>
          <p:cNvPr id="13" name="TextBox 12"/>
          <p:cNvSpPr txBox="1"/>
          <p:nvPr/>
        </p:nvSpPr>
        <p:spPr>
          <a:xfrm>
            <a:off x="777240" y="5047488"/>
            <a:ext cx="3749040" cy="365760"/>
          </a:xfrm>
          <a:prstGeom prst="rect">
            <a:avLst/>
          </a:prstGeom>
          <a:noFill/>
        </p:spPr>
        <p:txBody>
          <a:bodyPr wrap="square" lIns="0" rIns="0" tIns="0" bIns="0" anchor="t">
            <a:spAutoFit/>
          </a:bodyPr>
          <a:lstStyle/>
          <a:p>
            <a:pPr algn="l"/>
            <a:r>
              <a:rPr sz="1200" b="0">
                <a:solidFill>
                  <a:srgbClr val="475569"/>
                </a:solidFill>
                <a:latin typeface="Arial"/>
              </a:rPr>
              <a:t>Moyenne générale : 11,3 %</a:t>
            </a:r>
          </a:p>
        </p:txBody>
      </p:sp>
      <p:graphicFrame>
        <p:nvGraphicFramePr>
          <p:cNvPr id="14" name="Table 13"/>
          <p:cNvGraphicFramePr>
            <a:graphicFrameLocks noGrp="1"/>
          </p:cNvGraphicFramePr>
          <p:nvPr/>
        </p:nvGraphicFramePr>
        <p:xfrm>
          <a:off x="4983480" y="1463040"/>
          <a:ext cx="6705596" cy="3621024"/>
        </p:xfrm>
        <a:graphic>
          <a:graphicData uri="http://schemas.openxmlformats.org/drawingml/2006/table">
            <a:tbl>
              <a:tblPr firstRow="0" bandRow="0" firstCol="0" lastRow="0" lastCol="0" bandCol="0"/>
              <a:tblGrid>
                <a:gridCol w="2448076"/>
                <a:gridCol w="1064380"/>
                <a:gridCol w="1064380"/>
                <a:gridCol w="1064380"/>
                <a:gridCol w="1064380"/>
              </a:tblGrid>
              <a:tr h="402336">
                <a:tc>
                  <a:txBody>
                    <a:bodyPr wrap="square"/>
                    <a:lstStyle/>
                    <a:p>
                      <a:pPr algn="l"/>
                      <a:r>
                        <a:rPr sz="1200" b="1">
                          <a:solidFill>
                            <a:srgbClr val="0F172A"/>
                          </a:solidFill>
                          <a:latin typeface="Arial"/>
                        </a:rPr>
                        <a:t>Indicateur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2563EB"/>
                          </a:solidFill>
                          <a:latin typeface="Arial"/>
                        </a:rPr>
                        <a:t>S1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59669"/>
                          </a:solidFill>
                          <a:latin typeface="Arial"/>
                        </a:rPr>
                        <a:t>S2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97706"/>
                          </a:solidFill>
                          <a:latin typeface="Arial"/>
                        </a:rPr>
                        <a:t>S3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B2777"/>
                          </a:solidFill>
                          <a:latin typeface="Arial"/>
                        </a:rPr>
                        <a:t>S4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02336">
                <a:tc>
                  <a:txBody>
                    <a:bodyPr wrap="square"/>
                    <a:lstStyle/>
                    <a:p>
                      <a:pPr algn="l"/>
                      <a:r>
                        <a:rPr sz="1200" b="0">
                          <a:solidFill>
                            <a:srgbClr val="0F172A"/>
                          </a:solidFill>
                          <a:latin typeface="Arial"/>
                        </a:rPr>
                        <a:t>Poids dans la clientèle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66,4 %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16,6 %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11,4 %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1">
                          <a:solidFill>
                            <a:srgbClr val="0F172A"/>
                          </a:solidFill>
                          <a:latin typeface="Arial"/>
                        </a:rPr>
                        <a:t>Taux de souscription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5,4 %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17,0 %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22,3 %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40,8 %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r h="402336">
                <a:tc>
                  <a:txBody>
                    <a:bodyPr wrap="square"/>
                    <a:lstStyle/>
                    <a:p>
                      <a:pPr algn="l"/>
                      <a:r>
                        <a:rPr sz="1200" b="0">
                          <a:solidFill>
                            <a:srgbClr val="0F172A"/>
                          </a:solidFill>
                          <a:latin typeface="Arial"/>
                        </a:rPr>
                        <a:t>Âge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40,2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37,9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39,4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45,4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Euribor 3 mois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Appels par client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Contact sur mobile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93 %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88 %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100 %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Retraités ou étudiants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7 %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5" name="TextBox 14"/>
          <p:cNvSpPr txBox="1"/>
          <p:nvPr/>
        </p:nvSpPr>
        <p:spPr>
          <a:xfrm>
            <a:off x="4983480" y="5166360"/>
            <a:ext cx="6705600" cy="274320"/>
          </a:xfrm>
          <a:prstGeom prst="rect">
            <a:avLst/>
          </a:prstGeom>
          <a:noFill/>
        </p:spPr>
        <p:txBody>
          <a:bodyPr wrap="square" lIns="0" rIns="0" tIns="0" bIns="0" anchor="t">
            <a:spAutoFit/>
          </a:bodyPr>
          <a:lstStyle/>
          <a:p>
            <a:pPr algn="l"/>
            <a:r>
              <a:rPr sz="1150" b="0">
                <a:solidFill>
                  <a:srgbClr val="475569"/>
                </a:solidFill>
                <a:latin typeface="Arial"/>
              </a:rPr>
              <a:t>Profilage sur les 41 176 clients.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09  ·  PROFILS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Quatre profils, structurés par le contexte et l'historique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879230"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10 / 13</a:t>
            </a:r>
          </a:p>
        </p:txBody>
      </p:sp>
      <p:sp>
        <p:nvSpPr>
          <p:cNvPr id="9" name="Rounded Rectangle 8"/>
          <p:cNvSpPr/>
          <p:nvPr/>
        </p:nvSpPr>
        <p:spPr>
          <a:xfrm>
            <a:off x="502920" y="1463040"/>
            <a:ext cx="512064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4572000" cy="274320"/>
          </a:xfrm>
          <a:prstGeom prst="rect">
            <a:avLst/>
          </a:prstGeom>
          <a:noFill/>
        </p:spPr>
        <p:txBody>
          <a:bodyPr wrap="square" lIns="0" rIns="0" tIns="0" bIns="0" anchor="t">
            <a:spAutoFit/>
          </a:bodyPr>
          <a:lstStyle/>
          <a:p>
            <a:pPr algn="l"/>
            <a:r>
              <a:rPr sz="1100" b="1">
                <a:solidFill>
                  <a:srgbClr val="475569"/>
                </a:solidFill>
                <a:latin typeface="Arial"/>
              </a:rPr>
              <a:t>RADAR DES SEGMENTS (0 = SEGMENT LE PLUS BAS, 1 = LE PLUS HAUT)</a:t>
            </a:r>
          </a:p>
        </p:txBody>
      </p:sp>
      <p:graphicFrame>
        <p:nvGraphicFramePr>
          <p:cNvPr id="12" name="Chart 11"/>
          <p:cNvGraphicFramePr>
            <a:graphicFrameLocks noGrp="1"/>
          </p:cNvGraphicFramePr>
          <p:nvPr/>
        </p:nvGraphicFramePr>
        <p:xfrm>
          <a:off x="594360" y="1920240"/>
          <a:ext cx="4937760" cy="3520440"/>
        </p:xfrm>
        <a:graphic>
          <a:graphicData uri="http://schemas.openxmlformats.org/drawingml/2006/chart">
            <c:chart xmlns:c="http://schemas.openxmlformats.org/drawingml/2006/chart" r:id="rId2"/>
          </a:graphicData>
        </a:graphic>
      </p:graphicFrame>
      <p:sp>
        <p:nvSpPr>
          <p:cNvPr id="13" name="Rounded Rectangle 12"/>
          <p:cNvSpPr/>
          <p:nvPr/>
        </p:nvSpPr>
        <p:spPr>
          <a:xfrm>
            <a:off x="5897880" y="1463040"/>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897880" y="1463040"/>
            <a:ext cx="64008" cy="914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26480" y="1463040"/>
            <a:ext cx="685800" cy="914400"/>
          </a:xfrm>
          <a:prstGeom prst="rect">
            <a:avLst/>
          </a:prstGeom>
          <a:noFill/>
        </p:spPr>
        <p:txBody>
          <a:bodyPr wrap="square" lIns="0" rIns="0" tIns="0" bIns="0" anchor="ctr">
            <a:spAutoFit/>
          </a:bodyPr>
          <a:lstStyle/>
          <a:p>
            <a:pPr algn="l"/>
            <a:r>
              <a:rPr sz="2400" b="1">
                <a:solidFill>
                  <a:srgbClr val="2563EB"/>
                </a:solidFill>
                <a:latin typeface="Arial"/>
              </a:rPr>
              <a:t>S1</a:t>
            </a:r>
          </a:p>
        </p:txBody>
      </p:sp>
      <p:sp>
        <p:nvSpPr>
          <p:cNvPr id="16" name="TextBox 15"/>
          <p:cNvSpPr txBox="1"/>
          <p:nvPr/>
        </p:nvSpPr>
        <p:spPr>
          <a:xfrm>
            <a:off x="6858000" y="1609344"/>
            <a:ext cx="4648200" cy="320040"/>
          </a:xfrm>
          <a:prstGeom prst="rect">
            <a:avLst/>
          </a:prstGeom>
          <a:noFill/>
        </p:spPr>
        <p:txBody>
          <a:bodyPr wrap="square" lIns="0" rIns="0" tIns="0" bIns="0" anchor="t">
            <a:spAutoFit/>
          </a:bodyPr>
          <a:lstStyle/>
          <a:p>
            <a:pPr algn="l"/>
            <a:r>
              <a:rPr sz="1450" b="1">
                <a:solidFill>
                  <a:srgbClr val="0F172A"/>
                </a:solidFill>
                <a:latin typeface="Arial"/>
              </a:rPr>
              <a:t>Nouveaux prospects, taux élevés</a:t>
            </a:r>
          </a:p>
        </p:txBody>
      </p:sp>
      <p:sp>
        <p:nvSpPr>
          <p:cNvPr id="17" name="TextBox 16"/>
          <p:cNvSpPr txBox="1"/>
          <p:nvPr/>
        </p:nvSpPr>
        <p:spPr>
          <a:xfrm>
            <a:off x="6858000" y="1938528"/>
            <a:ext cx="4648200" cy="365760"/>
          </a:xfrm>
          <a:prstGeom prst="rect">
            <a:avLst/>
          </a:prstGeom>
          <a:noFill/>
        </p:spPr>
        <p:txBody>
          <a:bodyPr wrap="square" lIns="0" rIns="0" tIns="0" bIns="0" anchor="t">
            <a:spAutoFit/>
          </a:bodyPr>
          <a:lstStyle/>
          <a:p>
            <a:pPr algn="l"/>
            <a:r>
              <a:rPr sz="1200" b="0">
                <a:solidFill>
                  <a:srgbClr val="475569"/>
                </a:solidFill>
                <a:latin typeface="Arial"/>
              </a:rPr>
              <a:t>Jamais démarchés, Euribor proche de 4,8 %, moitié sur fixe</a:t>
            </a:r>
          </a:p>
        </p:txBody>
      </p:sp>
      <p:sp>
        <p:nvSpPr>
          <p:cNvPr id="18" name="Rounded Rectangle 17"/>
          <p:cNvSpPr/>
          <p:nvPr/>
        </p:nvSpPr>
        <p:spPr>
          <a:xfrm>
            <a:off x="5897880" y="2496312"/>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897880" y="2496312"/>
            <a:ext cx="64008" cy="9144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126480" y="2496312"/>
            <a:ext cx="685800" cy="914400"/>
          </a:xfrm>
          <a:prstGeom prst="rect">
            <a:avLst/>
          </a:prstGeom>
          <a:noFill/>
        </p:spPr>
        <p:txBody>
          <a:bodyPr wrap="square" lIns="0" rIns="0" tIns="0" bIns="0" anchor="ctr">
            <a:spAutoFit/>
          </a:bodyPr>
          <a:lstStyle/>
          <a:p>
            <a:pPr algn="l"/>
            <a:r>
              <a:rPr sz="2400" b="1">
                <a:solidFill>
                  <a:srgbClr val="059669"/>
                </a:solidFill>
                <a:latin typeface="Arial"/>
              </a:rPr>
              <a:t>S2</a:t>
            </a:r>
          </a:p>
        </p:txBody>
      </p:sp>
      <p:sp>
        <p:nvSpPr>
          <p:cNvPr id="21" name="TextBox 20"/>
          <p:cNvSpPr txBox="1"/>
          <p:nvPr/>
        </p:nvSpPr>
        <p:spPr>
          <a:xfrm>
            <a:off x="6858000" y="2642616"/>
            <a:ext cx="4648200" cy="320040"/>
          </a:xfrm>
          <a:prstGeom prst="rect">
            <a:avLst/>
          </a:prstGeom>
          <a:noFill/>
        </p:spPr>
        <p:txBody>
          <a:bodyPr wrap="square" lIns="0" rIns="0" tIns="0" bIns="0" anchor="t">
            <a:spAutoFit/>
          </a:bodyPr>
          <a:lstStyle/>
          <a:p>
            <a:pPr algn="l"/>
            <a:r>
              <a:rPr sz="1450" b="1">
                <a:solidFill>
                  <a:srgbClr val="0F172A"/>
                </a:solidFill>
                <a:latin typeface="Arial"/>
              </a:rPr>
              <a:t>Nouveaux prospects, taux bas</a:t>
            </a:r>
          </a:p>
        </p:txBody>
      </p:sp>
      <p:sp>
        <p:nvSpPr>
          <p:cNvPr id="22" name="TextBox 21"/>
          <p:cNvSpPr txBox="1"/>
          <p:nvPr/>
        </p:nvSpPr>
        <p:spPr>
          <a:xfrm>
            <a:off x="6858000" y="2971800"/>
            <a:ext cx="4648200" cy="365760"/>
          </a:xfrm>
          <a:prstGeom prst="rect">
            <a:avLst/>
          </a:prstGeom>
          <a:noFill/>
        </p:spPr>
        <p:txBody>
          <a:bodyPr wrap="square" lIns="0" rIns="0" tIns="0" bIns="0" anchor="t">
            <a:spAutoFit/>
          </a:bodyPr>
          <a:lstStyle/>
          <a:p>
            <a:pPr algn="l"/>
            <a:r>
              <a:rPr sz="1200" b="0">
                <a:solidFill>
                  <a:srgbClr val="475569"/>
                </a:solidFill>
                <a:latin typeface="Arial"/>
              </a:rPr>
              <a:t>Jamais démarchés, mobile, les plus jeunes</a:t>
            </a:r>
          </a:p>
        </p:txBody>
      </p:sp>
      <p:sp>
        <p:nvSpPr>
          <p:cNvPr id="23" name="Rounded Rectangle 22"/>
          <p:cNvSpPr/>
          <p:nvPr/>
        </p:nvSpPr>
        <p:spPr>
          <a:xfrm>
            <a:off x="5897880" y="3529584"/>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897880" y="3529584"/>
            <a:ext cx="64008"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126480" y="3529584"/>
            <a:ext cx="685800" cy="914400"/>
          </a:xfrm>
          <a:prstGeom prst="rect">
            <a:avLst/>
          </a:prstGeom>
          <a:noFill/>
        </p:spPr>
        <p:txBody>
          <a:bodyPr wrap="square" lIns="0" rIns="0" tIns="0" bIns="0" anchor="ctr">
            <a:spAutoFit/>
          </a:bodyPr>
          <a:lstStyle/>
          <a:p>
            <a:pPr algn="l"/>
            <a:r>
              <a:rPr sz="2400" b="1">
                <a:solidFill>
                  <a:srgbClr val="D97706"/>
                </a:solidFill>
                <a:latin typeface="Arial"/>
              </a:rPr>
              <a:t>S3</a:t>
            </a:r>
          </a:p>
        </p:txBody>
      </p:sp>
      <p:sp>
        <p:nvSpPr>
          <p:cNvPr id="26" name="TextBox 25"/>
          <p:cNvSpPr txBox="1"/>
          <p:nvPr/>
        </p:nvSpPr>
        <p:spPr>
          <a:xfrm>
            <a:off x="6858000" y="3675888"/>
            <a:ext cx="4648200" cy="320040"/>
          </a:xfrm>
          <a:prstGeom prst="rect">
            <a:avLst/>
          </a:prstGeom>
          <a:noFill/>
        </p:spPr>
        <p:txBody>
          <a:bodyPr wrap="square" lIns="0" rIns="0" tIns="0" bIns="0" anchor="t">
            <a:spAutoFit/>
          </a:bodyPr>
          <a:lstStyle/>
          <a:p>
            <a:pPr algn="l"/>
            <a:r>
              <a:rPr sz="1450" b="1">
                <a:solidFill>
                  <a:srgbClr val="0F172A"/>
                </a:solidFill>
                <a:latin typeface="Arial"/>
              </a:rPr>
              <a:t>Clients déjà démarchés</a:t>
            </a:r>
          </a:p>
        </p:txBody>
      </p:sp>
      <p:sp>
        <p:nvSpPr>
          <p:cNvPr id="27" name="TextBox 26"/>
          <p:cNvSpPr txBox="1"/>
          <p:nvPr/>
        </p:nvSpPr>
        <p:spPr>
          <a:xfrm>
            <a:off x="6858000" y="4005072"/>
            <a:ext cx="4648200" cy="365760"/>
          </a:xfrm>
          <a:prstGeom prst="rect">
            <a:avLst/>
          </a:prstGeom>
          <a:noFill/>
        </p:spPr>
        <p:txBody>
          <a:bodyPr wrap="square" lIns="0" rIns="0" tIns="0" bIns="0" anchor="t">
            <a:spAutoFit/>
          </a:bodyPr>
          <a:lstStyle/>
          <a:p>
            <a:pPr algn="l"/>
            <a:r>
              <a:rPr sz="1200" b="0">
                <a:solidFill>
                  <a:srgbClr val="475569"/>
                </a:solidFill>
                <a:latin typeface="Arial"/>
              </a:rPr>
              <a:t>79 % d'échecs et 21 % de succès à la campagne précédente</a:t>
            </a:r>
          </a:p>
        </p:txBody>
      </p:sp>
      <p:sp>
        <p:nvSpPr>
          <p:cNvPr id="28" name="Rounded Rectangle 27"/>
          <p:cNvSpPr/>
          <p:nvPr/>
        </p:nvSpPr>
        <p:spPr>
          <a:xfrm>
            <a:off x="5897880" y="4562856"/>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897880" y="4562856"/>
            <a:ext cx="64008" cy="914400"/>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126480" y="4562856"/>
            <a:ext cx="685800" cy="914400"/>
          </a:xfrm>
          <a:prstGeom prst="rect">
            <a:avLst/>
          </a:prstGeom>
          <a:noFill/>
        </p:spPr>
        <p:txBody>
          <a:bodyPr wrap="square" lIns="0" rIns="0" tIns="0" bIns="0" anchor="ctr">
            <a:spAutoFit/>
          </a:bodyPr>
          <a:lstStyle/>
          <a:p>
            <a:pPr algn="l"/>
            <a:r>
              <a:rPr sz="2400" b="1">
                <a:solidFill>
                  <a:srgbClr val="DB2777"/>
                </a:solidFill>
                <a:latin typeface="Arial"/>
              </a:rPr>
              <a:t>S4</a:t>
            </a:r>
          </a:p>
        </p:txBody>
      </p:sp>
      <p:sp>
        <p:nvSpPr>
          <p:cNvPr id="31" name="TextBox 30"/>
          <p:cNvSpPr txBox="1"/>
          <p:nvPr/>
        </p:nvSpPr>
        <p:spPr>
          <a:xfrm>
            <a:off x="6858000" y="4709160"/>
            <a:ext cx="4648200" cy="320040"/>
          </a:xfrm>
          <a:prstGeom prst="rect">
            <a:avLst/>
          </a:prstGeom>
          <a:noFill/>
        </p:spPr>
        <p:txBody>
          <a:bodyPr wrap="square" lIns="0" rIns="0" tIns="0" bIns="0" anchor="t">
            <a:spAutoFit/>
          </a:bodyPr>
          <a:lstStyle/>
          <a:p>
            <a:pPr algn="l"/>
            <a:r>
              <a:rPr sz="1450" b="1">
                <a:solidFill>
                  <a:srgbClr val="0F172A"/>
                </a:solidFill>
                <a:latin typeface="Arial"/>
              </a:rPr>
              <a:t>Profils réceptifs</a:t>
            </a:r>
          </a:p>
        </p:txBody>
      </p:sp>
      <p:sp>
        <p:nvSpPr>
          <p:cNvPr id="32" name="TextBox 31"/>
          <p:cNvSpPr txBox="1"/>
          <p:nvPr/>
        </p:nvSpPr>
        <p:spPr>
          <a:xfrm>
            <a:off x="6858000" y="5038344"/>
            <a:ext cx="4648200" cy="365760"/>
          </a:xfrm>
          <a:prstGeom prst="rect">
            <a:avLst/>
          </a:prstGeom>
          <a:noFill/>
        </p:spPr>
        <p:txBody>
          <a:bodyPr wrap="square" lIns="0" rIns="0" tIns="0" bIns="0" anchor="t">
            <a:spAutoFit/>
          </a:bodyPr>
          <a:lstStyle/>
          <a:p>
            <a:pPr algn="l"/>
            <a:r>
              <a:rPr sz="1200" b="0">
                <a:solidFill>
                  <a:srgbClr val="475569"/>
                </a:solidFill>
                <a:latin typeface="Arial"/>
              </a:rPr>
              <a:t>Seniors, étudiants, diplômés ; taux au plus bas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10  ·  RECOMMANDATIONS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Une action par segment</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967153"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11 / 13</a:t>
            </a:r>
          </a:p>
        </p:txBody>
      </p:sp>
      <p:graphicFrame>
        <p:nvGraphicFramePr>
          <p:cNvPr id="9" name="Table 8"/>
          <p:cNvGraphicFramePr>
            <a:graphicFrameLocks noGrp="1"/>
          </p:cNvGraphicFramePr>
          <p:nvPr/>
        </p:nvGraphicFramePr>
        <p:xfrm>
          <a:off x="502920" y="1463040"/>
          <a:ext cx="11186159" cy="2651760"/>
        </p:xfrm>
        <a:graphic>
          <a:graphicData uri="http://schemas.openxmlformats.org/drawingml/2006/table">
            <a:tbl>
              <a:tblPr firstRow="0" bandRow="0" firstCol="0" lastRow="0" lastCol="0" bandCol="0"/>
              <a:tblGrid>
                <a:gridCol w="2639431"/>
                <a:gridCol w="4524738"/>
                <a:gridCol w="4021990"/>
              </a:tblGrid>
              <a:tr h="530352">
                <a:tc>
                  <a:txBody>
                    <a:bodyPr wrap="square"/>
                    <a:lstStyle/>
                    <a:p>
                      <a:pPr algn="l"/>
                      <a:r>
                        <a:rPr sz="1300" b="1">
                          <a:solidFill>
                            <a:srgbClr val="0F172A"/>
                          </a:solidFill>
                          <a:latin typeface="Arial"/>
                        </a:rPr>
                        <a:t>Segment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Action recommandée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Justification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530352">
                <a:tc>
                  <a:txBody>
                    <a:bodyPr wrap="square"/>
                    <a:lstStyle/>
                    <a:p>
                      <a:pPr algn="l"/>
                      <a:r>
                        <a:rPr sz="1300" b="1">
                          <a:solidFill>
                            <a:srgbClr val="DB2777"/>
                          </a:solidFill>
                          <a:latin typeface="Arial"/>
                        </a:rPr>
                        <a:t>S4  Profils réceptifs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Les appeler en premier, avec les conseillers les plus expérimentés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3,6 fois supérieur à la moyenne ; 1,8 appel suffit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D97706"/>
                          </a:solidFill>
                          <a:latin typeface="Arial"/>
                        </a:rPr>
                        <a:t>S3  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Relance personnalisée selon le résultat de la campagne précédente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double de la moyenne ; 21 % d'anciens succès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059669"/>
                          </a:solidFill>
                          <a:latin typeface="Arial"/>
                        </a:rPr>
                        <a:t>S2  Prospects, taux bas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Acquisition sur mobile, concentrée sur les périodes de taux bas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1,5 fois supérieur ; 91 % joints sur mobile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2563EB"/>
                          </a:solidFill>
                          <a:latin typeface="Arial"/>
                        </a:rPr>
                        <a:t>S1  Prospects, taux élevés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Réduire la pression : 2 appels au plus, courriel ou SMS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66 % des appels pour 32 % des souscriptions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Rounded Rectangle 9"/>
          <p:cNvSpPr/>
          <p:nvPr/>
        </p:nvSpPr>
        <p:spPr>
          <a:xfrm>
            <a:off x="50292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02920" y="4343400"/>
            <a:ext cx="64008"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58952" y="4489704"/>
            <a:ext cx="3210560" cy="685800"/>
          </a:xfrm>
          <a:prstGeom prst="rect">
            <a:avLst/>
          </a:prstGeom>
          <a:noFill/>
        </p:spPr>
        <p:txBody>
          <a:bodyPr wrap="square" lIns="0" rIns="0" tIns="0" bIns="0" anchor="t">
            <a:spAutoFit/>
          </a:bodyPr>
          <a:lstStyle/>
          <a:p>
            <a:pPr algn="l"/>
            <a:r>
              <a:rPr sz="3200" b="1">
                <a:solidFill>
                  <a:srgbClr val="2563EB"/>
                </a:solidFill>
                <a:latin typeface="Arial"/>
              </a:rPr>
              <a:t>33,6 %</a:t>
            </a:r>
          </a:p>
        </p:txBody>
      </p:sp>
      <p:sp>
        <p:nvSpPr>
          <p:cNvPr id="13" name="TextBox 12"/>
          <p:cNvSpPr txBox="1"/>
          <p:nvPr/>
        </p:nvSpPr>
        <p:spPr>
          <a:xfrm>
            <a:off x="75895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des clients appelés (S4, S3, S2)</a:t>
            </a:r>
          </a:p>
        </p:txBody>
      </p:sp>
      <p:sp>
        <p:nvSpPr>
          <p:cNvPr id="14" name="Rounded Rectangle 13"/>
          <p:cNvSpPr/>
          <p:nvPr/>
        </p:nvSpPr>
        <p:spPr>
          <a:xfrm>
            <a:off x="430784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07840" y="4343400"/>
            <a:ext cx="64008" cy="11887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63872" y="4489704"/>
            <a:ext cx="3210560" cy="685800"/>
          </a:xfrm>
          <a:prstGeom prst="rect">
            <a:avLst/>
          </a:prstGeom>
          <a:noFill/>
        </p:spPr>
        <p:txBody>
          <a:bodyPr wrap="square" lIns="0" rIns="0" tIns="0" bIns="0" anchor="t">
            <a:spAutoFit/>
          </a:bodyPr>
          <a:lstStyle/>
          <a:p>
            <a:pPr algn="l"/>
            <a:r>
              <a:rPr sz="3200" b="1">
                <a:solidFill>
                  <a:srgbClr val="059669"/>
                </a:solidFill>
                <a:latin typeface="Arial"/>
              </a:rPr>
              <a:t>68,1 %</a:t>
            </a:r>
          </a:p>
        </p:txBody>
      </p:sp>
      <p:sp>
        <p:nvSpPr>
          <p:cNvPr id="17" name="TextBox 16"/>
          <p:cNvSpPr txBox="1"/>
          <p:nvPr/>
        </p:nvSpPr>
        <p:spPr>
          <a:xfrm>
            <a:off x="456387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des souscriptions obtenues</a:t>
            </a:r>
          </a:p>
        </p:txBody>
      </p:sp>
      <p:sp>
        <p:nvSpPr>
          <p:cNvPr id="18" name="Rounded Rectangle 17"/>
          <p:cNvSpPr/>
          <p:nvPr/>
        </p:nvSpPr>
        <p:spPr>
          <a:xfrm>
            <a:off x="811276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112760" y="4343400"/>
            <a:ext cx="64008" cy="1188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68792" y="4489704"/>
            <a:ext cx="3210560" cy="685800"/>
          </a:xfrm>
          <a:prstGeom prst="rect">
            <a:avLst/>
          </a:prstGeom>
          <a:noFill/>
        </p:spPr>
        <p:txBody>
          <a:bodyPr wrap="square" lIns="0" rIns="0" tIns="0" bIns="0" anchor="t">
            <a:spAutoFit/>
          </a:bodyPr>
          <a:lstStyle/>
          <a:p>
            <a:pPr algn="l"/>
            <a:r>
              <a:rPr sz="3200" b="1">
                <a:solidFill>
                  <a:srgbClr val="0891B2"/>
                </a:solidFill>
                <a:latin typeface="Arial"/>
              </a:rPr>
              <a:t>11,3 → 22,8 %</a:t>
            </a:r>
          </a:p>
        </p:txBody>
      </p:sp>
      <p:sp>
        <p:nvSpPr>
          <p:cNvPr id="21" name="TextBox 20"/>
          <p:cNvSpPr txBox="1"/>
          <p:nvPr/>
        </p:nvSpPr>
        <p:spPr>
          <a:xfrm>
            <a:off x="836879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taux de réussite des appels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11  ·  LIMITES ET EXTENSIONS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Une structure réelle, mais faible et liée au contexte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055076"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12 / 13</a:t>
            </a:r>
          </a:p>
        </p:txBody>
      </p:sp>
      <p:sp>
        <p:nvSpPr>
          <p:cNvPr id="9" name="Rounded Rectangle 8"/>
          <p:cNvSpPr/>
          <p:nvPr/>
        </p:nvSpPr>
        <p:spPr>
          <a:xfrm>
            <a:off x="50292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LIMITES</a:t>
            </a:r>
          </a:p>
        </p:txBody>
      </p:sp>
      <p:sp>
        <p:nvSpPr>
          <p:cNvPr id="12" name="TextBox 11"/>
          <p:cNvSpPr txBox="1"/>
          <p:nvPr/>
        </p:nvSpPr>
        <p:spPr>
          <a:xfrm>
            <a:off x="777240" y="2057400"/>
            <a:ext cx="3119120" cy="3291840"/>
          </a:xfrm>
          <a:prstGeom prst="rect">
            <a:avLst/>
          </a:prstGeom>
          <a:noFill/>
        </p:spPr>
        <p:txBody>
          <a:bodyPr wrap="square" lIns="0" rIns="0" tIns="0" bIns="0">
            <a:spAutoFit/>
          </a:bodyPr>
          <a:lstStyle/>
          <a:p>
            <a:pPr>
              <a:spcAft>
                <a:spcPts val="1400"/>
              </a:spcAft>
            </a:pPr>
            <a:r>
              <a:rPr sz="1000">
                <a:solidFill>
                  <a:srgbClr val="DB2777"/>
                </a:solidFill>
                <a:latin typeface="Arial"/>
              </a:rPr>
              <a:t>■  </a:t>
            </a:r>
            <a:r>
              <a:rPr sz="1400">
                <a:solidFill>
                  <a:srgbClr val="0F172A"/>
                </a:solidFill>
                <a:latin typeface="Arial"/>
              </a:rPr>
              <a:t>Silhouettes autour de 0,2 : les segments se chevauchent</a:t>
            </a:r>
          </a:p>
          <a:p>
            <a:pPr>
              <a:spcAft>
                <a:spcPts val="1400"/>
              </a:spcAft>
            </a:pPr>
            <a:r>
              <a:rPr sz="1000">
                <a:solidFill>
                  <a:srgbClr val="DB2777"/>
                </a:solidFill>
                <a:latin typeface="Arial"/>
              </a:rPr>
              <a:t>■  </a:t>
            </a:r>
            <a:r>
              <a:rPr sz="1400">
                <a:solidFill>
                  <a:srgbClr val="0F172A"/>
                </a:solidFill>
                <a:latin typeface="Arial"/>
              </a:rPr>
              <a:t>S1 et S2 dépendent de la période du contact plus que du client</a:t>
            </a:r>
          </a:p>
          <a:p>
            <a:pPr>
              <a:spcAft>
                <a:spcPts val="1400"/>
              </a:spcAft>
            </a:pPr>
            <a:r>
              <a:rPr sz="1000">
                <a:solidFill>
                  <a:srgbClr val="DB2777"/>
                </a:solidFill>
                <a:latin typeface="Arial"/>
              </a:rPr>
              <a:t>■  </a:t>
            </a:r>
            <a:r>
              <a:rPr sz="1400">
                <a:solidFill>
                  <a:srgbClr val="0F172A"/>
                </a:solidFill>
                <a:latin typeface="Arial"/>
              </a:rPr>
              <a:t>Ni revenu, ni solde, ni ancienneté dans le fichier</a:t>
            </a:r>
          </a:p>
          <a:p>
            <a:pPr>
              <a:spcAft>
                <a:spcPts val="1400"/>
              </a:spcAft>
            </a:pPr>
            <a:r>
              <a:rPr sz="1000">
                <a:solidFill>
                  <a:srgbClr val="DB2777"/>
                </a:solidFill>
                <a:latin typeface="Arial"/>
              </a:rPr>
              <a:t>■  </a:t>
            </a:r>
            <a:r>
              <a:rPr sz="1400">
                <a:solidFill>
                  <a:srgbClr val="0F172A"/>
                </a:solidFill>
                <a:latin typeface="Arial"/>
              </a:rPr>
              <a:t>k = 4 est un choix métier ; la structure la plus nette est k = 2</a:t>
            </a:r>
          </a:p>
        </p:txBody>
      </p:sp>
      <p:sp>
        <p:nvSpPr>
          <p:cNvPr id="13" name="Rounded Rectangle 12"/>
          <p:cNvSpPr/>
          <p:nvPr/>
        </p:nvSpPr>
        <p:spPr>
          <a:xfrm>
            <a:off x="430784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50900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65531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SANS CONTEXTE : SOUSCRIPTION (%)</a:t>
            </a:r>
          </a:p>
        </p:txBody>
      </p:sp>
      <p:graphicFrame>
        <p:nvGraphicFramePr>
          <p:cNvPr id="16" name="Chart 15"/>
          <p:cNvGraphicFramePr>
            <a:graphicFrameLocks noGrp="1"/>
          </p:cNvGraphicFramePr>
          <p:nvPr/>
        </p:nvGraphicFramePr>
        <p:xfrm>
          <a:off x="4399280" y="1920240"/>
          <a:ext cx="3393440" cy="2926080"/>
        </p:xfrm>
        <a:graphic>
          <a:graphicData uri="http://schemas.openxmlformats.org/drawingml/2006/chart">
            <c:chart xmlns:c="http://schemas.openxmlformats.org/drawingml/2006/chart" r:id="rId2"/>
          </a:graphicData>
        </a:graphic>
      </p:graphicFrame>
      <p:sp>
        <p:nvSpPr>
          <p:cNvPr id="17" name="TextBox 16"/>
          <p:cNvSpPr txBox="1"/>
          <p:nvPr/>
        </p:nvSpPr>
        <p:spPr>
          <a:xfrm>
            <a:off x="4536440" y="4864608"/>
            <a:ext cx="3164840" cy="548640"/>
          </a:xfrm>
          <a:prstGeom prst="rect">
            <a:avLst/>
          </a:prstGeom>
          <a:noFill/>
        </p:spPr>
        <p:txBody>
          <a:bodyPr wrap="square" lIns="0" rIns="0" tIns="0" bIns="0" anchor="t">
            <a:spAutoFit/>
          </a:bodyPr>
          <a:lstStyle/>
          <a:p>
            <a:pPr algn="l"/>
            <a:r>
              <a:rPr sz="1100" b="0">
                <a:solidFill>
                  <a:srgbClr val="475569"/>
                </a:solidFill>
                <a:latin typeface="Arial"/>
              </a:rPr>
              <a:t>Le contexte pèse plus que le profil ; à période égale, l'historique compte.</a:t>
            </a:r>
          </a:p>
        </p:txBody>
      </p:sp>
      <p:sp>
        <p:nvSpPr>
          <p:cNvPr id="18" name="Rounded Rectangle 17"/>
          <p:cNvSpPr/>
          <p:nvPr/>
        </p:nvSpPr>
        <p:spPr>
          <a:xfrm>
            <a:off x="811276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313928" y="1682496"/>
            <a:ext cx="54864"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6023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EXTENSIONS RÉALISÉES</a:t>
            </a:r>
          </a:p>
        </p:txBody>
      </p:sp>
      <p:sp>
        <p:nvSpPr>
          <p:cNvPr id="21" name="TextBox 20"/>
          <p:cNvSpPr txBox="1"/>
          <p:nvPr/>
        </p:nvSpPr>
        <p:spPr>
          <a:xfrm>
            <a:off x="8387080" y="2057400"/>
            <a:ext cx="3119120" cy="3291840"/>
          </a:xfrm>
          <a:prstGeom prst="rect">
            <a:avLst/>
          </a:prstGeom>
          <a:noFill/>
        </p:spPr>
        <p:txBody>
          <a:bodyPr wrap="square" lIns="0" rIns="0" tIns="0" bIns="0">
            <a:spAutoFit/>
          </a:bodyPr>
          <a:lstStyle/>
          <a:p>
            <a:pPr>
              <a:spcAft>
                <a:spcPts val="900"/>
              </a:spcAft>
            </a:pPr>
            <a:r>
              <a:rPr sz="850">
                <a:solidFill>
                  <a:srgbClr val="059669"/>
                </a:solidFill>
                <a:latin typeface="Arial"/>
              </a:rPr>
              <a:t>■  </a:t>
            </a:r>
            <a:r>
              <a:rPr sz="1250">
                <a:solidFill>
                  <a:srgbClr val="0F172A"/>
                </a:solidFill>
                <a:latin typeface="Arial"/>
              </a:rPr>
              <a:t>Sans contexte : seul l'historique reste net (silhouette 0,12)</a:t>
            </a:r>
          </a:p>
          <a:p>
            <a:pPr>
              <a:spcAft>
                <a:spcPts val="900"/>
              </a:spcAft>
            </a:pPr>
            <a:r>
              <a:rPr sz="850">
                <a:solidFill>
                  <a:srgbClr val="059669"/>
                </a:solidFill>
                <a:latin typeface="Arial"/>
              </a:rPr>
              <a:t>■  </a:t>
            </a:r>
            <a:r>
              <a:rPr sz="1250">
                <a:solidFill>
                  <a:srgbClr val="0F172A"/>
                </a:solidFill>
                <a:latin typeface="Arial"/>
              </a:rPr>
              <a:t>Sélection de variables : 3 variables reproduisent la segmentation (ARI 0,97)</a:t>
            </a:r>
          </a:p>
          <a:p>
            <a:pPr>
              <a:spcAft>
                <a:spcPts val="900"/>
              </a:spcAft>
            </a:pPr>
            <a:r>
              <a:rPr sz="850">
                <a:solidFill>
                  <a:srgbClr val="059669"/>
                </a:solidFill>
                <a:latin typeface="Arial"/>
              </a:rPr>
              <a:t>■  </a:t>
            </a:r>
            <a:r>
              <a:rPr sz="1250">
                <a:solidFill>
                  <a:srgbClr val="0F172A"/>
                </a:solidFill>
                <a:latin typeface="Arial"/>
              </a:rPr>
              <a:t>Atypiques (DBSCAN + Isolation Forest) : ~50 % de souscription</a:t>
            </a:r>
          </a:p>
          <a:p>
            <a:pPr>
              <a:spcAft>
                <a:spcPts val="900"/>
              </a:spcAft>
            </a:pPr>
            <a:r>
              <a:rPr sz="850">
                <a:solidFill>
                  <a:srgbClr val="059669"/>
                </a:solidFill>
                <a:latin typeface="Arial"/>
              </a:rPr>
              <a:t>■  </a:t>
            </a:r>
            <a:r>
              <a:rPr sz="1250">
                <a:solidFill>
                  <a:srgbClr val="0F172A"/>
                </a:solidFill>
                <a:latin typeface="Arial"/>
              </a:rPr>
              <a:t>Online Retail (RFM) : 16 % de Champions font 65 % du CA</a:t>
            </a:r>
          </a:p>
          <a:p>
            <a:pPr>
              <a:spcAft>
                <a:spcPts val="900"/>
              </a:spcAft>
            </a:pPr>
            <a:r>
              <a:rPr sz="850">
                <a:solidFill>
                  <a:srgbClr val="059669"/>
                </a:solidFill>
                <a:latin typeface="Arial"/>
              </a:rPr>
              <a:t>■  </a:t>
            </a:r>
            <a:r>
              <a:rPr sz="1250">
                <a:solidFill>
                  <a:srgbClr val="0F172A"/>
                </a:solidFill>
                <a:latin typeface="Arial"/>
              </a:rPr>
              <a:t>Application Streamlit : affectation d'un client ou d'un fichier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12  ·  CONCLUSION</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 tiers des clients concentre deux tiers des souscriptions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143000"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13 / 13</a:t>
            </a:r>
          </a:p>
        </p:txBody>
      </p:sp>
      <p:sp>
        <p:nvSpPr>
          <p:cNvPr id="9" name="Rounded Rectangle 8"/>
          <p:cNvSpPr/>
          <p:nvPr/>
        </p:nvSpPr>
        <p:spPr>
          <a:xfrm>
            <a:off x="50292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02920" y="1828800"/>
            <a:ext cx="3576320" cy="731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2103120"/>
            <a:ext cx="1371600" cy="640080"/>
          </a:xfrm>
          <a:prstGeom prst="rect">
            <a:avLst/>
          </a:prstGeom>
          <a:noFill/>
        </p:spPr>
        <p:txBody>
          <a:bodyPr wrap="square" lIns="0" rIns="0" tIns="0" bIns="0" anchor="t">
            <a:spAutoFit/>
          </a:bodyPr>
          <a:lstStyle/>
          <a:p>
            <a:pPr algn="l"/>
            <a:r>
              <a:rPr sz="3400" b="1">
                <a:solidFill>
                  <a:srgbClr val="2563EB"/>
                </a:solidFill>
                <a:latin typeface="Arial"/>
              </a:rPr>
              <a:t>01</a:t>
            </a:r>
          </a:p>
        </p:txBody>
      </p:sp>
      <p:sp>
        <p:nvSpPr>
          <p:cNvPr id="12" name="TextBox 11"/>
          <p:cNvSpPr txBox="1"/>
          <p:nvPr/>
        </p:nvSpPr>
        <p:spPr>
          <a:xfrm>
            <a:off x="77724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La standardisation et le choix de la distance changent réellement les groupes.</a:t>
            </a:r>
          </a:p>
        </p:txBody>
      </p:sp>
      <p:sp>
        <p:nvSpPr>
          <p:cNvPr id="13" name="Rounded Rectangle 12"/>
          <p:cNvSpPr/>
          <p:nvPr/>
        </p:nvSpPr>
        <p:spPr>
          <a:xfrm>
            <a:off x="430784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07840" y="1828800"/>
            <a:ext cx="3576320" cy="731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82160" y="2103120"/>
            <a:ext cx="1371600" cy="640080"/>
          </a:xfrm>
          <a:prstGeom prst="rect">
            <a:avLst/>
          </a:prstGeom>
          <a:noFill/>
        </p:spPr>
        <p:txBody>
          <a:bodyPr wrap="square" lIns="0" rIns="0" tIns="0" bIns="0" anchor="t">
            <a:spAutoFit/>
          </a:bodyPr>
          <a:lstStyle/>
          <a:p>
            <a:pPr algn="l"/>
            <a:r>
              <a:rPr sz="3400" b="1">
                <a:solidFill>
                  <a:srgbClr val="059669"/>
                </a:solidFill>
                <a:latin typeface="Arial"/>
              </a:rPr>
              <a:t>02</a:t>
            </a:r>
          </a:p>
        </p:txBody>
      </p:sp>
      <p:sp>
        <p:nvSpPr>
          <p:cNvPr id="16" name="TextBox 15"/>
          <p:cNvSpPr txBox="1"/>
          <p:nvPr/>
        </p:nvSpPr>
        <p:spPr>
          <a:xfrm>
            <a:off x="458216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Un indice de qualité ne se lit jamais seul : vérifier la taille des clusters.</a:t>
            </a:r>
          </a:p>
        </p:txBody>
      </p:sp>
      <p:sp>
        <p:nvSpPr>
          <p:cNvPr id="17" name="Rounded Rectangle 16"/>
          <p:cNvSpPr/>
          <p:nvPr/>
        </p:nvSpPr>
        <p:spPr>
          <a:xfrm>
            <a:off x="811276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12760" y="1828800"/>
            <a:ext cx="3576320" cy="73152"/>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87080" y="2103120"/>
            <a:ext cx="1371600" cy="640080"/>
          </a:xfrm>
          <a:prstGeom prst="rect">
            <a:avLst/>
          </a:prstGeom>
          <a:noFill/>
        </p:spPr>
        <p:txBody>
          <a:bodyPr wrap="square" lIns="0" rIns="0" tIns="0" bIns="0" anchor="t">
            <a:spAutoFit/>
          </a:bodyPr>
          <a:lstStyle/>
          <a:p>
            <a:pPr algn="l"/>
            <a:r>
              <a:rPr sz="3400" b="1">
                <a:solidFill>
                  <a:srgbClr val="DB2777"/>
                </a:solidFill>
                <a:latin typeface="Arial"/>
              </a:rPr>
              <a:t>03</a:t>
            </a:r>
          </a:p>
        </p:txBody>
      </p:sp>
      <p:sp>
        <p:nvSpPr>
          <p:cNvPr id="20" name="TextBox 19"/>
          <p:cNvSpPr txBox="1"/>
          <p:nvPr/>
        </p:nvSpPr>
        <p:spPr>
          <a:xfrm>
            <a:off x="838708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Le nombre de groupes est un compromis entre les données et le besoin métier.</a:t>
            </a:r>
          </a:p>
        </p:txBody>
      </p:sp>
      <p:sp>
        <p:nvSpPr>
          <p:cNvPr id="21" name="Rounded Rectangle 20"/>
          <p:cNvSpPr/>
          <p:nvPr/>
        </p:nvSpPr>
        <p:spPr>
          <a:xfrm>
            <a:off x="502920" y="4343400"/>
            <a:ext cx="11186160" cy="132588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8680" y="4343400"/>
            <a:ext cx="3657600" cy="1325880"/>
          </a:xfrm>
          <a:prstGeom prst="rect">
            <a:avLst/>
          </a:prstGeom>
          <a:noFill/>
        </p:spPr>
        <p:txBody>
          <a:bodyPr wrap="square" lIns="0" rIns="0" tIns="0" bIns="0" anchor="ctr">
            <a:spAutoFit/>
          </a:bodyPr>
          <a:lstStyle/>
          <a:p>
            <a:pPr algn="l"/>
            <a:r>
              <a:rPr sz="3400" b="1">
                <a:solidFill>
                  <a:srgbClr val="0891B2"/>
                </a:solidFill>
                <a:latin typeface="Arial"/>
              </a:rPr>
              <a:t>QUESTIONS ?</a:t>
            </a:r>
          </a:p>
        </p:txBody>
      </p:sp>
      <p:sp>
        <p:nvSpPr>
          <p:cNvPr id="23" name="TextBox 22"/>
          <p:cNvSpPr txBox="1"/>
          <p:nvPr/>
        </p:nvSpPr>
        <p:spPr>
          <a:xfrm>
            <a:off x="4709160" y="4343400"/>
            <a:ext cx="6614160" cy="1325880"/>
          </a:xfrm>
          <a:prstGeom prst="rect">
            <a:avLst/>
          </a:prstGeom>
          <a:noFill/>
        </p:spPr>
        <p:txBody>
          <a:bodyPr wrap="square" lIns="0" rIns="0" tIns="0" bIns="0" anchor="ctr">
            <a:spAutoFit/>
          </a:bodyPr>
          <a:lstStyle/>
          <a:p>
            <a:pPr algn="l"/>
            <a:r>
              <a:rPr sz="1500" b="0">
                <a:solidFill>
                  <a:srgbClr val="0F172A"/>
                </a:solidFill>
                <a:latin typeface="Arial"/>
              </a:rPr>
              <a:t>Code, notebooks, application et rapport :</a:t>
            </a:r>
          </a:p>
          <a:p>
            <a:pPr algn="l"/>
            <a:r>
              <a:rPr sz="1500" b="0">
                <a:solidFill>
                  <a:srgbClr val="0F172A"/>
                </a:solidFill>
                <a:latin typeface="Arial"/>
                <a:hlinkClick r:id="rId3"/>
              </a:rPr>
              <a:t>github.com/Nokho11/segmentation-bancaire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Segmentation de clientèle bancaire</dc:title>
  <dc:subject>Projet final — Apprentissage non supervisé, Master BDA/IA</dc:subject>
  <dc:creator>Ndeye Sokhna Nokho</dc:creator>
  <cp:keywords/>
  <dc:description/>
  <cp:lastModifiedBy>Ndeye Sokhna Nokho</cp:lastModifiedBy>
  <cp:revision>1</cp:revision>
  <dcterms:created xsi:type="dcterms:W3CDTF">2013-01-27T09:14:16Z</dcterms:created>
  <dcterms:modified xsi:type="dcterms:W3CDTF">2013-01-27T09:15:58Z</dcterms:modified>
  <cp:category/>
</cp:coreProperties>
</file>